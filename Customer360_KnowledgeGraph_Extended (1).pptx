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784080" y="685800"/>
            <a:ext cx="1097280" cy="320040"/>
          </a:xfrm>
          <a:prstGeom prst="line">
            <a:avLst/>
          </a:prstGeom>
          <a:noFill/>
          <a:ln w="15875">
            <a:solidFill>
              <a:srgbClr val="00A896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1005840"/>
            <a:ext cx="1645920" cy="548640"/>
          </a:xfrm>
          <a:prstGeom prst="line">
            <a:avLst/>
          </a:prstGeom>
          <a:noFill/>
          <a:ln w="15875">
            <a:solidFill>
              <a:srgbClr val="00A896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685800"/>
            <a:ext cx="548640" cy="868680"/>
          </a:xfrm>
          <a:prstGeom prst="line">
            <a:avLst/>
          </a:prstGeom>
          <a:noFill/>
          <a:ln w="15875">
            <a:solidFill>
              <a:srgbClr val="00A896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0" y="1554480"/>
            <a:ext cx="914400" cy="548640"/>
          </a:xfrm>
          <a:prstGeom prst="line">
            <a:avLst/>
          </a:prstGeom>
          <a:noFill/>
          <a:ln w="15875">
            <a:solidFill>
              <a:srgbClr val="00A896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0" y="2103120"/>
            <a:ext cx="1005840" cy="182880"/>
          </a:xfrm>
          <a:prstGeom prst="line">
            <a:avLst/>
          </a:prstGeom>
          <a:noFill/>
          <a:ln w="15875">
            <a:solidFill>
              <a:srgbClr val="00A896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0" y="1554480"/>
            <a:ext cx="91440" cy="1097280"/>
          </a:xfrm>
          <a:prstGeom prst="line">
            <a:avLst/>
          </a:prstGeom>
          <a:noFill/>
          <a:ln w="15875">
            <a:solidFill>
              <a:srgbClr val="00A896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0" y="2103120"/>
            <a:ext cx="457200" cy="1005840"/>
          </a:xfrm>
          <a:prstGeom prst="line">
            <a:avLst/>
          </a:prstGeom>
          <a:noFill/>
          <a:ln w="15875">
            <a:solidFill>
              <a:srgbClr val="00A896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0" y="2286000"/>
            <a:ext cx="548640" cy="822960"/>
          </a:xfrm>
          <a:prstGeom prst="line">
            <a:avLst/>
          </a:prstGeom>
          <a:noFill/>
          <a:ln w="15875">
            <a:solidFill>
              <a:srgbClr val="00A896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0" y="1005840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Shape 9"/>
          <p:cNvSpPr/>
          <p:nvPr/>
        </p:nvSpPr>
        <p:spPr>
          <a:xfrm>
            <a:off x="10881360" y="68580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30000" y="155448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15600" y="2103120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Shape 12"/>
          <p:cNvSpPr/>
          <p:nvPr/>
        </p:nvSpPr>
        <p:spPr>
          <a:xfrm>
            <a:off x="9509760" y="228600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11521440" y="265176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058400" y="3108960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94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  ·  IDENTITY RESOLUTION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960120"/>
            <a:ext cx="8503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Enhancing Customer 360 Identity</a:t>
            </a:r>
            <a:endParaRPr lang="en-US" sz="35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for New Credit Card</a:t>
            </a:r>
            <a:endParaRPr lang="en-US" sz="35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350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8778240" cy="18288"/>
          </a:xfrm>
          <a:prstGeom prst="roundRect">
            <a:avLst/>
          </a:prstGeom>
          <a:solidFill>
            <a:srgbClr val="44507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Situation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3886200"/>
            <a:ext cx="6858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Express maintains a comprehensive Customer 360 repository spanning consumer and commercial businesses. For every new credit card application, the platform must decide whether the applicant is a new customer, an existing customer, or related to one through family, business, or organizational ties.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166360"/>
            <a:ext cx="1808683" cy="457200"/>
          </a:xfrm>
          <a:prstGeom prst="roundRect">
            <a:avLst>
              <a:gd name="adj" fmla="val 16000"/>
            </a:avLst>
          </a:prstGeom>
          <a:solidFill>
            <a:srgbClr val="141B4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166360"/>
            <a:ext cx="180868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521915" y="516636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141B4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21915" y="51663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195267" y="5166360"/>
            <a:ext cx="1208837" cy="457200"/>
          </a:xfrm>
          <a:prstGeom prst="roundRect">
            <a:avLst>
              <a:gd name="adj" fmla="val 16000"/>
            </a:avLst>
          </a:prstGeom>
          <a:solidFill>
            <a:srgbClr val="141B4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95267" y="5166360"/>
            <a:ext cx="120883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568696" y="5166360"/>
            <a:ext cx="1133856" cy="457200"/>
          </a:xfrm>
          <a:prstGeom prst="roundRect">
            <a:avLst>
              <a:gd name="adj" fmla="val 16000"/>
            </a:avLst>
          </a:prstGeom>
          <a:solidFill>
            <a:srgbClr val="141B4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68696" y="51663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867144" y="5166360"/>
            <a:ext cx="908914" cy="457200"/>
          </a:xfrm>
          <a:prstGeom prst="roundRect">
            <a:avLst>
              <a:gd name="adj" fmla="val 16000"/>
            </a:avLst>
          </a:prstGeom>
          <a:solidFill>
            <a:srgbClr val="141B4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67144" y="5166360"/>
            <a:ext cx="9089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5806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quality here directly shapes each of the outcomes above.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Rule-Based Matching Breaks Down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attribute-matching process, and the two failure modes it produces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5DC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1732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Credit Card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011680" y="1984248"/>
            <a:ext cx="0" cy="128016"/>
          </a:xfrm>
          <a:prstGeom prst="line">
            <a:avLst/>
          </a:prstGeom>
          <a:noFill/>
          <a:ln w="19050">
            <a:solidFill>
              <a:srgbClr val="6B759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85800" y="211226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5DCEC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11226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011680" y="2679192"/>
            <a:ext cx="0" cy="128016"/>
          </a:xfrm>
          <a:prstGeom prst="line">
            <a:avLst/>
          </a:prstGeom>
          <a:noFill/>
          <a:ln w="19050">
            <a:solidFill>
              <a:srgbClr val="6B759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" y="2807208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807208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Identity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(Name, DOB,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Address, SSN, Phone,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3941064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matching relies on attribute similarity, with little understanding of real relationships between people.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03320" y="1417320"/>
            <a:ext cx="39776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04488" y="1600200"/>
            <a:ext cx="329184" cy="32918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343400" y="16002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Over-Linking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3904488" y="2011680"/>
            <a:ext cx="3575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individuals are incorrectly merged into one customer identity.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04488" y="2606040"/>
          <a:ext cx="3575304" cy="713232"/>
        </p:xfrm>
        <a:graphic>
          <a:graphicData uri="http://schemas.openxmlformats.org/drawingml/2006/table">
            <a:tbl>
              <a:tblPr/>
              <a:tblGrid>
                <a:gridCol w="1787652"/>
                <a:gridCol w="1787652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Applicant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 Downey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 Downey Jr.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Ankit Yadav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Ankita Yadav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3904488" y="3401568"/>
            <a:ext cx="3575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privacy violations, incorrect profiles, compliance risk.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703320" y="3931920"/>
            <a:ext cx="39776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488" y="4114800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343400" y="41148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Under-Linking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3904488" y="4526280"/>
            <a:ext cx="3575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individual is assigned multiple, disconnected customer IDs.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904488" y="4983480"/>
            <a:ext cx="35753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applies twice → Application 1 becomes Customer ID 101, Application 2 becomes Customer ID 248, instead of one unified ID.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3904488" y="5669280"/>
            <a:ext cx="3575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duplicate records, fraud exposure, poor servicing experience.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7863840" y="1417320"/>
            <a:ext cx="3794760" cy="4663440"/>
          </a:xfrm>
          <a:prstGeom prst="roundRect">
            <a:avLst>
              <a:gd name="adj" fmla="val 2169"/>
            </a:avLst>
          </a:prstGeom>
          <a:solidFill>
            <a:srgbClr val="1E2761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1691640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119872" y="2148840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8119872" y="2651760"/>
            <a:ext cx="328269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similarity alone cannot capture family, household, or corporate relationships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failure modes grow as the customer base and product mix become more complex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compound across fraud, credit, and compliance decisions downstream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Corner Cases That Rules Can't Resolve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similarity alone gives the wrong answer in each of these real scenarios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57784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73352"/>
            <a:ext cx="502920" cy="50292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733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 &amp; Son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04672" y="2286000"/>
            <a:ext cx="50657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address, similar names, missing SSN. High similarity — but are they the same person or related individuals?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04672" y="315468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315468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vs. identity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89320" y="1417320"/>
            <a:ext cx="557784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45352" y="1673352"/>
            <a:ext cx="502920" cy="50292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8308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03720" y="16733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245352" y="2286000"/>
            <a:ext cx="50657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Ahuja &amp; Mohit Ahuja share the same DOB and address, with one missing national ID. Very high similarity, yet clearly different individuals.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45352" y="3154680"/>
            <a:ext cx="1675181" cy="329184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/>
        </p:spPr>
      </p:sp>
      <p:sp>
        <p:nvSpPr>
          <p:cNvPr id="17" name="Text 13"/>
          <p:cNvSpPr/>
          <p:nvPr/>
        </p:nvSpPr>
        <p:spPr>
          <a:xfrm>
            <a:off x="6245352" y="3154680"/>
            <a:ext cx="167518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risk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48640" y="3840480"/>
            <a:ext cx="557784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4672" y="4096512"/>
            <a:ext cx="502920" cy="50292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206240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63040" y="40965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+ Corporate Cards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04672" y="4709160"/>
            <a:ext cx="50657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individual holds a personal card and a corporate card. The corporate card links through a business to an obligor.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04672" y="5577840"/>
            <a:ext cx="1889150" cy="329184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/>
        </p:spPr>
      </p:sp>
      <p:sp>
        <p:nvSpPr>
          <p:cNvPr id="24" name="Text 19"/>
          <p:cNvSpPr/>
          <p:nvPr/>
        </p:nvSpPr>
        <p:spPr>
          <a:xfrm>
            <a:off x="804672" y="5577840"/>
            <a:ext cx="188915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Cross-business linkage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5989320" y="3840480"/>
            <a:ext cx="557784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245352" y="4096512"/>
            <a:ext cx="502920" cy="502920"/>
          </a:xfrm>
          <a:prstGeom prst="ellipse">
            <a:avLst/>
          </a:prstGeom>
          <a:solidFill>
            <a:srgbClr val="E6F7F5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206240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03720" y="40965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Companies</a:t>
            </a:r>
            <a:endParaRPr lang="en-US" sz="1550" dirty="0"/>
          </a:p>
        </p:txBody>
      </p:sp>
      <p:sp>
        <p:nvSpPr>
          <p:cNvPr id="29" name="Text 23"/>
          <p:cNvSpPr/>
          <p:nvPr/>
        </p:nvSpPr>
        <p:spPr>
          <a:xfrm>
            <a:off x="6245352" y="4709160"/>
            <a:ext cx="50657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obligor is connected to Company A, B, and C, requiring traversal across several business entities to resolve identity.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6245352" y="5577840"/>
            <a:ext cx="1675181" cy="329184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/>
        </p:spPr>
      </p:sp>
      <p:sp>
        <p:nvSpPr>
          <p:cNvPr id="31" name="Text 25"/>
          <p:cNvSpPr/>
          <p:nvPr/>
        </p:nvSpPr>
        <p:spPr>
          <a:xfrm>
            <a:off x="6245352" y="5577840"/>
            <a:ext cx="167518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traversal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548640" y="6172200"/>
            <a:ext cx="11064240" cy="566928"/>
          </a:xfrm>
          <a:prstGeom prst="roundRect">
            <a:avLst>
              <a:gd name="adj" fmla="val 11290"/>
            </a:avLst>
          </a:prstGeom>
          <a:solidFill>
            <a:srgbClr val="1E2761"/>
          </a:solidFill>
          <a:ln/>
        </p:spPr>
      </p:sp>
      <p:sp>
        <p:nvSpPr>
          <p:cNvPr id="33" name="Text 27"/>
          <p:cNvSpPr/>
          <p:nvPr/>
        </p:nvSpPr>
        <p:spPr>
          <a:xfrm>
            <a:off x="777240" y="617220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compares Name, DOB, Address, Phone, and Email only — with no concept of relationships, multi-hop connections, or household/organizational structure.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Solution: Customer 360 + Knowledge Graph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customers and their relationships as a graph, not just a set of attributes to compare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88720" y="1737360"/>
            <a:ext cx="0" cy="822960"/>
          </a:xfrm>
          <a:prstGeom prst="line">
            <a:avLst/>
          </a:prstGeom>
          <a:noFill/>
          <a:ln w="2222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188720" y="2560320"/>
            <a:ext cx="0" cy="822960"/>
          </a:xfrm>
          <a:prstGeom prst="line">
            <a:avLst/>
          </a:prstGeom>
          <a:noFill/>
          <a:ln w="2222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188720" y="3383280"/>
            <a:ext cx="0" cy="822960"/>
          </a:xfrm>
          <a:prstGeom prst="line">
            <a:avLst/>
          </a:prstGeom>
          <a:noFill/>
          <a:ln w="2222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188720" y="4206240"/>
            <a:ext cx="0" cy="822960"/>
          </a:xfrm>
          <a:prstGeom prst="line">
            <a:avLst/>
          </a:prstGeom>
          <a:noFill/>
          <a:ln w="2222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325880" y="202996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OWNS_CARD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25880" y="285292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25880" y="367588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BELONGS_TO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25880" y="449884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HAS_OBLIGOR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96112" y="144475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057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96112" y="226771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880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6112" y="309067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703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6112" y="391363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526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6112" y="473659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5349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Obligor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58064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relationships: LIVES_AT · HAS_PHONE · HAS_EMAIL · FAMILY_OF · WORKS_FOR · SAME_GOV_ID · HAS_PRODUCT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92040" y="1417320"/>
            <a:ext cx="676656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1627632"/>
            <a:ext cx="310896" cy="31089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577840" y="162763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Decision Paths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5166360" y="2011680"/>
            <a:ext cx="6263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an opaque “Match Score = 91%”, the graph shows why two identities are linked: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166360" y="2578608"/>
            <a:ext cx="1993392" cy="502920"/>
          </a:xfrm>
          <a:prstGeom prst="roundRect">
            <a:avLst>
              <a:gd name="adj" fmla="val 16364"/>
            </a:avLst>
          </a:prstGeom>
          <a:solidFill>
            <a:srgbClr val="E6F7F5"/>
          </a:solidFill>
          <a:ln/>
        </p:spPr>
      </p:sp>
      <p:sp>
        <p:nvSpPr>
          <p:cNvPr id="28" name="Text 25"/>
          <p:cNvSpPr/>
          <p:nvPr/>
        </p:nvSpPr>
        <p:spPr>
          <a:xfrm>
            <a:off x="5166360" y="2578608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159752" y="2830068"/>
            <a:ext cx="91440" cy="0"/>
          </a:xfrm>
          <a:prstGeom prst="line">
            <a:avLst/>
          </a:prstGeom>
          <a:noFill/>
          <a:ln w="12700">
            <a:solidFill>
              <a:srgbClr val="0C7A6E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7251192" y="2578608"/>
            <a:ext cx="1993392" cy="502920"/>
          </a:xfrm>
          <a:prstGeom prst="roundRect">
            <a:avLst>
              <a:gd name="adj" fmla="val 16364"/>
            </a:avLst>
          </a:prstGeom>
          <a:solidFill>
            <a:srgbClr val="E6F7F5"/>
          </a:solidFill>
          <a:ln/>
        </p:spPr>
      </p:sp>
      <p:sp>
        <p:nvSpPr>
          <p:cNvPr id="31" name="Text 28"/>
          <p:cNvSpPr/>
          <p:nvPr/>
        </p:nvSpPr>
        <p:spPr>
          <a:xfrm>
            <a:off x="7251192" y="2578608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At Same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9244584" y="2830068"/>
            <a:ext cx="91440" cy="0"/>
          </a:xfrm>
          <a:prstGeom prst="line">
            <a:avLst/>
          </a:prstGeom>
          <a:noFill/>
          <a:ln w="12700">
            <a:solidFill>
              <a:srgbClr val="0C7A6E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9336024" y="2578608"/>
            <a:ext cx="1993392" cy="502920"/>
          </a:xfrm>
          <a:prstGeom prst="roundRect">
            <a:avLst>
              <a:gd name="adj" fmla="val 16364"/>
            </a:avLst>
          </a:prstGeom>
          <a:solidFill>
            <a:srgbClr val="E6F7F5"/>
          </a:solidFill>
          <a:ln/>
        </p:spPr>
      </p:sp>
      <p:sp>
        <p:nvSpPr>
          <p:cNvPr id="34" name="Text 31"/>
          <p:cNvSpPr/>
          <p:nvPr/>
        </p:nvSpPr>
        <p:spPr>
          <a:xfrm>
            <a:off x="9336024" y="2578608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Corporate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166360" y="3172968"/>
            <a:ext cx="1993392" cy="502920"/>
          </a:xfrm>
          <a:prstGeom prst="roundRect">
            <a:avLst>
              <a:gd name="adj" fmla="val 16364"/>
            </a:avLst>
          </a:prstGeom>
          <a:solidFill>
            <a:srgbClr val="E6F7F5"/>
          </a:solidFill>
          <a:ln/>
        </p:spPr>
      </p:sp>
      <p:sp>
        <p:nvSpPr>
          <p:cNvPr id="36" name="Text 33"/>
          <p:cNvSpPr/>
          <p:nvPr/>
        </p:nvSpPr>
        <p:spPr>
          <a:xfrm>
            <a:off x="5166360" y="3172968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7159752" y="3424428"/>
            <a:ext cx="91440" cy="0"/>
          </a:xfrm>
          <a:prstGeom prst="line">
            <a:avLst/>
          </a:prstGeom>
          <a:noFill/>
          <a:ln w="12700">
            <a:solidFill>
              <a:srgbClr val="0C7A6E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7251192" y="3172968"/>
            <a:ext cx="1993392" cy="502920"/>
          </a:xfrm>
          <a:prstGeom prst="roundRect">
            <a:avLst>
              <a:gd name="adj" fmla="val 16364"/>
            </a:avLst>
          </a:prstGeom>
          <a:solidFill>
            <a:srgbClr val="E6F7F5"/>
          </a:solidFill>
          <a:ln/>
        </p:spPr>
      </p:sp>
      <p:sp>
        <p:nvSpPr>
          <p:cNvPr id="39" name="Text 36"/>
          <p:cNvSpPr/>
          <p:nvPr/>
        </p:nvSpPr>
        <p:spPr>
          <a:xfrm>
            <a:off x="7251192" y="3172968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Obligor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9244584" y="3424428"/>
            <a:ext cx="91440" cy="0"/>
          </a:xfrm>
          <a:prstGeom prst="line">
            <a:avLst/>
          </a:prstGeom>
          <a:noFill/>
          <a:ln w="12700">
            <a:solidFill>
              <a:srgbClr val="0C7A6E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9336024" y="3172968"/>
            <a:ext cx="1993392" cy="502920"/>
          </a:xfrm>
          <a:prstGeom prst="roundRect">
            <a:avLst>
              <a:gd name="adj" fmla="val 16364"/>
            </a:avLst>
          </a:prstGeom>
          <a:solidFill>
            <a:srgbClr val="E6F7F5"/>
          </a:solidFill>
          <a:ln/>
        </p:spPr>
      </p:sp>
      <p:sp>
        <p:nvSpPr>
          <p:cNvPr id="42" name="Text 39"/>
          <p:cNvSpPr/>
          <p:nvPr/>
        </p:nvSpPr>
        <p:spPr>
          <a:xfrm>
            <a:off x="9336024" y="3172968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5166360" y="3703320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via same government ID, existing personal card, corporate card owned by the same individual, and a shared obligor — fully auditable.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4892040" y="4206240"/>
            <a:ext cx="67665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</p:spPr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4389120"/>
            <a:ext cx="274320" cy="274320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5577840" y="4389120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Resolution Flow</a:t>
            </a:r>
            <a:endParaRPr lang="en-US" sz="1350" dirty="0"/>
          </a:p>
        </p:txBody>
      </p:sp>
      <p:sp>
        <p:nvSpPr>
          <p:cNvPr id="47" name="Shape 43"/>
          <p:cNvSpPr/>
          <p:nvPr/>
        </p:nvSpPr>
        <p:spPr>
          <a:xfrm>
            <a:off x="5166360" y="4846320"/>
            <a:ext cx="1024128" cy="868680"/>
          </a:xfrm>
          <a:prstGeom prst="roundRect">
            <a:avLst>
              <a:gd name="adj" fmla="val 7368"/>
            </a:avLst>
          </a:prstGeom>
          <a:solidFill>
            <a:srgbClr val="F7F9FC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5202936" y="4846320"/>
            <a:ext cx="9509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Application</a:t>
            </a:r>
            <a:endParaRPr lang="en-US" sz="800" dirty="0"/>
          </a:p>
        </p:txBody>
      </p:sp>
      <p:sp>
        <p:nvSpPr>
          <p:cNvPr id="49" name="Shape 45"/>
          <p:cNvSpPr/>
          <p:nvPr/>
        </p:nvSpPr>
        <p:spPr>
          <a:xfrm>
            <a:off x="6190488" y="5276088"/>
            <a:ext cx="91440" cy="0"/>
          </a:xfrm>
          <a:prstGeom prst="line">
            <a:avLst/>
          </a:prstGeom>
          <a:noFill/>
          <a:ln w="15875">
            <a:solidFill>
              <a:srgbClr val="6B7593"/>
            </a:solidFill>
            <a:prstDash val="solid"/>
            <a:tailEnd type="triangle"/>
          </a:ln>
        </p:spPr>
      </p:sp>
      <p:sp>
        <p:nvSpPr>
          <p:cNvPr id="50" name="Shape 46"/>
          <p:cNvSpPr/>
          <p:nvPr/>
        </p:nvSpPr>
        <p:spPr>
          <a:xfrm>
            <a:off x="6281928" y="4846320"/>
            <a:ext cx="1024128" cy="868680"/>
          </a:xfrm>
          <a:prstGeom prst="roundRect">
            <a:avLst>
              <a:gd name="adj" fmla="val 7368"/>
            </a:avLst>
          </a:prstGeom>
          <a:solidFill>
            <a:srgbClr val="F7F9FC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6318504" y="4846320"/>
            <a:ext cx="9509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Identity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800" dirty="0"/>
          </a:p>
        </p:txBody>
      </p:sp>
      <p:sp>
        <p:nvSpPr>
          <p:cNvPr id="52" name="Shape 48"/>
          <p:cNvSpPr/>
          <p:nvPr/>
        </p:nvSpPr>
        <p:spPr>
          <a:xfrm>
            <a:off x="7306056" y="5276088"/>
            <a:ext cx="91440" cy="0"/>
          </a:xfrm>
          <a:prstGeom prst="line">
            <a:avLst/>
          </a:prstGeom>
          <a:noFill/>
          <a:ln w="15875">
            <a:solidFill>
              <a:srgbClr val="6B7593"/>
            </a:solidFill>
            <a:prstDash val="solid"/>
            <a:tailEnd type="triangle"/>
          </a:ln>
        </p:spPr>
      </p:sp>
      <p:sp>
        <p:nvSpPr>
          <p:cNvPr id="53" name="Shape 49"/>
          <p:cNvSpPr/>
          <p:nvPr/>
        </p:nvSpPr>
        <p:spPr>
          <a:xfrm>
            <a:off x="7397496" y="4846320"/>
            <a:ext cx="1024128" cy="868680"/>
          </a:xfrm>
          <a:prstGeom prst="roundRect">
            <a:avLst>
              <a:gd name="adj" fmla="val 7368"/>
            </a:avLst>
          </a:prstGeom>
          <a:solidFill>
            <a:srgbClr val="F7F9FC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7434072" y="4846320"/>
            <a:ext cx="9509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Customer 360</a:t>
            </a:r>
            <a:endParaRPr lang="en-US" sz="800" dirty="0"/>
          </a:p>
        </p:txBody>
      </p:sp>
      <p:sp>
        <p:nvSpPr>
          <p:cNvPr id="55" name="Shape 51"/>
          <p:cNvSpPr/>
          <p:nvPr/>
        </p:nvSpPr>
        <p:spPr>
          <a:xfrm>
            <a:off x="8421624" y="5276088"/>
            <a:ext cx="91440" cy="0"/>
          </a:xfrm>
          <a:prstGeom prst="line">
            <a:avLst/>
          </a:prstGeom>
          <a:noFill/>
          <a:ln w="15875">
            <a:solidFill>
              <a:srgbClr val="6B7593"/>
            </a:solidFill>
            <a:prstDash val="solid"/>
            <a:tailEnd type="triangle"/>
          </a:ln>
        </p:spPr>
      </p:sp>
      <p:sp>
        <p:nvSpPr>
          <p:cNvPr id="56" name="Shape 52"/>
          <p:cNvSpPr/>
          <p:nvPr/>
        </p:nvSpPr>
        <p:spPr>
          <a:xfrm>
            <a:off x="8513064" y="4846320"/>
            <a:ext cx="1024128" cy="868680"/>
          </a:xfrm>
          <a:prstGeom prst="roundRect">
            <a:avLst>
              <a:gd name="adj" fmla="val 7368"/>
            </a:avLst>
          </a:prstGeom>
          <a:solidFill>
            <a:srgbClr val="F7F9FC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8549640" y="4846320"/>
            <a:ext cx="9509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</a:t>
            </a:r>
            <a:endParaRPr lang="en-US" sz="800" dirty="0"/>
          </a:p>
        </p:txBody>
      </p:sp>
      <p:sp>
        <p:nvSpPr>
          <p:cNvPr id="58" name="Shape 54"/>
          <p:cNvSpPr/>
          <p:nvPr/>
        </p:nvSpPr>
        <p:spPr>
          <a:xfrm>
            <a:off x="9537192" y="5276088"/>
            <a:ext cx="91440" cy="0"/>
          </a:xfrm>
          <a:prstGeom prst="line">
            <a:avLst/>
          </a:prstGeom>
          <a:noFill/>
          <a:ln w="15875">
            <a:solidFill>
              <a:srgbClr val="6B7593"/>
            </a:solidFill>
            <a:prstDash val="solid"/>
            <a:tailEnd type="triangle"/>
          </a:ln>
        </p:spPr>
      </p:sp>
      <p:sp>
        <p:nvSpPr>
          <p:cNvPr id="59" name="Shape 55"/>
          <p:cNvSpPr/>
          <p:nvPr/>
        </p:nvSpPr>
        <p:spPr>
          <a:xfrm>
            <a:off x="9628632" y="4846320"/>
            <a:ext cx="1024128" cy="868680"/>
          </a:xfrm>
          <a:prstGeom prst="roundRect">
            <a:avLst>
              <a:gd name="adj" fmla="val 7368"/>
            </a:avLst>
          </a:prstGeom>
          <a:solidFill>
            <a:srgbClr val="F7F9FC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9665208" y="4846320"/>
            <a:ext cx="9509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Confidence</a:t>
            </a:r>
            <a:endParaRPr lang="en-US" sz="800" dirty="0"/>
          </a:p>
        </p:txBody>
      </p:sp>
      <p:sp>
        <p:nvSpPr>
          <p:cNvPr id="61" name="Shape 57"/>
          <p:cNvSpPr/>
          <p:nvPr/>
        </p:nvSpPr>
        <p:spPr>
          <a:xfrm>
            <a:off x="10652760" y="5276088"/>
            <a:ext cx="91440" cy="0"/>
          </a:xfrm>
          <a:prstGeom prst="line">
            <a:avLst/>
          </a:prstGeom>
          <a:noFill/>
          <a:ln w="15875">
            <a:solidFill>
              <a:srgbClr val="6B7593"/>
            </a:solidFill>
            <a:prstDash val="solid"/>
            <a:tailEnd type="triangle"/>
          </a:ln>
        </p:spPr>
      </p:sp>
      <p:sp>
        <p:nvSpPr>
          <p:cNvPr id="62" name="Shape 58"/>
          <p:cNvSpPr/>
          <p:nvPr/>
        </p:nvSpPr>
        <p:spPr>
          <a:xfrm>
            <a:off x="10744200" y="4846320"/>
            <a:ext cx="1024128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10780776" y="4846320"/>
            <a:ext cx="9509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or Create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</a:t>
            </a:r>
            <a:endParaRPr lang="en-US" sz="800" dirty="0"/>
          </a:p>
        </p:txBody>
      </p:sp>
      <p:sp>
        <p:nvSpPr>
          <p:cNvPr id="64" name="Text 60"/>
          <p:cNvSpPr/>
          <p:nvPr/>
        </p:nvSpPr>
        <p:spPr>
          <a:xfrm>
            <a:off x="5166360" y="5806440"/>
            <a:ext cx="6263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evidence is evaluated alongside existing rules to recommend a link or a new customer record.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Benefits, Evaluation Approach &amp; Key Takeaway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3611880" cy="150876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704088" y="130759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41732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2527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Resolution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04088" y="1828800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handling of father-son, twins, shared addresses, and multi-business relationships.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51960" y="1051560"/>
            <a:ext cx="3611880" cy="150876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</p:sp>
      <p:sp>
        <p:nvSpPr>
          <p:cNvPr id="9" name="Shape 6"/>
          <p:cNvSpPr/>
          <p:nvPr/>
        </p:nvSpPr>
        <p:spPr>
          <a:xfrm>
            <a:off x="4453128" y="130759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141732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0" y="12527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Risk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453128" y="1828800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over-linking and under-linking; stronger fraud detection and credit decisions.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001000" y="1051560"/>
            <a:ext cx="3611880" cy="150876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</p:sp>
      <p:sp>
        <p:nvSpPr>
          <p:cNvPr id="14" name="Shape 10"/>
          <p:cNvSpPr/>
          <p:nvPr/>
        </p:nvSpPr>
        <p:spPr>
          <a:xfrm>
            <a:off x="8202168" y="130759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896" y="141732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78240" y="12527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202168" y="1828800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linkage is explained through graph paths instead of an opaque matching score.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02920" y="2788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Strategy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02920" y="3127248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runs alongside — not in place of — the existing rule engine, compared on difficult scenarios first.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02920" y="3657600"/>
            <a:ext cx="885139" cy="34747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/>
        </p:spPr>
      </p:sp>
      <p:sp>
        <p:nvSpPr>
          <p:cNvPr id="21" name="Text 16"/>
          <p:cNvSpPr/>
          <p:nvPr/>
        </p:nvSpPr>
        <p:spPr>
          <a:xfrm>
            <a:off x="502920" y="3657600"/>
            <a:ext cx="88513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1516075" y="3657600"/>
            <a:ext cx="687629" cy="34747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/>
        </p:spPr>
      </p:sp>
      <p:sp>
        <p:nvSpPr>
          <p:cNvPr id="23" name="Text 18"/>
          <p:cNvSpPr/>
          <p:nvPr/>
        </p:nvSpPr>
        <p:spPr>
          <a:xfrm>
            <a:off x="1516075" y="3657600"/>
            <a:ext cx="68762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2331720" y="3657600"/>
            <a:ext cx="1082650" cy="34747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/>
        </p:spPr>
      </p:sp>
      <p:sp>
        <p:nvSpPr>
          <p:cNvPr id="25" name="Text 20"/>
          <p:cNvSpPr/>
          <p:nvPr/>
        </p:nvSpPr>
        <p:spPr>
          <a:xfrm>
            <a:off x="2331720" y="3657600"/>
            <a:ext cx="108265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Over-Linking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3542386" y="3657600"/>
            <a:ext cx="1148486" cy="34747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/>
        </p:spPr>
      </p:sp>
      <p:sp>
        <p:nvSpPr>
          <p:cNvPr id="27" name="Text 22"/>
          <p:cNvSpPr/>
          <p:nvPr/>
        </p:nvSpPr>
        <p:spPr>
          <a:xfrm>
            <a:off x="3542386" y="3657600"/>
            <a:ext cx="114848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Under-Linking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818888" y="3657600"/>
            <a:ext cx="1082650" cy="34747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/>
        </p:spPr>
      </p:sp>
      <p:sp>
        <p:nvSpPr>
          <p:cNvPr id="29" name="Text 24"/>
          <p:cNvSpPr/>
          <p:nvPr/>
        </p:nvSpPr>
        <p:spPr>
          <a:xfrm>
            <a:off x="4818888" y="3657600"/>
            <a:ext cx="108265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 Cases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502920" y="4078224"/>
            <a:ext cx="1214323" cy="34747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/>
        </p:spPr>
      </p:sp>
      <p:sp>
        <p:nvSpPr>
          <p:cNvPr id="31" name="Text 26"/>
          <p:cNvSpPr/>
          <p:nvPr/>
        </p:nvSpPr>
        <p:spPr>
          <a:xfrm>
            <a:off x="502920" y="4078224"/>
            <a:ext cx="121432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6400800" y="278892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Outcomes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3127248"/>
          <a:ext cx="5257800" cy="141732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</a:tblGrid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State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Knowledge Graph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 matching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Relationship-aware matching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false positives/negatives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Reduced over- and under-linking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/ Commercial disconnected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Customer 360 view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4" name="Shape 28"/>
          <p:cNvSpPr/>
          <p:nvPr/>
        </p:nvSpPr>
        <p:spPr>
          <a:xfrm>
            <a:off x="502920" y="4892040"/>
            <a:ext cx="11155680" cy="1463040"/>
          </a:xfrm>
          <a:prstGeom prst="roundRect">
            <a:avLst>
              <a:gd name="adj" fmla="val 5625"/>
            </a:avLst>
          </a:prstGeom>
          <a:solidFill>
            <a:srgbClr val="1E2761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230368"/>
            <a:ext cx="457200" cy="45720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417320" y="5074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1417320" y="544068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 + Knowledge Graph = smarter identity resolution. Search existing records, traverse relationships across people, cards, accounts, businesses, and obligors, and evaluate against the current rule engine on corner cases before broader adoption — improving accuracy, reducing risk, and making every linkage decision auditable.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CUSTOMER 360  ·  PREFERRED TIME TO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Extending Customer 360 with an AI-Powered</a:t>
            </a:r>
          </a:p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Preferred Time to Call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2900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ADCFC"/>
                </a:solidFill>
                <a:latin typeface="Calibri"/>
              </a:rPr>
              <a:t>Building on the Customer 360 Knowledge Graph, this extension predicts the best time, channel, and confidence level to reach each customer — using four complementary AI approaches.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532120"/>
            <a:ext cx="2514600" cy="640080"/>
          </a:xfrm>
          <a:prstGeom prst="roundRect">
            <a:avLst>
              <a:gd name="adj" fmla="val 6000"/>
            </a:avLst>
          </a:prstGeom>
          <a:solidFill>
            <a:srgbClr val="222B5C"/>
          </a:solidFill>
          <a:ln w="952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532120"/>
            <a:ext cx="2514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Right Customer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5532120"/>
            <a:ext cx="2514600" cy="640080"/>
          </a:xfrm>
          <a:prstGeom prst="roundRect">
            <a:avLst>
              <a:gd name="adj" fmla="val 6000"/>
            </a:avLst>
          </a:prstGeom>
          <a:solidFill>
            <a:srgbClr val="222B5C"/>
          </a:solidFill>
          <a:ln w="952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5532120"/>
            <a:ext cx="2514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Right Channel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5532120"/>
            <a:ext cx="2514600" cy="640080"/>
          </a:xfrm>
          <a:prstGeom prst="roundRect">
            <a:avLst>
              <a:gd name="adj" fmla="val 6000"/>
            </a:avLst>
          </a:prstGeom>
          <a:solidFill>
            <a:srgbClr val="222B5C"/>
          </a:solidFill>
          <a:ln w="952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5532120"/>
            <a:ext cx="2514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Right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5532120"/>
            <a:ext cx="2514600" cy="640080"/>
          </a:xfrm>
          <a:prstGeom prst="roundRect">
            <a:avLst>
              <a:gd name="adj" fmla="val 6000"/>
            </a:avLst>
          </a:prstGeom>
          <a:solidFill>
            <a:srgbClr val="222B5C"/>
          </a:solidFill>
          <a:ln w="952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5532120"/>
            <a:ext cx="2514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Higher Connect Rate</a:t>
            </a:r>
          </a:p>
        </p:txBody>
      </p:sp>
      <p:sp>
        <p:nvSpPr>
          <p:cNvPr id="13" name="Oval 12"/>
          <p:cNvSpPr/>
          <p:nvPr/>
        </p:nvSpPr>
        <p:spPr>
          <a:xfrm>
            <a:off x="9821675" y="1616023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11336" y="1736101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72628" y="653031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28345" y="2205927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68615" y="992606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84450" y="1467227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35112" y="1479478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01921" y="824200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692687" y="2267437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447600" y="2012369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Customer360 Preferred Time to Call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593"/>
                </a:solidFill>
                <a:latin typeface="Calibri"/>
              </a:rPr>
              <a:t>From raw interaction data to a confident, actionable contact recommendation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2331720" cy="118872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84248"/>
            <a:ext cx="21122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E2761"/>
                </a:solidFill>
                <a:latin typeface="Calibri"/>
              </a:rPr>
              <a:t>Customer360</a:t>
            </a:r>
          </a:p>
          <a:p>
            <a:pPr algn="ctr"/>
            <a:r>
              <a:rPr sz="1350" b="1" i="0">
                <a:solidFill>
                  <a:srgbClr val="1E2761"/>
                </a:solidFill>
                <a:latin typeface="Calibri"/>
              </a:rPr>
              <a:t>Data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532887"/>
            <a:ext cx="21122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6B7593"/>
                </a:solidFill>
                <a:latin typeface="Calibri"/>
              </a:rPr>
              <a:t>5 integrated feeds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3200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A896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39" y="1874519"/>
            <a:ext cx="2331720" cy="118872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1568" y="1984248"/>
            <a:ext cx="21122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E2761"/>
                </a:solidFill>
                <a:latin typeface="Calibri"/>
              </a:rPr>
              <a:t>Interaction Timeline</a:t>
            </a:r>
          </a:p>
          <a:p>
            <a:pPr algn="ctr"/>
            <a:r>
              <a:rPr sz="1350" b="1" i="0">
                <a:solidFill>
                  <a:srgbClr val="1E2761"/>
                </a:solidFill>
                <a:latin typeface="Calibri"/>
              </a:rPr>
              <a:t>Builder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2532887"/>
            <a:ext cx="21122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6B7593"/>
                </a:solidFill>
                <a:latin typeface="Calibri"/>
              </a:rPr>
              <a:t>Unified event 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59" y="1874519"/>
            <a:ext cx="3200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A896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874519"/>
            <a:ext cx="2331720" cy="118872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53328" y="1984248"/>
            <a:ext cx="21122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E2761"/>
                </a:solidFill>
                <a:latin typeface="Calibri"/>
              </a:rPr>
              <a:t>Feature</a:t>
            </a:r>
          </a:p>
          <a:p>
            <a:pPr algn="ctr"/>
            <a:r>
              <a:rPr sz="1350" b="1" i="0">
                <a:solidFill>
                  <a:srgbClr val="1E2761"/>
                </a:solidFill>
                <a:latin typeface="Calibri"/>
              </a:rPr>
              <a:t>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2532887"/>
            <a:ext cx="21122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6B7593"/>
                </a:solidFill>
                <a:latin typeface="Calibri"/>
              </a:rPr>
              <a:t>Hour · Day · Channel</a:t>
            </a:r>
          </a:p>
          <a:p>
            <a:pPr algn="ctr"/>
            <a:r>
              <a:rPr sz="1050" b="0" i="0">
                <a:solidFill>
                  <a:srgbClr val="6B7593"/>
                </a:solidFill>
                <a:latin typeface="Calibri"/>
              </a:rPr>
              <a:t>Outcome · Sentiment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874519"/>
            <a:ext cx="3200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A896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59" y="1874519"/>
            <a:ext cx="2331720" cy="1188720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05087" y="1984248"/>
            <a:ext cx="21122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E2761"/>
                </a:solidFill>
                <a:latin typeface="Calibri"/>
              </a:rPr>
              <a:t>Prediction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7" y="2532887"/>
            <a:ext cx="21122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6B7593"/>
                </a:solidFill>
                <a:latin typeface="Calibri"/>
              </a:rPr>
              <a:t>4 AI Approaches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46120"/>
            <a:ext cx="108813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00A896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61160" y="3657600"/>
            <a:ext cx="2743200" cy="658368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61160" y="3657600"/>
            <a:ext cx="2743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Top 3 Contact Slots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24400" y="3657600"/>
            <a:ext cx="2743200" cy="658368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24400" y="3657600"/>
            <a:ext cx="2743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Confidence Score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87640" y="3657600"/>
            <a:ext cx="2743200" cy="658368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87640" y="3657600"/>
            <a:ext cx="2743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Preferred Channel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6177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Integrated Data Sources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983480"/>
            <a:ext cx="2084831" cy="777240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 w="952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983480"/>
            <a:ext cx="1993391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C7A6E"/>
                </a:solidFill>
                <a:latin typeface="Calibri"/>
              </a:rPr>
              <a:t>GSG Customer</a:t>
            </a:r>
          </a:p>
          <a:p>
            <a:pPr algn="ctr"/>
            <a:r>
              <a:rPr sz="1050" b="1" i="0">
                <a:solidFill>
                  <a:srgbClr val="0C7A6E"/>
                </a:solidFill>
                <a:latin typeface="Calibri"/>
              </a:rPr>
              <a:t>Interaction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70632" y="4983480"/>
            <a:ext cx="2084831" cy="777240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 w="952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16351" y="4983480"/>
            <a:ext cx="1993391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C7A6E"/>
                </a:solidFill>
                <a:latin typeface="Calibri"/>
              </a:rPr>
              <a:t>S360 Chat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92623" y="4983480"/>
            <a:ext cx="2084831" cy="777240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 w="952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38343" y="4983480"/>
            <a:ext cx="1993391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C7A6E"/>
                </a:solidFill>
                <a:latin typeface="Calibri"/>
              </a:rPr>
              <a:t>Genesys IVR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14615" y="4983480"/>
            <a:ext cx="2084831" cy="777240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 w="952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5" y="4983480"/>
            <a:ext cx="1993391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C7A6E"/>
                </a:solidFill>
                <a:latin typeface="Calibri"/>
              </a:rPr>
              <a:t>Genesys IVR</a:t>
            </a:r>
          </a:p>
          <a:p>
            <a:pPr algn="ctr"/>
            <a:r>
              <a:rPr sz="1050" b="1" i="0">
                <a:solidFill>
                  <a:srgbClr val="0C7A6E"/>
                </a:solidFill>
                <a:latin typeface="Calibri"/>
              </a:rPr>
              <a:t>Transactional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36607" y="4983480"/>
            <a:ext cx="2084831" cy="777240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 w="952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82328" y="4983480"/>
            <a:ext cx="1993391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C7A6E"/>
                </a:solidFill>
                <a:latin typeface="Calibri"/>
              </a:rPr>
              <a:t>UMDL Contact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APPROACH 1 · PRIMARY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Calibri"/>
              </a:rPr>
              <a:t>Weighted Temporal Clustering with Bayesian Inference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746504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4650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600200"/>
            <a:ext cx="4114800" cy="749808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1600200"/>
            <a:ext cx="37033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Historical Interactions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2432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243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478024"/>
            <a:ext cx="4114800" cy="749808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2478024"/>
            <a:ext cx="37033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Extract Hour + Day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50215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0215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3355848"/>
            <a:ext cx="4114800" cy="749808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3355848"/>
            <a:ext cx="37033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Outcome Weighting</a:t>
            </a:r>
          </a:p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(OSAT + VIBES + Engagement + Recency)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379976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7997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4233672"/>
            <a:ext cx="4114800" cy="749808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4233672"/>
            <a:ext cx="37033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Bayesian Smoothing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525780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578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5111496"/>
            <a:ext cx="4114800" cy="749808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5111496"/>
            <a:ext cx="37033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C7A6E"/>
                </a:solidFill>
                <a:latin typeface="Calibri"/>
              </a:rPr>
              <a:t>Top 3 Preferred Windows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1600200"/>
            <a:ext cx="5577840" cy="342900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Key Highlights</a:t>
            </a:r>
          </a:p>
        </p:txBody>
      </p:sp>
      <p:sp>
        <p:nvSpPr>
          <p:cNvPr id="26" name="Oval 25"/>
          <p:cNvSpPr/>
          <p:nvPr/>
        </p:nvSpPr>
        <p:spPr>
          <a:xfrm>
            <a:off x="6501384" y="2304288"/>
            <a:ext cx="256032" cy="256032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1384" y="2304288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286000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333"/>
                </a:solidFill>
                <a:latin typeface="Calibri"/>
              </a:rPr>
              <a:t>Learns customer behavioral patterns</a:t>
            </a:r>
          </a:p>
        </p:txBody>
      </p:sp>
      <p:sp>
        <p:nvSpPr>
          <p:cNvPr id="29" name="Oval 28"/>
          <p:cNvSpPr/>
          <p:nvPr/>
        </p:nvSpPr>
        <p:spPr>
          <a:xfrm>
            <a:off x="6501384" y="2807208"/>
            <a:ext cx="256032" cy="256032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01384" y="2807208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788920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333"/>
                </a:solidFill>
                <a:latin typeface="Calibri"/>
              </a:rPr>
              <a:t>Uses successful interactions more heavily</a:t>
            </a:r>
          </a:p>
        </p:txBody>
      </p:sp>
      <p:sp>
        <p:nvSpPr>
          <p:cNvPr id="32" name="Oval 31"/>
          <p:cNvSpPr/>
          <p:nvPr/>
        </p:nvSpPr>
        <p:spPr>
          <a:xfrm>
            <a:off x="6501384" y="3310128"/>
            <a:ext cx="256032" cy="256032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01384" y="3310128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291840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333"/>
                </a:solidFill>
                <a:latin typeface="Calibri"/>
              </a:rPr>
              <a:t>Accounts for recency</a:t>
            </a:r>
          </a:p>
        </p:txBody>
      </p:sp>
      <p:sp>
        <p:nvSpPr>
          <p:cNvPr id="35" name="Oval 34"/>
          <p:cNvSpPr/>
          <p:nvPr/>
        </p:nvSpPr>
        <p:spPr>
          <a:xfrm>
            <a:off x="6501384" y="3813048"/>
            <a:ext cx="256032" cy="256032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01384" y="3813048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3794760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333"/>
                </a:solidFill>
                <a:latin typeface="Calibri"/>
              </a:rPr>
              <a:t>Handles sparse data using Bayesian priors</a:t>
            </a:r>
          </a:p>
        </p:txBody>
      </p:sp>
      <p:sp>
        <p:nvSpPr>
          <p:cNvPr id="38" name="Oval 37"/>
          <p:cNvSpPr/>
          <p:nvPr/>
        </p:nvSpPr>
        <p:spPr>
          <a:xfrm>
            <a:off x="6501384" y="4315968"/>
            <a:ext cx="256032" cy="256032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01384" y="4315968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297680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333"/>
                </a:solidFill>
                <a:latin typeface="Calibri"/>
              </a:rPr>
              <a:t>Predicts Top-3 preferred windows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35040" y="4617720"/>
            <a:ext cx="5577840" cy="7772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4617720"/>
            <a:ext cx="2743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Expected Accuracy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617720"/>
            <a:ext cx="24688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600" b="1" i="0">
                <a:solidFill>
                  <a:srgbClr val="00A896"/>
                </a:solidFill>
                <a:latin typeface="Calibri"/>
              </a:rPr>
              <a:t>87–92%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APPROACH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Hidden Markov Model (HMM)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593"/>
                </a:solidFill>
                <a:latin typeface="Calibri"/>
              </a:rPr>
              <a:t>Models a customer's changing availability throughout the 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2834640" cy="960120"/>
          </a:xfrm>
          <a:prstGeom prst="roundRect">
            <a:avLst>
              <a:gd name="adj" fmla="val 6000"/>
            </a:avLst>
          </a:prstGeom>
          <a:solidFill>
            <a:srgbClr val="F0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2834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C0392B"/>
                </a:solidFill>
                <a:latin typeface="Calibri"/>
              </a:rPr>
              <a:t>Unavailable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9659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A896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1965960"/>
            <a:ext cx="2834640" cy="96012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1965960"/>
            <a:ext cx="2834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1E2761"/>
                </a:solidFill>
                <a:latin typeface="Calibri"/>
              </a:rPr>
              <a:t>Moderately 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9659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A896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965960"/>
            <a:ext cx="2834640" cy="960120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965960"/>
            <a:ext cx="2834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0C7A6E"/>
                </a:solidFill>
                <a:latin typeface="Calibri"/>
              </a:rPr>
              <a:t>Highly Available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46120"/>
            <a:ext cx="5120640" cy="228600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290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61"/>
                </a:solidFill>
                <a:latin typeface="Calibri"/>
              </a:rPr>
              <a:t>Observations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862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Pickup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06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Talk duration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5262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Chat duration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4632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Sentiment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1663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Repeat contacts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3246120"/>
            <a:ext cx="5577840" cy="2286000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34290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C7A6E"/>
                </a:solidFill>
                <a:latin typeface="Calibri"/>
              </a:rPr>
              <a:t>Output &amp; Benefits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840480"/>
            <a:ext cx="5120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B2333"/>
                </a:solidFill>
                <a:latin typeface="Calibri"/>
              </a:rPr>
              <a:t>Predicts probability customer is: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B2333"/>
                </a:solidFill>
                <a:latin typeface="Calibri"/>
              </a:rPr>
              <a:t>Available · Busy ·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526280"/>
            <a:ext cx="5120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B2333"/>
                </a:solidFill>
                <a:latin typeface="Calibri"/>
              </a:rPr>
              <a:t>• Captures changing availability throughout the day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B2333"/>
                </a:solidFill>
                <a:latin typeface="Calibri"/>
              </a:rPr>
              <a:t>• Useful for outbound dialing optimization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669280"/>
            <a:ext cx="5120640" cy="59436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669280"/>
            <a:ext cx="51206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00A896"/>
                </a:solidFill>
                <a:latin typeface="Calibri"/>
              </a:rPr>
              <a:t>Expected Accuracy: 84–90%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APPROACH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Graph-Based Journey Context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593"/>
                </a:solidFill>
                <a:latin typeface="Calibri"/>
              </a:rPr>
              <a:t>Leverages the existing Customer 360 Knowledge Graph introduced earlier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6583680" cy="1188720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60350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C7A6E"/>
                </a:solidFill>
                <a:latin typeface="Calibri"/>
              </a:rPr>
              <a:t>Customer → IVR Success → 2 Hours → Chat → Successful Resolution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46120"/>
            <a:ext cx="6583680" cy="1005840"/>
          </a:xfrm>
          <a:prstGeom prst="roundRect">
            <a:avLst>
              <a:gd name="adj" fmla="val 6000"/>
            </a:avLst>
          </a:prstGeom>
          <a:solidFill>
            <a:srgbClr val="F0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60350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C0392B"/>
                </a:solidFill>
                <a:latin typeface="Calibri"/>
              </a:rPr>
              <a:t>Chat Failure → 24 Hours → Inbound 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874519"/>
            <a:ext cx="4114800" cy="237744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20574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Preferred time depends 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5146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Previous interaction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89864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Journey stage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282696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Channel transition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666744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Business event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26280"/>
            <a:ext cx="5120640" cy="128016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66344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Graph Nodes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29200"/>
            <a:ext cx="4663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B2333"/>
                </a:solidFill>
                <a:latin typeface="Calibri"/>
              </a:rPr>
              <a:t>Customer · Interaction · Account · IVR · Agent · Campaign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526280"/>
            <a:ext cx="5669280" cy="128016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466344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Graph Edges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5029200"/>
            <a:ext cx="5212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B2333"/>
                </a:solidFill>
                <a:latin typeface="Calibri"/>
              </a:rPr>
              <a:t>Next interaction · Resolution · Transfer · Repeat contact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3703320"/>
            <a:ext cx="4114800" cy="73152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3703320"/>
            <a:ext cx="4114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0A896"/>
                </a:solidFill>
                <a:latin typeface="Calibri"/>
              </a:rPr>
              <a:t>Expected Accuracy: 81–86%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PRODUCTION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Ensemble AI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593"/>
                </a:solidFill>
                <a:latin typeface="Calibri"/>
              </a:rPr>
              <a:t>Combining all three approaches for the highest production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Temporal Clustering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984248"/>
            <a:ext cx="5029200" cy="329184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9000" y="1984248"/>
            <a:ext cx="3520439" cy="329184"/>
          </a:xfrm>
          <a:prstGeom prst="roundRect">
            <a:avLst>
              <a:gd name="adj" fmla="val 6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920240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B2333"/>
                </a:solidFill>
                <a:latin typeface="Calibri"/>
              </a:rPr>
              <a:t>70%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42032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HMM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606040"/>
            <a:ext cx="5029200" cy="329184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2606040"/>
            <a:ext cx="754380" cy="329184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2542032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B2333"/>
                </a:solidFill>
                <a:latin typeface="Calibri"/>
              </a:rPr>
              <a:t>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63824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Journey Graph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3227832"/>
            <a:ext cx="5029200" cy="329184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9000" y="3227832"/>
            <a:ext cx="754380" cy="329184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3163824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B2333"/>
                </a:solidFill>
                <a:latin typeface="Calibri"/>
              </a:rPr>
              <a:t>15%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23360"/>
            <a:ext cx="5394960" cy="1051560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023360"/>
            <a:ext cx="49377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C7A6E"/>
                </a:solidFill>
                <a:latin typeface="Calibri"/>
              </a:rPr>
              <a:t>Final Score = 0.70 × Temporal + 0.15 × HMM</a:t>
            </a:r>
          </a:p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C7A6E"/>
                </a:solidFill>
                <a:latin typeface="Calibri"/>
              </a:rPr>
              <a:t>+ 0.15 × Journey Context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02336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16052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61"/>
                </a:solidFill>
                <a:latin typeface="Calibri"/>
              </a:rPr>
              <a:t>Benefits</a:t>
            </a:r>
          </a:p>
        </p:txBody>
      </p:sp>
      <p:sp>
        <p:nvSpPr>
          <p:cNvPr id="21" name="Oval 20"/>
          <p:cNvSpPr/>
          <p:nvPr/>
        </p:nvSpPr>
        <p:spPr>
          <a:xfrm>
            <a:off x="6656832" y="4581144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56832" y="4581144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572000"/>
            <a:ext cx="4206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333"/>
                </a:solidFill>
                <a:latin typeface="Calibri"/>
              </a:rPr>
              <a:t>Highest production accuracy</a:t>
            </a:r>
          </a:p>
        </p:txBody>
      </p:sp>
      <p:sp>
        <p:nvSpPr>
          <p:cNvPr id="24" name="Oval 23"/>
          <p:cNvSpPr/>
          <p:nvPr/>
        </p:nvSpPr>
        <p:spPr>
          <a:xfrm>
            <a:off x="6656832" y="4901183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2" y="4901183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892040"/>
            <a:ext cx="4206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333"/>
                </a:solidFill>
                <a:latin typeface="Calibri"/>
              </a:rPr>
              <a:t>Robust to noisy data</a:t>
            </a:r>
          </a:p>
        </p:txBody>
      </p:sp>
      <p:sp>
        <p:nvSpPr>
          <p:cNvPr id="27" name="Oval 26"/>
          <p:cNvSpPr/>
          <p:nvPr/>
        </p:nvSpPr>
        <p:spPr>
          <a:xfrm>
            <a:off x="6656832" y="5221224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6832" y="5221224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5212080"/>
            <a:ext cx="4206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333"/>
                </a:solidFill>
                <a:latin typeface="Calibri"/>
              </a:rPr>
              <a:t>Better cold-start handling</a:t>
            </a:r>
          </a:p>
        </p:txBody>
      </p:sp>
      <p:sp>
        <p:nvSpPr>
          <p:cNvPr id="30" name="Oval 29"/>
          <p:cNvSpPr/>
          <p:nvPr/>
        </p:nvSpPr>
        <p:spPr>
          <a:xfrm>
            <a:off x="6656832" y="5541264"/>
            <a:ext cx="219456" cy="21945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6832" y="5541264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5532120"/>
            <a:ext cx="4206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333"/>
                </a:solidFill>
                <a:latin typeface="Calibri"/>
              </a:rPr>
              <a:t>Explainable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257800"/>
            <a:ext cx="5394960" cy="64008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257800"/>
            <a:ext cx="5394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0A896"/>
                </a:solidFill>
                <a:latin typeface="Calibri"/>
              </a:rPr>
              <a:t>Expected Accuracy: 88–94%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DATA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Data Source to Model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593"/>
                </a:solidFill>
                <a:latin typeface="Calibri"/>
              </a:rPr>
              <a:t>Which data sources feed each prediction approach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74519"/>
          <a:ext cx="108813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714500"/>
                <a:gridCol w="1714500"/>
                <a:gridCol w="1714500"/>
                <a:gridCol w="171450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Data Source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Temporal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HMM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Graph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Ensemble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333"/>
                          </a:solidFill>
                          <a:latin typeface="Calibri"/>
                        </a:rPr>
                        <a:t>GSG Customer Interaction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333"/>
                          </a:solidFill>
                          <a:latin typeface="Calibri"/>
                        </a:rPr>
                        <a:t>S360 Chat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333"/>
                          </a:solidFill>
                          <a:latin typeface="Calibri"/>
                        </a:rPr>
                        <a:t>Genesys IVR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333"/>
                          </a:solidFill>
                          <a:latin typeface="Calibri"/>
                        </a:rPr>
                        <a:t>IVR Transactional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6B7593"/>
                          </a:solidFill>
                          <a:latin typeface="Calibri"/>
                        </a:rPr>
                        <a:t>Optional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333"/>
                          </a:solidFill>
                          <a:latin typeface="Calibri"/>
                        </a:rPr>
                        <a:t>UMDL Contact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6B7593"/>
                          </a:solidFill>
                          <a:latin typeface="Calibri"/>
                        </a:rPr>
                        <a:t>Context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A896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BUSINESS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Calibri"/>
              </a:rPr>
              <a:t>Impact Across Experience, Operations &amp; Business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3520440" cy="2423160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C7A6E"/>
                </a:solidFill>
                <a:latin typeface="Calibri"/>
              </a:rPr>
              <a:t>Customer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Right 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7004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Right 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54096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Right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00200"/>
            <a:ext cx="3520440" cy="242316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Higher connect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7004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Lower repeat calls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054096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Better agent utilization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600200"/>
            <a:ext cx="3520440" cy="2423160"/>
          </a:xfrm>
          <a:prstGeom prst="roundRect">
            <a:avLst>
              <a:gd name="adj" fmla="val 6000"/>
            </a:avLst>
          </a:prstGeom>
          <a:solidFill>
            <a:srgbClr val="D5D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17830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Business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28600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Higher OSAT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67004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Lower RCR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3054096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Better campaign conversion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3438144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•  Lower dialing cost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97680"/>
            <a:ext cx="10881360" cy="16916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43484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0A896"/>
                </a:solidFill>
                <a:latin typeface="Calibri"/>
              </a:rPr>
              <a:t>Expected Improvements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846320"/>
            <a:ext cx="3429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15–20%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44068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ADCFC"/>
                </a:solidFill>
                <a:latin typeface="Calibri"/>
              </a:rPr>
              <a:t>higher First Contact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ADCFC"/>
                </a:solidFill>
                <a:latin typeface="Calibri"/>
              </a:rPr>
              <a:t>Resolution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846320"/>
            <a:ext cx="3429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12–18%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44068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ADCFC"/>
                </a:solidFill>
                <a:latin typeface="Calibri"/>
              </a:rPr>
              <a:t>lower Repeat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ADCFC"/>
                </a:solidFill>
                <a:latin typeface="Calibri"/>
              </a:rPr>
              <a:t>Contact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4846320"/>
            <a:ext cx="3429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10–15%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544068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ADCFC"/>
                </a:solidFill>
                <a:latin typeface="Calibri"/>
              </a:rPr>
              <a:t>higher Customer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ADCFC"/>
                </a:solidFill>
                <a:latin typeface="Calibri"/>
              </a:rPr>
              <a:t>Satisfaction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Calibri"/>
              </a:rPr>
              <a:t>Customer360 AI Integration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920240"/>
            <a:ext cx="1783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Customer360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2514600"/>
            <a:ext cx="1783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B7593"/>
                </a:solidFill>
                <a:latin typeface="Calibri"/>
              </a:rPr>
              <a:t>Phone360 · Chat360 · IVR</a:t>
            </a:r>
          </a:p>
          <a:p>
            <a:pPr algn="ctr"/>
            <a:r>
              <a:rPr sz="950" b="0" i="0">
                <a:solidFill>
                  <a:srgbClr val="6B7593"/>
                </a:solidFill>
                <a:latin typeface="Calibri"/>
              </a:rPr>
              <a:t>Transactional IVR · UMDL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39" y="1783080"/>
            <a:ext cx="164592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0A896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0632" y="178308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62072" y="1920240"/>
            <a:ext cx="1783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Feature</a:t>
            </a:r>
          </a:p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2072" y="2514600"/>
            <a:ext cx="1783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B7593"/>
                </a:solidFill>
                <a:latin typeface="Calibri"/>
              </a:rPr>
              <a:t>Unified signal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1783080"/>
            <a:ext cx="164592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0A896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01184" y="178308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92624" y="1920240"/>
            <a:ext cx="1783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Model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2624" y="2514600"/>
            <a:ext cx="1783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B7593"/>
                </a:solidFill>
                <a:latin typeface="Calibri"/>
              </a:rPr>
              <a:t>Temporal · HMM</a:t>
            </a:r>
          </a:p>
          <a:p>
            <a:pPr algn="ctr"/>
            <a:r>
              <a:rPr sz="950" b="0" i="0">
                <a:solidFill>
                  <a:srgbClr val="6B7593"/>
                </a:solidFill>
                <a:latin typeface="Calibri"/>
              </a:rPr>
              <a:t>Journey 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7144" y="1783080"/>
            <a:ext cx="164592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0A896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31736" y="178308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23176" y="1920240"/>
            <a:ext cx="1783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Ensemble</a:t>
            </a:r>
          </a:p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Scoring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3176" y="2514600"/>
            <a:ext cx="1783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B7593"/>
                </a:solidFill>
                <a:latin typeface="Calibri"/>
              </a:rPr>
              <a:t>Weighted combination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6" y="1783080"/>
            <a:ext cx="164592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0A896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62288" y="178308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8" y="1920240"/>
            <a:ext cx="1783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Preferred Time</a:t>
            </a:r>
          </a:p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&amp; Channel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2514600"/>
            <a:ext cx="1783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B7593"/>
                </a:solidFill>
                <a:latin typeface="Calibri"/>
              </a:rPr>
              <a:t>Confidence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383280"/>
            <a:ext cx="10881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0A896"/>
                </a:solidFill>
                <a:latin typeface="Calibri"/>
              </a:rP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9319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61"/>
                </a:solidFill>
                <a:latin typeface="Calibri"/>
              </a:rPr>
              <a:t>Powers Downstream Applications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434840"/>
            <a:ext cx="2514600" cy="12344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434840"/>
            <a:ext cx="25146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Campaign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3280" y="4434840"/>
            <a:ext cx="2514600" cy="12344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0" y="4434840"/>
            <a:ext cx="25146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Fraud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4434840"/>
            <a:ext cx="2514600" cy="12344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4434840"/>
            <a:ext cx="25146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Collections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69680" y="4434840"/>
            <a:ext cx="2514600" cy="12344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0" y="4434840"/>
            <a:ext cx="25146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360 Identity Resolution with Knowledge Graph</dc:title>
  <dc:subject>PptxGenJS Presentation</dc:subject>
  <dc:creator>American Express - ECIP</dc:creator>
  <cp:lastModifiedBy>American Express - ECIP</cp:lastModifiedBy>
  <cp:revision>1</cp:revision>
  <dcterms:created xsi:type="dcterms:W3CDTF">2026-07-06T17:52:48Z</dcterms:created>
  <dcterms:modified xsi:type="dcterms:W3CDTF">2026-07-06T17:52:48Z</dcterms:modified>
</cp:coreProperties>
</file>