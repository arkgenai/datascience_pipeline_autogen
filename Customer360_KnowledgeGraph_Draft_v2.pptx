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5"/>
    <p:sldId id="258" r:id="rId4"/>
    <p:sldId id="259" r:id="rId3"/>
    <p:sldId id="260" r:id="rId2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CUSTOMER 360  ·  KNOWLEDGE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Enriching Customer 360 with a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00A896"/>
                </a:solidFill>
                <a:latin typeface="Calibri"/>
              </a:rPr>
              <a:t>Use Cases, Intelligent Engagement &amp; Identity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CADCFC"/>
                </a:solidFill>
                <a:latin typeface="Calibri"/>
              </a:rPr>
              <a:t>Draft v2 — rearranged to lead with enrichment and use cases, illustrated through a Preferred Time to Call deep dive.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532120"/>
            <a:ext cx="2514600" cy="640080"/>
          </a:xfrm>
          <a:prstGeom prst="roundRect">
            <a:avLst>
              <a:gd name="adj" fmla="val 6000"/>
            </a:avLst>
          </a:prstGeom>
          <a:solidFill>
            <a:srgbClr val="222B5C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2514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Enrichment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5532120"/>
            <a:ext cx="2514600" cy="640080"/>
          </a:xfrm>
          <a:prstGeom prst="roundRect">
            <a:avLst>
              <a:gd name="adj" fmla="val 6000"/>
            </a:avLst>
          </a:prstGeom>
          <a:solidFill>
            <a:srgbClr val="222B5C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5532120"/>
            <a:ext cx="2514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Use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5532120"/>
            <a:ext cx="2514600" cy="640080"/>
          </a:xfrm>
          <a:prstGeom prst="roundRect">
            <a:avLst>
              <a:gd name="adj" fmla="val 6000"/>
            </a:avLst>
          </a:prstGeom>
          <a:solidFill>
            <a:srgbClr val="222B5C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5532120"/>
            <a:ext cx="2514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Time to Call Illustration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5532120"/>
            <a:ext cx="2514600" cy="640080"/>
          </a:xfrm>
          <a:prstGeom prst="roundRect">
            <a:avLst>
              <a:gd name="adj" fmla="val 6000"/>
            </a:avLst>
          </a:prstGeom>
          <a:solidFill>
            <a:srgbClr val="222B5C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5532120"/>
            <a:ext cx="2514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Identity Resolution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KG ENRICHMENT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One Knowledge Graph, Many Enrichment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Start from the Customer 360 core tables, then connect additional data to unlock new signals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377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Customer 360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83464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cust_360_demographic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+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cust_360_commercial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79" y="1783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7593"/>
                </a:solidFill>
                <a:latin typeface="Calibri"/>
              </a:rPr>
              <a:t>+ connect tables → derive 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600200"/>
            <a:ext cx="7863840" cy="749808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 w="127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67335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C7A6E"/>
                </a:solidFill>
                <a:latin typeface="Calibri"/>
              </a:rPr>
              <a:t>+ 5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819656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C7A6E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6916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C7A6E"/>
                </a:solidFill>
                <a:latin typeface="Calibri"/>
              </a:rPr>
              <a:t>Preferred Time to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98424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B7593"/>
                </a:solidFill>
                <a:latin typeface="Calibri"/>
              </a:rPr>
              <a:t>(interaction, chat, IVR,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B7593"/>
                </a:solidFill>
                <a:latin typeface="Calibri"/>
              </a:rPr>
              <a:t>IVR transactional, contact history)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39" y="1965960"/>
            <a:ext cx="365760" cy="1828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0" y="2432304"/>
            <a:ext cx="7863840" cy="749808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250545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593"/>
                </a:solidFill>
                <a:latin typeface="Calibri"/>
              </a:rPr>
              <a:t>+ relationship 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651760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52374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Relationship Mapping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816352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B7593"/>
                </a:solidFill>
                <a:latin typeface="Calibri"/>
              </a:rPr>
              <a:t>(household, family, obligor,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B7593"/>
                </a:solidFill>
                <a:latin typeface="Calibri"/>
              </a:rPr>
              <a:t>business linkage)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39" y="2798064"/>
            <a:ext cx="365760" cy="18288"/>
          </a:xfrm>
          <a:prstGeom prst="rect">
            <a:avLst/>
          </a:prstGeom>
          <a:solidFill>
            <a:srgbClr val="D5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0" y="3264408"/>
            <a:ext cx="7863840" cy="749808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333756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593"/>
                </a:solidFill>
                <a:latin typeface="Calibri"/>
              </a:rPr>
              <a:t>+ transaction/event tables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3483863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3558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Life Event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648456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B7593"/>
                </a:solidFill>
                <a:latin typeface="Calibri"/>
              </a:rPr>
              <a:t>(spend patterns, life-stage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B7593"/>
                </a:solidFill>
                <a:latin typeface="Calibri"/>
              </a:rPr>
              <a:t>signals, account changes)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39" y="3630168"/>
            <a:ext cx="365760" cy="18288"/>
          </a:xfrm>
          <a:prstGeom prst="rect">
            <a:avLst/>
          </a:prstGeom>
          <a:solidFill>
            <a:srgbClr val="D5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57600" y="4096511"/>
            <a:ext cx="7863840" cy="749808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4169663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593"/>
                </a:solidFill>
                <a:latin typeface="Calibri"/>
              </a:rPr>
              <a:t>+ risk/compliance tables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315968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187951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Risk 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480559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B7593"/>
                </a:solidFill>
                <a:latin typeface="Calibri"/>
              </a:rPr>
              <a:t>(delinquency, disputes,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B7593"/>
                </a:solidFill>
                <a:latin typeface="Calibri"/>
              </a:rPr>
              <a:t>watchlist, credit signals)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39" y="4462272"/>
            <a:ext cx="365760" cy="18288"/>
          </a:xfrm>
          <a:prstGeom prst="rect">
            <a:avLst/>
          </a:prstGeom>
          <a:solidFill>
            <a:srgbClr val="D5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0" y="4928616"/>
            <a:ext cx="7863840" cy="749808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0" y="500176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593"/>
                </a:solidFill>
                <a:latin typeface="Calibri"/>
              </a:rPr>
              <a:t>+ behavioral tables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514807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020055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Next Best Conversation Topic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312664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B7593"/>
                </a:solidFill>
                <a:latin typeface="Calibri"/>
              </a:rPr>
              <a:t>(engagement history,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B7593"/>
                </a:solidFill>
                <a:latin typeface="Calibri"/>
              </a:rPr>
              <a:t>channel response)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39" y="5294376"/>
            <a:ext cx="365760" cy="18288"/>
          </a:xfrm>
          <a:prstGeom prst="rect">
            <a:avLst/>
          </a:prstGeom>
          <a:solidFill>
            <a:srgbClr val="D5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080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593"/>
                </a:solidFill>
                <a:latin typeface="Calibri"/>
              </a:rPr>
              <a:t>Each new table connected to the core expands what the graph can explain — the same pattern extends to future enrichments.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What the Knowledge Graph Lets Us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Every enrichment and use case maps back to these five questions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04825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482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920240"/>
            <a:ext cx="9235440" cy="713232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1920240"/>
            <a:ext cx="8778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Who is this customer?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89864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986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770632"/>
            <a:ext cx="9235440" cy="713232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2770632"/>
            <a:ext cx="8778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Who are they connected to?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74903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3621024"/>
            <a:ext cx="9235440" cy="713232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3621024"/>
            <a:ext cx="8778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What is happening in their financial life?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599432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994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4471416"/>
            <a:ext cx="9235440" cy="713232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4471416"/>
            <a:ext cx="8778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C7A6E"/>
                </a:solidFill>
                <a:latin typeface="Calibri"/>
              </a:rPr>
              <a:t>Why is this recommendation appropriate?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449824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498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5321808"/>
            <a:ext cx="9235440" cy="713232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5321808"/>
            <a:ext cx="8778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C7A6E"/>
                </a:solidFill>
                <a:latin typeface="Calibri"/>
              </a:rPr>
              <a:t>What should we do next?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libri"/>
              </a:rPr>
              <a:t>Potential Applications of KG-Powered Customer 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Grouped by how each use case creates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20440" cy="379476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C7A6E"/>
                </a:solidFill>
                <a:latin typeface="Calibri"/>
              </a:rPr>
              <a:t>Customer Data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C7A6E"/>
                </a:solidFill>
                <a:latin typeface="Calibri"/>
              </a:rPr>
              <a:t>Enrichment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3026664"/>
            <a:ext cx="274320" cy="274320"/>
          </a:xfrm>
          <a:prstGeom prst="ellipse">
            <a:avLst/>
          </a:prstGeom>
          <a:solidFill>
            <a:srgbClr val="0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2666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3017520"/>
            <a:ext cx="2514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333"/>
                </a:solidFill>
                <a:latin typeface="Calibri"/>
              </a:rPr>
              <a:t>Relationship Mapping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803903"/>
            <a:ext cx="274320" cy="274320"/>
          </a:xfrm>
          <a:prstGeom prst="ellipse">
            <a:avLst/>
          </a:prstGeom>
          <a:solidFill>
            <a:srgbClr val="0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0390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794759"/>
            <a:ext cx="2514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333"/>
                </a:solidFill>
                <a:latin typeface="Calibri"/>
              </a:rPr>
              <a:t>Life Event Detection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581144"/>
            <a:ext cx="274320" cy="274320"/>
          </a:xfrm>
          <a:prstGeom prst="ellipse">
            <a:avLst/>
          </a:prstGeom>
          <a:solidFill>
            <a:srgbClr val="0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8114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572000"/>
            <a:ext cx="2514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333"/>
                </a:solidFill>
                <a:latin typeface="Calibri"/>
              </a:rPr>
              <a:t>Risk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920240"/>
            <a:ext cx="3520440" cy="379476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1488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Customer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Engagement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026664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02666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017520"/>
            <a:ext cx="2514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333"/>
                </a:solidFill>
                <a:latin typeface="Calibri"/>
              </a:rPr>
              <a:t>Perfect Time to Call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3803903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80390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794759"/>
            <a:ext cx="2514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333"/>
                </a:solidFill>
                <a:latin typeface="Calibri"/>
              </a:rPr>
              <a:t>Next Best Conversation Topic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1920240"/>
            <a:ext cx="3520440" cy="3794760"/>
          </a:xfrm>
          <a:prstGeom prst="roundRect">
            <a:avLst>
              <a:gd name="adj" fmla="val 6000"/>
            </a:avLst>
          </a:prstGeom>
          <a:solidFill>
            <a:srgbClr val="D5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1488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Regulatory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&amp; Risk</a:t>
            </a:r>
          </a:p>
        </p:txBody>
      </p:sp>
      <p:sp>
        <p:nvSpPr>
          <p:cNvPr id="26" name="Oval 25"/>
          <p:cNvSpPr/>
          <p:nvPr/>
        </p:nvSpPr>
        <p:spPr>
          <a:xfrm>
            <a:off x="8366759" y="3026664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302666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59" y="3017520"/>
            <a:ext cx="2514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333"/>
                </a:solidFill>
                <a:latin typeface="Calibri"/>
              </a:rPr>
              <a:t>Fraud Rings</a:t>
            </a:r>
          </a:p>
        </p:txBody>
      </p:sp>
      <p:sp>
        <p:nvSpPr>
          <p:cNvPr id="29" name="Oval 28"/>
          <p:cNvSpPr/>
          <p:nvPr/>
        </p:nvSpPr>
        <p:spPr>
          <a:xfrm>
            <a:off x="8366759" y="3803903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380390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3794759"/>
            <a:ext cx="2514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333"/>
                </a:solidFill>
                <a:latin typeface="Calibri"/>
              </a:rPr>
              <a:t>Explainable Recommendations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97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B7593"/>
                </a:solidFill>
                <a:latin typeface="Calibri"/>
              </a:rPr>
              <a:t>Deep dive on the following pages: Perfect Time to Call (illustration)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Deep Dive Illustration:</a:t>
            </a:r>
          </a:p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Preferred Time to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605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One use case shown end-to-end — the same enrichment pattern applies to the other use cases on the previous page.</a:t>
            </a:r>
          </a:p>
        </p:txBody>
      </p:sp>
      <p:sp>
        <p:nvSpPr>
          <p:cNvPr id="5" name="Oval 4"/>
          <p:cNvSpPr/>
          <p:nvPr/>
        </p:nvSpPr>
        <p:spPr>
          <a:xfrm>
            <a:off x="11248805" y="1325868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91210" y="2250823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00990" y="1558666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80479" y="2426670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70071" y="659900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01891" y="2181029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49790" y="793571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17433" y="1582911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23555" y="2401161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03369" y="2481316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DEEP DIVE · PREFERRED TIME TO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From Raw Interactions to a Confident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Business-level view — modeling detail is in the Appendix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84248"/>
            <a:ext cx="21122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Customer360</a:t>
            </a:r>
          </a:p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32887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7593"/>
                </a:solidFill>
                <a:latin typeface="Calibri"/>
              </a:rPr>
              <a:t>5 integrated feeds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3200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39" y="1874519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1984248"/>
            <a:ext cx="21122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Interaction Timeline</a:t>
            </a:r>
          </a:p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532887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7593"/>
                </a:solidFill>
                <a:latin typeface="Calibri"/>
              </a:rPr>
              <a:t>Unified event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59" y="1874519"/>
            <a:ext cx="3200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874519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1984248"/>
            <a:ext cx="21122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Feature</a:t>
            </a:r>
          </a:p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532887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7593"/>
                </a:solidFill>
                <a:latin typeface="Calibri"/>
              </a:rPr>
              <a:t>Hour · Day · Channel</a:t>
            </a:r>
          </a:p>
          <a:p>
            <a:pPr algn="ctr"/>
            <a:r>
              <a:rPr sz="1050" b="0" i="0">
                <a:solidFill>
                  <a:srgbClr val="6B7593"/>
                </a:solidFill>
                <a:latin typeface="Calibri"/>
              </a:rPr>
              <a:t>Outcome · Sentiment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874519"/>
            <a:ext cx="3200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59" y="1874519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5087" y="1984248"/>
            <a:ext cx="21122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Prediction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7" y="2532887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7593"/>
                </a:solidFill>
                <a:latin typeface="Calibri"/>
              </a:rPr>
              <a:t>4 AI approaches</a:t>
            </a:r>
          </a:p>
          <a:p>
            <a:pPr algn="ctr"/>
            <a:r>
              <a:rPr sz="1050" b="0" i="0">
                <a:solidFill>
                  <a:srgbClr val="6B7593"/>
                </a:solidFill>
                <a:latin typeface="Calibri"/>
              </a:rPr>
              <a:t>(see Appendix)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46120"/>
            <a:ext cx="108813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61007" y="3657600"/>
            <a:ext cx="2743200" cy="658368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1007" y="3657600"/>
            <a:ext cx="2743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Top 3 Contact Slots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24247" y="3657600"/>
            <a:ext cx="2743200" cy="658368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4247" y="3657600"/>
            <a:ext cx="2743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Confidence Score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87487" y="3657600"/>
            <a:ext cx="2743200" cy="658368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87487" y="3657600"/>
            <a:ext cx="2743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Preferred Channel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617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Integrated Data Sources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83480"/>
            <a:ext cx="2084831" cy="77724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983480"/>
            <a:ext cx="199339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C7A6E"/>
                </a:solidFill>
                <a:latin typeface="Calibri"/>
              </a:rPr>
              <a:t>GSG Customer</a:t>
            </a:r>
          </a:p>
          <a:p>
            <a:pPr algn="ctr"/>
            <a:r>
              <a:rPr sz="1050" b="1" i="0">
                <a:solidFill>
                  <a:srgbClr val="0C7A6E"/>
                </a:solidFill>
                <a:latin typeface="Calibri"/>
              </a:rPr>
              <a:t>Interaction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70632" y="4983480"/>
            <a:ext cx="2084831" cy="77724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16351" y="4983480"/>
            <a:ext cx="199339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C7A6E"/>
                </a:solidFill>
                <a:latin typeface="Calibri"/>
              </a:rPr>
              <a:t>S360 Chat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92623" y="4983480"/>
            <a:ext cx="2084831" cy="77724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38343" y="4983480"/>
            <a:ext cx="199339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C7A6E"/>
                </a:solidFill>
                <a:latin typeface="Calibri"/>
              </a:rPr>
              <a:t>Genesys IVR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14615" y="4983480"/>
            <a:ext cx="2084831" cy="77724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5" y="4983480"/>
            <a:ext cx="199339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C7A6E"/>
                </a:solidFill>
                <a:latin typeface="Calibri"/>
              </a:rPr>
              <a:t>Genesys IVR</a:t>
            </a:r>
          </a:p>
          <a:p>
            <a:pPr algn="ctr"/>
            <a:r>
              <a:rPr sz="1050" b="1" i="0">
                <a:solidFill>
                  <a:srgbClr val="0C7A6E"/>
                </a:solidFill>
                <a:latin typeface="Calibri"/>
              </a:rPr>
              <a:t>Transactional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36607" y="4983480"/>
            <a:ext cx="2084831" cy="77724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82328" y="4983480"/>
            <a:ext cx="199339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C7A6E"/>
                </a:solidFill>
                <a:latin typeface="Calibri"/>
              </a:rPr>
              <a:t>UMDL Contact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7593"/>
                </a:solidFill>
                <a:latin typeface="Calibri"/>
              </a:rPr>
              <a:t>Technical modeling detail: see Appendix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DEEP DIVE · PREFERRED TIME TO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Recommended Approach: Ensemble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Three modeling techniques combined for the most reliable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1005840" cy="384048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Temporal 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B2333"/>
                </a:solidFill>
                <a:latin typeface="Calibri"/>
              </a:rPr>
              <a:t>Primary signal — learns each customer's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B2333"/>
                </a:solidFill>
                <a:latin typeface="Calibri"/>
              </a:rPr>
              <a:t>historical response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2024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148840"/>
            <a:ext cx="1005840" cy="384048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974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Hidden Markov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5468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B2333"/>
                </a:solidFill>
                <a:latin typeface="Calibri"/>
              </a:rPr>
              <a:t>Captures how availability shifts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B2333"/>
                </a:solidFill>
                <a:latin typeface="Calibri"/>
              </a:rPr>
              <a:t>throughout the 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92024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75319" y="2148840"/>
            <a:ext cx="1005840" cy="384048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2148840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E2761"/>
                </a:solidFill>
                <a:latin typeface="Calibri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6974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Journey Graph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15468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B2333"/>
                </a:solidFill>
                <a:latin typeface="Calibri"/>
              </a:rPr>
              <a:t>Uses the Knowledge Graph to factor in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B2333"/>
                </a:solidFill>
                <a:latin typeface="Calibri"/>
              </a:rPr>
              <a:t>recent interactions and journey 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2628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A896"/>
                </a:solidFill>
                <a:latin typeface="Calibri"/>
              </a:rPr>
              <a:t>Why this combination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6858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Robust to noisy data · handles new/cold-start customers · every recommendation is explainable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663440"/>
            <a:ext cx="3017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0A896"/>
                </a:solidFill>
                <a:latin typeface="Calibri"/>
              </a:rPr>
              <a:t>88–94%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440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Expected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7593"/>
                </a:solidFill>
                <a:latin typeface="Calibri"/>
              </a:rPr>
              <a:t>Approach-level detail: see Appendix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DEEP DIVE · PREFERRED TIME TO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libri"/>
              </a:rPr>
              <a:t>Impact Across Experience, Operations &amp; Business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520440" cy="242316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C7A6E"/>
                </a:solidFill>
                <a:latin typeface="Calibri"/>
              </a:rPr>
              <a:t>Customer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Right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700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Right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5409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Right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520440" cy="242316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Higher connect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700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Lower repeat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5409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Better agent utilization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600200"/>
            <a:ext cx="3520440" cy="2423160"/>
          </a:xfrm>
          <a:prstGeom prst="roundRect">
            <a:avLst>
              <a:gd name="adj" fmla="val 6000"/>
            </a:avLst>
          </a:prstGeom>
          <a:solidFill>
            <a:srgbClr val="D5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7830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28600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Higher OSAT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6700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Lower RCR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305409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Better campaign conversion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43814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Lower dialing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881360" cy="16916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3484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0A896"/>
                </a:solidFill>
                <a:latin typeface="Calibri"/>
              </a:rPr>
              <a:t>Expected Improvements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46320"/>
            <a:ext cx="3429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15–20%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4068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higher First Contact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Resolution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846320"/>
            <a:ext cx="3429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12–18%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44068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lower Repeat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Contact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846320"/>
            <a:ext cx="3429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10–15%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544068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higher Customer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Satisfaction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SUPPORTING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libri"/>
              </a:rPr>
              <a:t>How This Also Strengthens Identity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The same graph used for enrichment resolves who's who across new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F0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The Problem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333"/>
                </a:solidFill>
                <a:latin typeface="Calibri"/>
              </a:rPr>
              <a:t>Rule-based attribute matching (Name, DOB, Address, SSN, Phone, Email) over-links different people or under-links the same person — missing family, household, and corporate relationships.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874519"/>
            <a:ext cx="5623560" cy="196596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2057400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C7A6E"/>
                </a:solidFill>
                <a:latin typeface="Calibri"/>
              </a:rPr>
              <a:t>The Knowledge Graph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468880"/>
            <a:ext cx="5166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333"/>
                </a:solidFill>
                <a:latin typeface="Calibri"/>
              </a:rPr>
              <a:t>Represent customers as a graph of relationships — shared address, obligor, corporate card, government ID — so links are explainable, not just a match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6B7593"/>
                </a:solidFill>
                <a:latin typeface="Calibri"/>
              </a:rPr>
              <a:t>Current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1148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C7A6E"/>
                </a:solidFill>
                <a:latin typeface="Calibri"/>
              </a:rPr>
              <a:t>With Knowledge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B2333"/>
                </a:solidFill>
                <a:latin typeface="Calibri"/>
              </a:rPr>
              <a:t>• Attribute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434840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C7A6E"/>
                </a:solidFill>
                <a:latin typeface="Calibri"/>
              </a:rPr>
              <a:t>• Relationship-aware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54296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B2333"/>
                </a:solidFill>
                <a:latin typeface="Calibri"/>
              </a:rPr>
              <a:t>• High false positives/negatives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654296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C7A6E"/>
                </a:solidFill>
                <a:latin typeface="Calibri"/>
              </a:rPr>
              <a:t>• Reduced over- and under-linking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73752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B2333"/>
                </a:solidFill>
                <a:latin typeface="Calibri"/>
              </a:rPr>
              <a:t>• Consumer / Commercial disconnected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873752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C7A6E"/>
                </a:solidFill>
                <a:latin typeface="Calibri"/>
              </a:rPr>
              <a:t>• Unified Customer 360 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57800"/>
            <a:ext cx="10927080" cy="7772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378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Full detail on rule-based failure modes, corner cases, and the graph solution is in the Appendix.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7593"/>
                </a:solidFill>
                <a:latin typeface="Calibri"/>
              </a:rPr>
              <a:t>Identity Resolution detail: see Appendix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Summary &amp; Next Steps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920240"/>
            <a:ext cx="9692640" cy="685800"/>
          </a:xfrm>
          <a:prstGeom prst="roundRect">
            <a:avLst>
              <a:gd name="adj" fmla="val 6000"/>
            </a:avLst>
          </a:prstGeom>
          <a:solidFill>
            <a:srgbClr val="2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920240"/>
            <a:ext cx="9144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Validate the Preferred Time to Call illustration with a pilot segment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88036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788920"/>
            <a:ext cx="9692640" cy="685800"/>
          </a:xfrm>
          <a:prstGeom prst="roundRect">
            <a:avLst>
              <a:gd name="adj" fmla="val 6000"/>
            </a:avLst>
          </a:prstGeom>
          <a:solidFill>
            <a:srgbClr val="2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788920"/>
            <a:ext cx="9144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Prioritize 1–2 additional use cases from the enrichment list for scoping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49039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3657600"/>
            <a:ext cx="9692640" cy="685800"/>
          </a:xfrm>
          <a:prstGeom prst="roundRect">
            <a:avLst>
              <a:gd name="adj" fmla="val 6000"/>
            </a:avLst>
          </a:prstGeom>
          <a:solidFill>
            <a:srgbClr val="2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3657600"/>
            <a:ext cx="9144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Confirm data access for the additional tables required per use case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617719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17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4526279"/>
            <a:ext cx="9692640" cy="685800"/>
          </a:xfrm>
          <a:prstGeom prst="roundRect">
            <a:avLst>
              <a:gd name="adj" fmla="val 6000"/>
            </a:avLst>
          </a:prstGeom>
          <a:solidFill>
            <a:srgbClr val="22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4526279"/>
            <a:ext cx="9144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Run the Knowledge Graph alongside existing rules for Identity Resolution on corner cases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605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Technical modeling detail for Preferred Time to Call, and full detail on the Identity Resolution problem and solution.</a:t>
            </a:r>
          </a:p>
        </p:txBody>
      </p:sp>
      <p:sp>
        <p:nvSpPr>
          <p:cNvPr id="5" name="Oval 4"/>
          <p:cNvSpPr/>
          <p:nvPr/>
        </p:nvSpPr>
        <p:spPr>
          <a:xfrm>
            <a:off x="9796967" y="2457037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76688" y="1939074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86392" y="1018980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92095" y="942449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08066" y="1444838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93874" y="1516954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21310" y="2191951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96005" y="992309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43320" y="1057858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94090" y="2335872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APPENDIX · APPROACH 1 · PRIMARY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libri"/>
              </a:rPr>
              <a:t>Weighted Temporal Clustering with Bayesian Inference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74650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465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600200"/>
            <a:ext cx="4114800" cy="749808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600200"/>
            <a:ext cx="3703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Historical Interactions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2432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243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478024"/>
            <a:ext cx="4114800" cy="749808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2478024"/>
            <a:ext cx="3703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Extract Hour + Day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0215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021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355848"/>
            <a:ext cx="4114800" cy="749808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3355848"/>
            <a:ext cx="3703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Outcome Weighting</a:t>
            </a:r>
          </a:p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(OSAT + VIBES + Engagement + Recency)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37997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799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233672"/>
            <a:ext cx="4114800" cy="749808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4233672"/>
            <a:ext cx="3703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Bayesian Smoothing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25780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111496"/>
            <a:ext cx="4114800" cy="749808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5111496"/>
            <a:ext cx="3703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C7A6E"/>
                </a:solidFill>
                <a:latin typeface="Calibri"/>
              </a:rPr>
              <a:t>Top 3 Preferred Windows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1600200"/>
            <a:ext cx="5577840" cy="342900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Key Highlights</a:t>
            </a:r>
          </a:p>
        </p:txBody>
      </p:sp>
      <p:sp>
        <p:nvSpPr>
          <p:cNvPr id="26" name="Oval 25"/>
          <p:cNvSpPr/>
          <p:nvPr/>
        </p:nvSpPr>
        <p:spPr>
          <a:xfrm>
            <a:off x="6501384" y="2304288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30428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28600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Learns customer behavioral patterns</a:t>
            </a:r>
          </a:p>
        </p:txBody>
      </p:sp>
      <p:sp>
        <p:nvSpPr>
          <p:cNvPr id="29" name="Oval 28"/>
          <p:cNvSpPr/>
          <p:nvPr/>
        </p:nvSpPr>
        <p:spPr>
          <a:xfrm>
            <a:off x="6501384" y="2807208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4" y="280720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78892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Uses successful interactions more heavily</a:t>
            </a:r>
          </a:p>
        </p:txBody>
      </p:sp>
      <p:sp>
        <p:nvSpPr>
          <p:cNvPr id="32" name="Oval 31"/>
          <p:cNvSpPr/>
          <p:nvPr/>
        </p:nvSpPr>
        <p:spPr>
          <a:xfrm>
            <a:off x="6501384" y="3310128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1384" y="331012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29184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Accounts for recency</a:t>
            </a:r>
          </a:p>
        </p:txBody>
      </p:sp>
      <p:sp>
        <p:nvSpPr>
          <p:cNvPr id="35" name="Oval 34"/>
          <p:cNvSpPr/>
          <p:nvPr/>
        </p:nvSpPr>
        <p:spPr>
          <a:xfrm>
            <a:off x="6501384" y="3813048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1384" y="381304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79476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Handles sparse data using Bayesian priors</a:t>
            </a:r>
          </a:p>
        </p:txBody>
      </p:sp>
      <p:sp>
        <p:nvSpPr>
          <p:cNvPr id="38" name="Oval 37"/>
          <p:cNvSpPr/>
          <p:nvPr/>
        </p:nvSpPr>
        <p:spPr>
          <a:xfrm>
            <a:off x="6501384" y="4315968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1384" y="431596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29768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Predicts Top-3 preferred windows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0" y="4617720"/>
            <a:ext cx="5577840" cy="7772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4617720"/>
            <a:ext cx="2743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Expected Accuracy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617720"/>
            <a:ext cx="2468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600" b="1" i="0">
                <a:solidFill>
                  <a:srgbClr val="00A896"/>
                </a:solidFill>
                <a:latin typeface="Calibri"/>
              </a:rPr>
              <a:t>87–92%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APPENDIX · APPROACH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Hidden Markov Model (HMM)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Models a customer's changing availability throughout the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834640" cy="960120"/>
          </a:xfrm>
          <a:prstGeom prst="roundRect">
            <a:avLst>
              <a:gd name="adj" fmla="val 6000"/>
            </a:avLst>
          </a:prstGeom>
          <a:solidFill>
            <a:srgbClr val="F0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834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C0392B"/>
                </a:solidFill>
                <a:latin typeface="Calibri"/>
              </a:rPr>
              <a:t>Unavailable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9659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965960"/>
            <a:ext cx="2834640" cy="96012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965960"/>
            <a:ext cx="2834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1E2761"/>
                </a:solidFill>
                <a:latin typeface="Calibri"/>
              </a:rPr>
              <a:t>Moderately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659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965960"/>
            <a:ext cx="2834640" cy="96012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965960"/>
            <a:ext cx="2834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0C7A6E"/>
                </a:solidFill>
                <a:latin typeface="Calibri"/>
              </a:rPr>
              <a:t>Highly Available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290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Observations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862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Pickup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Talk 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Chat 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Sentiment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Repeat contacts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246120"/>
            <a:ext cx="5577840" cy="228600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4290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C7A6E"/>
                </a:solidFill>
                <a:latin typeface="Calibri"/>
              </a:rPr>
              <a:t>Output &amp; Benefits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840480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B2333"/>
                </a:solidFill>
                <a:latin typeface="Calibri"/>
              </a:rPr>
              <a:t>Predicts probability customer is: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B2333"/>
                </a:solidFill>
                <a:latin typeface="Calibri"/>
              </a:rPr>
              <a:t>Available · Busy ·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526280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2333"/>
                </a:solidFill>
                <a:latin typeface="Calibri"/>
              </a:rPr>
              <a:t>• Captures changing availability throughout the day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2333"/>
                </a:solidFill>
                <a:latin typeface="Calibri"/>
              </a:rPr>
              <a:t>• Useful for outbound dialing optimization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669280"/>
            <a:ext cx="5120640" cy="5943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669280"/>
            <a:ext cx="51206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00A896"/>
                </a:solidFill>
                <a:latin typeface="Calibri"/>
              </a:rPr>
              <a:t>Expected Accuracy: 84–90%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APPENDIX · APPROACH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Graph-Based Journey Context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Leverages the existing Customer 360 Knowledge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6583680" cy="118872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60350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C7A6E"/>
                </a:solidFill>
                <a:latin typeface="Calibri"/>
              </a:rPr>
              <a:t>Customer → IVR Success → 2 Hours → Chat → Successful Resolution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6583680" cy="1005840"/>
          </a:xfrm>
          <a:prstGeom prst="roundRect">
            <a:avLst>
              <a:gd name="adj" fmla="val 6000"/>
            </a:avLst>
          </a:prstGeom>
          <a:solidFill>
            <a:srgbClr val="F0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6035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C0392B"/>
                </a:solidFill>
                <a:latin typeface="Calibri"/>
              </a:rPr>
              <a:t>Chat Failure → 24 Hours → Inbound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874519"/>
            <a:ext cx="4114800" cy="237744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20574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Preferred time depends 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Previous 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89864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Journey stage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82696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Channel transition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66674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Business event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5120640" cy="128016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6344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Graph Nodes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29200"/>
            <a:ext cx="4663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2333"/>
                </a:solidFill>
                <a:latin typeface="Calibri"/>
              </a:rPr>
              <a:t>Customer · Interaction · Account · IVR · Agent · Campaign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526280"/>
            <a:ext cx="5669280" cy="128016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6634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Graph Edges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029200"/>
            <a:ext cx="5212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2333"/>
                </a:solidFill>
                <a:latin typeface="Calibri"/>
              </a:rPr>
              <a:t>Next interaction · Resolution · Transfer · Repeat contact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703320"/>
            <a:ext cx="4114800" cy="7315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3703320"/>
            <a:ext cx="4114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0A896"/>
                </a:solidFill>
                <a:latin typeface="Calibri"/>
              </a:rPr>
              <a:t>Expected Accuracy: 81–86%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APPENDIX · DATA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Data Source to Model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Which data sources feed each prediction approach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19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714500"/>
                <a:gridCol w="1714500"/>
                <a:gridCol w="1714500"/>
                <a:gridCol w="17145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Data Source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Temporal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HMM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Graph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Ensemble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333"/>
                          </a:solidFill>
                          <a:latin typeface="Calibri"/>
                        </a:rPr>
                        <a:t>GSG Customer Interaction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333"/>
                          </a:solidFill>
                          <a:latin typeface="Calibri"/>
                        </a:rPr>
                        <a:t>S360 Chat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333"/>
                          </a:solidFill>
                          <a:latin typeface="Calibri"/>
                        </a:rPr>
                        <a:t>Genesys IVR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333"/>
                          </a:solidFill>
                          <a:latin typeface="Calibri"/>
                        </a:rPr>
                        <a:t>IVR Transactional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B7593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333"/>
                          </a:solidFill>
                          <a:latin typeface="Calibri"/>
                        </a:rPr>
                        <a:t>UMDL Contact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B7593"/>
                          </a:solidFill>
                          <a:latin typeface="Calibri"/>
                        </a:rPr>
                        <a:t>Context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APPENDIX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libri"/>
              </a:rPr>
              <a:t>Customer360 AI Integration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92024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Customer360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5146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7593"/>
                </a:solidFill>
                <a:latin typeface="Calibri"/>
              </a:rPr>
              <a:t>Phone360 · Chat360 · IVR</a:t>
            </a:r>
          </a:p>
          <a:p>
            <a:pPr algn="ctr"/>
            <a:r>
              <a:rPr sz="950" b="0" i="0">
                <a:solidFill>
                  <a:srgbClr val="6B7593"/>
                </a:solidFill>
                <a:latin typeface="Calibri"/>
              </a:rPr>
              <a:t>Transactional IVR · UMDL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39" y="1783080"/>
            <a:ext cx="16459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0632" y="178308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2072" y="192024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Feature</a:t>
            </a:r>
          </a:p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72" y="25146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7593"/>
                </a:solidFill>
                <a:latin typeface="Calibri"/>
              </a:rPr>
              <a:t>Unified signal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1783080"/>
            <a:ext cx="16459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01184" y="178308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92624" y="192024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Model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25146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7593"/>
                </a:solidFill>
                <a:latin typeface="Calibri"/>
              </a:rPr>
              <a:t>Temporal · HMM</a:t>
            </a:r>
          </a:p>
          <a:p>
            <a:pPr algn="ctr"/>
            <a:r>
              <a:rPr sz="950" b="0" i="0">
                <a:solidFill>
                  <a:srgbClr val="6B7593"/>
                </a:solidFill>
                <a:latin typeface="Calibri"/>
              </a:rPr>
              <a:t>Journey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144" y="1783080"/>
            <a:ext cx="16459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31736" y="178308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3176" y="192024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Ensemble</a:t>
            </a:r>
          </a:p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6" y="25146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7593"/>
                </a:solidFill>
                <a:latin typeface="Calibri"/>
              </a:rPr>
              <a:t>Weighted combination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1783080"/>
            <a:ext cx="16459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178308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192024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Preferred Time</a:t>
            </a:r>
          </a:p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&amp; 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5146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7593"/>
                </a:solidFill>
                <a:latin typeface="Calibri"/>
              </a:rPr>
              <a:t>Confidence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383280"/>
            <a:ext cx="10881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0A896"/>
                </a:solidFill>
                <a:latin typeface="Calibri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Powers Downstream Applications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43484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25146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Campaign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443484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4434840"/>
            <a:ext cx="25146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Fraud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43484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4434840"/>
            <a:ext cx="25146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Collections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69680" y="443484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4434840"/>
            <a:ext cx="25146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APPENDIX · IDENTITY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libri"/>
              </a:rPr>
              <a:t>Where Rule-Based Matching Breaks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Current attribute-matching process, and the two failure modes it produces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017520" cy="73152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E2761"/>
                </a:solidFill>
                <a:latin typeface="Calibri"/>
              </a:rPr>
              <a:t>New Credit Card</a:t>
            </a:r>
          </a:p>
          <a:p>
            <a:pPr algn="ctr"/>
            <a:r>
              <a:rPr sz="1150" b="0" i="0">
                <a:solidFill>
                  <a:srgbClr val="1E2761"/>
                </a:solidFill>
                <a:latin typeface="Calibri"/>
              </a:rPr>
              <a:t>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39"/>
            <a:ext cx="30175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6B7593"/>
                </a:solidFill>
                <a:latin typeface="Calibri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3017520" cy="73152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E2761"/>
                </a:solidFill>
                <a:latin typeface="Calibri"/>
              </a:rPr>
              <a:t>Customer 360</a:t>
            </a:r>
          </a:p>
          <a:p>
            <a:pPr algn="ctr"/>
            <a:r>
              <a:rPr sz="1150" b="0" i="0">
                <a:solidFill>
                  <a:srgbClr val="1E2761"/>
                </a:solidFill>
                <a:latin typeface="Calibri"/>
              </a:rPr>
              <a:t>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30175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6B7593"/>
                </a:solidFill>
                <a:latin typeface="Calibr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11879"/>
            <a:ext cx="3017520" cy="7315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11879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Rule-Based Identity Matching</a:t>
            </a:r>
          </a:p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(Name, DOB, Address, SSN,</a:t>
            </a:r>
          </a:p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Phone, Email)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593"/>
                </a:solidFill>
                <a:latin typeface="Calibri"/>
              </a:rPr>
              <a:t>Limitation: matching relies on attribute similarity, with little understanding of real relationships between people.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1783080"/>
            <a:ext cx="3931920" cy="214884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192024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Over-Linking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28600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333"/>
                </a:solidFill>
                <a:latin typeface="Calibri"/>
              </a:rPr>
              <a:t>Different individuals are incorrectly merged into one customer identity.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78892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593"/>
                </a:solidFill>
                <a:latin typeface="Calibri"/>
              </a:rPr>
              <a:t>Existing → New Applicant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06324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B2333"/>
                </a:solidFill>
                <a:latin typeface="Calibri"/>
              </a:rPr>
              <a:t>Robert Downey → Robert Downey Jr.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B2333"/>
                </a:solidFill>
                <a:latin typeface="Calibri"/>
              </a:rPr>
              <a:t>Ankit Yadav → Ankita Yadav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61188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C0392B"/>
                </a:solidFill>
                <a:latin typeface="Calibri"/>
              </a:rPr>
              <a:t>Impact: privacy violations, compliance risk.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4069080"/>
            <a:ext cx="3931920" cy="169164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420624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Under-Linking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57200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333"/>
                </a:solidFill>
                <a:latin typeface="Calibri"/>
              </a:rPr>
              <a:t>The same individual is assigned multiple, disconnected customer IDs.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5029200"/>
            <a:ext cx="3474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B2333"/>
                </a:solidFill>
                <a:latin typeface="Calibri"/>
              </a:rPr>
              <a:t>Example: Rohit applies twice → becomes Customer 101 and 248 instead of one ID.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553212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C0392B"/>
                </a:solidFill>
                <a:latin typeface="Calibri"/>
              </a:rPr>
              <a:t>Impact: duplicate records, fraud exposure.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783080"/>
            <a:ext cx="3429000" cy="3977639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96596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27" name="Oval 26"/>
          <p:cNvSpPr/>
          <p:nvPr/>
        </p:nvSpPr>
        <p:spPr>
          <a:xfrm>
            <a:off x="8485632" y="2423160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85632" y="2423160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423160"/>
            <a:ext cx="2606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Attribute similarity alone cannot capture family, household, or corporate relationships</a:t>
            </a:r>
          </a:p>
        </p:txBody>
      </p:sp>
      <p:sp>
        <p:nvSpPr>
          <p:cNvPr id="30" name="Oval 29"/>
          <p:cNvSpPr/>
          <p:nvPr/>
        </p:nvSpPr>
        <p:spPr>
          <a:xfrm>
            <a:off x="8485632" y="3474720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3474720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3474720"/>
            <a:ext cx="2606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Both failure modes grow as the customer base and product mix become more complex</a:t>
            </a:r>
          </a:p>
        </p:txBody>
      </p:sp>
      <p:sp>
        <p:nvSpPr>
          <p:cNvPr id="33" name="Oval 32"/>
          <p:cNvSpPr/>
          <p:nvPr/>
        </p:nvSpPr>
        <p:spPr>
          <a:xfrm>
            <a:off x="8485632" y="4526279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5632" y="4526279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4526279"/>
            <a:ext cx="2606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Errors compound across fraud, credit, and compliance decisions downstream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APPENDIX · IDENTITY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libri"/>
              </a:rPr>
              <a:t>Corner Cases That Rules Can't Resolve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Attribute similarity alone gives the wrong answer in each of these real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Father &amp; 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95728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B2333"/>
                </a:solidFill>
                <a:latin typeface="Calibri"/>
              </a:rPr>
              <a:t>Same address, similar names, missing SSN. High similarity — but are they the same person or related individuals?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46120"/>
            <a:ext cx="2377440" cy="32004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23774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C7A6E"/>
                </a:solidFill>
                <a:latin typeface="Calibri"/>
              </a:rPr>
              <a:t>Relationship vs. 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93392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95728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B2333"/>
                </a:solidFill>
                <a:latin typeface="Calibri"/>
              </a:rPr>
              <a:t>Rohit Ahuja &amp; Mohit Ahuja share the same DOB and address, with one missing national ID. Very high similarity, yet clearly different individuals.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46120"/>
            <a:ext cx="2377440" cy="32004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46120"/>
            <a:ext cx="23774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C7A6E"/>
                </a:solidFill>
                <a:latin typeface="Calibri"/>
              </a:rPr>
              <a:t>False-positive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8620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50791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Personal + Corporate 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53128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B2333"/>
                </a:solidFill>
                <a:latin typeface="Calibri"/>
              </a:rPr>
              <a:t>The same individual holds a personal card and a corporate card. The corporate card links through a business to an obligor.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303520"/>
            <a:ext cx="2377440" cy="32004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03520"/>
            <a:ext cx="23774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C7A6E"/>
                </a:solidFill>
                <a:latin typeface="Calibri"/>
              </a:rPr>
              <a:t>Cross-business linkage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88620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050791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Multiple Companies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53128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B2333"/>
                </a:solidFill>
                <a:latin typeface="Calibri"/>
              </a:rPr>
              <a:t>One obligor is connected to Company A, B, and C, requiring traversal across several business entities to resolve identity.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5303520"/>
            <a:ext cx="2377440" cy="32004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303520"/>
            <a:ext cx="23774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C7A6E"/>
                </a:solidFill>
                <a:latin typeface="Calibri"/>
              </a:rPr>
              <a:t>Multi-hop traversal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7593"/>
                </a:solidFill>
                <a:latin typeface="Calibri"/>
              </a:rPr>
              <a:t>Root cause: matching compares Name, DOB, Address, Phone, and Email only — with no concept of relationships, multi-hop connections, or household/organizational structure.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APPENDIX · IDENTITY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Proposed Solution: Customer 360 +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Represent customers and their relationships as a graph, not just a set of attributes to compare</a:t>
            </a:r>
          </a:p>
        </p:txBody>
      </p:sp>
      <p:sp>
        <p:nvSpPr>
          <p:cNvPr id="5" name="Oval 4"/>
          <p:cNvSpPr/>
          <p:nvPr/>
        </p:nvSpPr>
        <p:spPr>
          <a:xfrm>
            <a:off x="1028700" y="1714500"/>
            <a:ext cx="502920" cy="502920"/>
          </a:xfrm>
          <a:prstGeom prst="ellipse">
            <a:avLst/>
          </a:prstGeom>
          <a:solidFill>
            <a:srgbClr val="141B47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22585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1031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  <a:latin typeface="Calibri"/>
              </a:rPr>
              <a:t>OWNS_CARD</a:t>
            </a:r>
          </a:p>
        </p:txBody>
      </p:sp>
      <p:sp>
        <p:nvSpPr>
          <p:cNvPr id="8" name="Oval 7"/>
          <p:cNvSpPr/>
          <p:nvPr/>
        </p:nvSpPr>
        <p:spPr>
          <a:xfrm>
            <a:off x="1028700" y="2491740"/>
            <a:ext cx="502920" cy="502920"/>
          </a:xfrm>
          <a:prstGeom prst="ellipse">
            <a:avLst/>
          </a:prstGeom>
          <a:solidFill>
            <a:srgbClr val="141B47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303580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8803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  <a:latin typeface="Calibri"/>
              </a:rPr>
              <a:t>ACCOUNT</a:t>
            </a:r>
          </a:p>
        </p:txBody>
      </p:sp>
      <p:sp>
        <p:nvSpPr>
          <p:cNvPr id="11" name="Oval 10"/>
          <p:cNvSpPr/>
          <p:nvPr/>
        </p:nvSpPr>
        <p:spPr>
          <a:xfrm>
            <a:off x="1028700" y="3268979"/>
            <a:ext cx="502920" cy="502920"/>
          </a:xfrm>
          <a:prstGeom prst="ellipse">
            <a:avLst/>
          </a:prstGeom>
          <a:solidFill>
            <a:srgbClr val="141B47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9" y="3813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65759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  <a:latin typeface="Calibri"/>
              </a:rPr>
              <a:t>BELONGS_TO</a:t>
            </a:r>
          </a:p>
        </p:txBody>
      </p:sp>
      <p:sp>
        <p:nvSpPr>
          <p:cNvPr id="14" name="Oval 13"/>
          <p:cNvSpPr/>
          <p:nvPr/>
        </p:nvSpPr>
        <p:spPr>
          <a:xfrm>
            <a:off x="1028700" y="4046219"/>
            <a:ext cx="502920" cy="502920"/>
          </a:xfrm>
          <a:prstGeom prst="ellipse">
            <a:avLst/>
          </a:prstGeom>
          <a:solidFill>
            <a:srgbClr val="141B47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59" y="45902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4348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  <a:latin typeface="Calibri"/>
              </a:rPr>
              <a:t>HAS_OBLIGOR</a:t>
            </a:r>
          </a:p>
        </p:txBody>
      </p:sp>
      <p:sp>
        <p:nvSpPr>
          <p:cNvPr id="17" name="Oval 16"/>
          <p:cNvSpPr/>
          <p:nvPr/>
        </p:nvSpPr>
        <p:spPr>
          <a:xfrm>
            <a:off x="1028700" y="4823459"/>
            <a:ext cx="502920" cy="502920"/>
          </a:xfrm>
          <a:prstGeom prst="ellipse">
            <a:avLst/>
          </a:prstGeom>
          <a:solidFill>
            <a:srgbClr val="141B47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59" y="5367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Obligor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80644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6B7593"/>
                </a:solidFill>
                <a:latin typeface="Calibri"/>
              </a:rPr>
              <a:t>Additional relationships: LIVES_AT · HAS_PHONE · HAS_EMAIL · FAMILY_OF · WORKS_FOR · SAME_GOV_ID · HAS_PRODUCT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1828800"/>
            <a:ext cx="7863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1965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Explainable Decision Paths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331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593"/>
                </a:solidFill>
                <a:latin typeface="Calibri"/>
              </a:rPr>
              <a:t>Instead of an opaque “Match Score = 91%”, the graph shows why two identities are linked: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2788920"/>
            <a:ext cx="2423160" cy="384048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2788920"/>
            <a:ext cx="2423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C7A6E"/>
                </a:solidFill>
                <a:latin typeface="Calibri"/>
              </a:rPr>
              <a:t>Applicant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2788920"/>
            <a:ext cx="182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C7A6E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2788920"/>
            <a:ext cx="2423160" cy="384048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788920"/>
            <a:ext cx="2423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C7A6E"/>
                </a:solidFill>
                <a:latin typeface="Calibri"/>
              </a:rPr>
              <a:t>Lives At Same Address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788920"/>
            <a:ext cx="182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C7A6E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2788920"/>
            <a:ext cx="2423160" cy="384048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2788920"/>
            <a:ext cx="2423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C7A6E"/>
                </a:solidFill>
                <a:latin typeface="Calibri"/>
              </a:rPr>
              <a:t>Owns Corporate Card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31920" y="3246120"/>
            <a:ext cx="2423160" cy="384048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3246120"/>
            <a:ext cx="2423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C7A6E"/>
                </a:solidFill>
                <a:latin typeface="Calibri"/>
              </a:rPr>
              <a:t>Works For Business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3246120"/>
            <a:ext cx="182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C7A6E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3246120"/>
            <a:ext cx="2423160" cy="384048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246120"/>
            <a:ext cx="2423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C7A6E"/>
                </a:solidFill>
                <a:latin typeface="Calibri"/>
              </a:rPr>
              <a:t>Same Obligor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246120"/>
            <a:ext cx="182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C7A6E"/>
                </a:solidFill>
                <a:latin typeface="Calibr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246120"/>
            <a:ext cx="2423160" cy="384048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246120"/>
            <a:ext cx="2423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C7A6E"/>
                </a:solidFill>
                <a:latin typeface="Calibri"/>
              </a:rPr>
              <a:t>Existing Customer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0" y="3977639"/>
            <a:ext cx="78638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0" y="4114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End-to-End Resolution Flow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31920" y="4526280"/>
            <a:ext cx="1188720" cy="86868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77639" y="4526280"/>
            <a:ext cx="1097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E2761"/>
                </a:solidFill>
                <a:latin typeface="Calibri"/>
              </a:rPr>
              <a:t>New</a:t>
            </a:r>
          </a:p>
          <a:p>
            <a:pPr algn="ctr"/>
            <a:r>
              <a:rPr sz="850" b="0" i="0">
                <a:solidFill>
                  <a:srgbClr val="1E2761"/>
                </a:solidFill>
                <a:latin typeface="Calibri"/>
              </a:rPr>
              <a:t>Application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4526280"/>
            <a:ext cx="7315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B7593"/>
                </a:solidFill>
                <a:latin typeface="Calibr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93792" y="4526280"/>
            <a:ext cx="1188720" cy="86868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39512" y="4526280"/>
            <a:ext cx="1097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E2761"/>
                </a:solidFill>
                <a:latin typeface="Calibri"/>
              </a:rPr>
              <a:t>Extract Identity</a:t>
            </a:r>
          </a:p>
          <a:p>
            <a:pPr algn="ctr"/>
            <a:r>
              <a:rPr sz="850" b="0" i="0">
                <a:solidFill>
                  <a:srgbClr val="1E2761"/>
                </a:solidFill>
                <a:latin typeface="Calibri"/>
              </a:rPr>
              <a:t>Attributes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4526280"/>
            <a:ext cx="7315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B7593"/>
                </a:solidFill>
                <a:latin typeface="Calibri"/>
              </a:rPr>
              <a:t>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55664" y="4526280"/>
            <a:ext cx="1188720" cy="86868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01384" y="4526280"/>
            <a:ext cx="1097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E2761"/>
                </a:solidFill>
                <a:latin typeface="Calibri"/>
              </a:rPr>
              <a:t>Search Customer</a:t>
            </a:r>
          </a:p>
          <a:p>
            <a:pPr algn="ctr"/>
            <a:r>
              <a:rPr sz="850" b="0" i="0">
                <a:solidFill>
                  <a:srgbClr val="1E2761"/>
                </a:solidFill>
                <a:latin typeface="Calibri"/>
              </a:rPr>
              <a:t>360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44384" y="4526280"/>
            <a:ext cx="7315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B7593"/>
                </a:solidFill>
                <a:latin typeface="Calibri"/>
              </a:rPr>
              <a:t>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17536" y="4526280"/>
            <a:ext cx="1188720" cy="86868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63256" y="4526280"/>
            <a:ext cx="1097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E2761"/>
                </a:solidFill>
                <a:latin typeface="Calibri"/>
              </a:rPr>
              <a:t>Knowledge Graph</a:t>
            </a:r>
          </a:p>
          <a:p>
            <a:pPr algn="ctr"/>
            <a:r>
              <a:rPr sz="850" b="0" i="0">
                <a:solidFill>
                  <a:srgbClr val="1E2761"/>
                </a:solidFill>
                <a:latin typeface="Calibri"/>
              </a:rPr>
              <a:t>Traversal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06256" y="4526280"/>
            <a:ext cx="7315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B7593"/>
                </a:solidFill>
                <a:latin typeface="Calibri"/>
              </a:rPr>
              <a:t>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79408" y="4526280"/>
            <a:ext cx="1188720" cy="86868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25128" y="4526280"/>
            <a:ext cx="1097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E2761"/>
                </a:solidFill>
                <a:latin typeface="Calibri"/>
              </a:rPr>
              <a:t>Match</a:t>
            </a:r>
          </a:p>
          <a:p>
            <a:pPr algn="ctr"/>
            <a:r>
              <a:rPr sz="850" b="0" i="0">
                <a:solidFill>
                  <a:srgbClr val="1E2761"/>
                </a:solidFill>
                <a:latin typeface="Calibri"/>
              </a:rPr>
              <a:t>Confidence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68128" y="4526280"/>
            <a:ext cx="7315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B7593"/>
                </a:solidFill>
                <a:latin typeface="Calibri"/>
              </a:rPr>
              <a:t>›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241280" y="4526280"/>
            <a:ext cx="1188720" cy="8686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7000" y="4526280"/>
            <a:ext cx="1097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Link or Create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New Customer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31920" y="5486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593"/>
                </a:solidFill>
                <a:latin typeface="Calibri"/>
              </a:rPr>
              <a:t>Graph evidence is evaluated alongside existing rules to recommend a link or a new customer record.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APPENDIX · IDENTITY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Benefits, Evaluation Approach &amp; Key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1907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Improved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Better handling of father-son, twins, shared addresses, and multi-business relationships.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1907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Reduced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Less over-linking and under-linking; stronger fraud detection and credit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5544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71907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Explainability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210312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Every linkage is explained through graph paths instead of an opaque matching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Evaluation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11880"/>
            <a:ext cx="4800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B2333"/>
                </a:solidFill>
                <a:latin typeface="Calibri"/>
              </a:rPr>
              <a:t>Knowledge Graph runs alongside — not in place of — the existing rule engine, compared on difficult scenarios first.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297680"/>
            <a:ext cx="1019556" cy="292608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97680"/>
            <a:ext cx="101955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C7A6E"/>
                </a:solidFill>
                <a:latin typeface="Calibri"/>
              </a:rPr>
              <a:t>Precision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97963" y="4297680"/>
            <a:ext cx="786384" cy="292608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97963" y="4297680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C7A6E"/>
                </a:solidFill>
                <a:latin typeface="Calibri"/>
              </a:rPr>
              <a:t>Recall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4075" y="4297680"/>
            <a:ext cx="1252728" cy="292608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94075" y="4297680"/>
            <a:ext cx="12527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C7A6E"/>
                </a:solidFill>
                <a:latin typeface="Calibri"/>
              </a:rPr>
              <a:t>Over-Linking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6531" y="4297680"/>
            <a:ext cx="1330452" cy="292608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6531" y="4297680"/>
            <a:ext cx="13304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C7A6E"/>
                </a:solidFill>
                <a:latin typeface="Calibri"/>
              </a:rPr>
              <a:t>Under-Linking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663440"/>
            <a:ext cx="1252728" cy="292608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663440"/>
            <a:ext cx="12527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C7A6E"/>
                </a:solidFill>
                <a:latin typeface="Calibri"/>
              </a:rPr>
              <a:t>Corner Cases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31136" y="4663440"/>
            <a:ext cx="1408176" cy="292608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31136" y="4663440"/>
            <a:ext cx="140817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C7A6E"/>
                </a:solidFill>
                <a:latin typeface="Calibri"/>
              </a:rPr>
              <a:t>Explainability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10896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24612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Business 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6576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7593"/>
                </a:solidFill>
                <a:latin typeface="Calibri"/>
              </a:rPr>
              <a:t>Attribute matching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65760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B2333"/>
                </a:solidFill>
                <a:latin typeface="Calibri"/>
              </a:rPr>
              <a:t>Relationship-aware matching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04164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7593"/>
                </a:solidFill>
                <a:latin typeface="Calibri"/>
              </a:rPr>
              <a:t>High false positives/negatives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041648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B2333"/>
                </a:solidFill>
                <a:latin typeface="Calibri"/>
              </a:rPr>
              <a:t>Reduced over- and under-linking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42569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7593"/>
                </a:solidFill>
                <a:latin typeface="Calibri"/>
              </a:rPr>
              <a:t>Consumer / Commercial disconnected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425696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B2333"/>
                </a:solidFill>
                <a:latin typeface="Calibri"/>
              </a:rPr>
              <a:t>Unified Customer 360 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120640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303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A896"/>
                </a:solidFill>
                <a:latin typeface="Calibri"/>
              </a:rPr>
              <a:t>Key Takeaway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504688"/>
            <a:ext cx="10469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ADCFC"/>
                </a:solidFill>
                <a:latin typeface="Calibri"/>
              </a:rPr>
              <a:t>Customer 360 + Knowledge Graph = smarter identity resolution — traverse relationships across people, cards, accounts, businesses, and obligors, improving accuracy, reducing risk, and making every linkage decision auditable.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360 Identity Resolution with Knowledge Graph</dc:title>
  <dc:subject>PptxGenJS Presentation</dc:subject>
  <dc:creator>American Express - ECIP</dc:creator>
  <cp:lastModifiedBy>American Express - ECIP</cp:lastModifiedBy>
  <cp:revision>1</cp:revision>
  <dcterms:created xsi:type="dcterms:W3CDTF">2026-07-06T17:52:48Z</dcterms:created>
  <dcterms:modified xsi:type="dcterms:W3CDTF">2026-07-06T17:52:48Z</dcterms:modified>
</cp:coreProperties>
</file>