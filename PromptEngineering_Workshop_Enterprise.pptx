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6400800" cy="6400800"/>
          </a:xfrm>
          <a:prstGeom prst="ellipse">
            <a:avLst/>
          </a:prstGeom>
          <a:solidFill>
            <a:srgbClr val="0E4D7A">
              <a:alpha val="22000"/>
            </a:srgbClr>
          </a:solidFill>
          <a:ln w="12700">
            <a:solidFill>
              <a:srgbClr val="0E4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3657600" cy="365760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502920"/>
            <a:ext cx="64008" cy="1920240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02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0EA5E9"/>
                </a:solidFill>
              </a:rPr>
              <a:t>PROMPT ENGINEERING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877824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Workshop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From Tokens to Production · LangChain · RAG · Guardrails · Enterprise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395728"/>
            <a:ext cx="1075334" cy="201168"/>
          </a:xfrm>
          <a:prstGeom prst="roundRect">
            <a:avLst>
              <a:gd name="adj" fmla="val 22727"/>
            </a:avLst>
          </a:prstGeom>
          <a:solidFill>
            <a:srgbClr val="0C2240"/>
          </a:solidFill>
          <a:ln w="12700">
            <a:solidFill>
              <a:srgbClr val="0C2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04872"/>
            <a:ext cx="10753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⏱  90 Minutes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15414" y="2395728"/>
            <a:ext cx="1141171" cy="201168"/>
          </a:xfrm>
          <a:prstGeom prst="roundRect">
            <a:avLst>
              <a:gd name="adj" fmla="val 22727"/>
            </a:avLst>
          </a:prstGeom>
          <a:solidFill>
            <a:srgbClr val="0A2210"/>
          </a:solidFill>
          <a:ln w="12700">
            <a:solidFill>
              <a:srgbClr val="0A22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5414" y="2404872"/>
            <a:ext cx="1141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EE7B7"/>
                </a:solidFill>
              </a:rPr>
              <a:t>🧩  12 Modules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29738" y="2395728"/>
            <a:ext cx="1667866" cy="201168"/>
          </a:xfrm>
          <a:prstGeom prst="roundRect">
            <a:avLst>
              <a:gd name="adj" fmla="val 22727"/>
            </a:avLst>
          </a:prstGeom>
          <a:solidFill>
            <a:srgbClr val="2A1500"/>
          </a:solidFill>
          <a:ln w="12700">
            <a:solidFill>
              <a:srgbClr val="2A1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9738" y="2404872"/>
            <a:ext cx="16678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DE68A"/>
                </a:solidFill>
              </a:rPr>
              <a:t>🔬  Hands-On Exercises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70755" y="2395728"/>
            <a:ext cx="1536192" cy="201168"/>
          </a:xfrm>
          <a:prstGeom prst="roundRect">
            <a:avLst>
              <a:gd name="adj" fmla="val 22727"/>
            </a:avLst>
          </a:prstGeom>
          <a:solidFill>
            <a:srgbClr val="2A0020"/>
          </a:solidFill>
          <a:ln w="12700">
            <a:solidFill>
              <a:srgbClr val="2A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0755" y="240487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A5A5"/>
                </a:solidFill>
              </a:rPr>
              <a:t>🏢  Enterprise-Grade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4048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127248"/>
            <a:ext cx="676656" cy="7315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</a:rPr>
              <a:t>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84048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Why PE Matters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124712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4712" y="3127248"/>
            <a:ext cx="676656" cy="7315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02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24712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GenAI Evolution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865376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5376" y="3127248"/>
            <a:ext cx="676656" cy="7315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03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865376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LLM Internals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606040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127248"/>
            <a:ext cx="676656" cy="7315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3F5E"/>
                </a:solidFill>
              </a:rPr>
              <a:t>04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PE Fundamentals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346704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46704" y="3127248"/>
            <a:ext cx="676656" cy="7315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</a:rPr>
              <a:t>05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46704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Advanced Techniques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087368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87368" y="3127248"/>
            <a:ext cx="676656" cy="7315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87368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06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087368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RAG &amp; Context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828032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127248"/>
            <a:ext cx="676656" cy="73152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07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28032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Evaluation &amp; Guardrails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568696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68696" y="3127248"/>
            <a:ext cx="676656" cy="7315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68696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08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68696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LangChain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309360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127248"/>
            <a:ext cx="676656" cy="73152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B6D4"/>
                </a:solidFill>
              </a:rPr>
              <a:t>09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309360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Structured Output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7050024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50024" y="3127248"/>
            <a:ext cx="676656" cy="7315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3F5E"/>
                </a:solidFill>
              </a:rPr>
              <a:t>10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050024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Enterprise Cases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7790688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90688" y="3127248"/>
            <a:ext cx="676656" cy="7315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90688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</a:rPr>
              <a:t>11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790688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Live Demo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531352" y="3127248"/>
            <a:ext cx="676656" cy="713232"/>
          </a:xfrm>
          <a:prstGeom prst="rect">
            <a:avLst/>
          </a:prstGeom>
          <a:solidFill>
            <a:srgbClr val="162035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31352" y="3127248"/>
            <a:ext cx="676656" cy="7315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31352" y="3218688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12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531352" y="3419856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0EFFF"/>
                </a:solidFill>
              </a:rPr>
              <a:t>Takeaways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384048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IT Professional Workshop · Bengaluru · 2026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Introduce yourself. Ask: 'Who here has used ChatGPT/Copilot in the last week?' — sets the energy. This workshop runs 90 min with 4 exercises.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MODULE 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Why Prompt Engineering Matters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2/23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2608" y="658368"/>
            <a:ext cx="2011680" cy="1207008"/>
          </a:xfrm>
          <a:prstGeom prst="roundRect">
            <a:avLst>
              <a:gd name="adj" fmla="val 6061"/>
            </a:avLst>
          </a:prstGeom>
          <a:solidFill>
            <a:srgbClr val="0E2840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786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</a:rPr>
              <a:t>68%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2608" y="1280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of enterprises deploy LLMs in production (2025)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658368"/>
            <a:ext cx="2011680" cy="1207008"/>
          </a:xfrm>
          <a:prstGeom prst="roundRect">
            <a:avLst>
              <a:gd name="adj" fmla="val 6061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786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3×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68880" y="1280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productivity gain with well-engineered prompts vs ad-hoc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5152" y="658368"/>
            <a:ext cx="2011680" cy="1207008"/>
          </a:xfrm>
          <a:prstGeom prst="roundRect">
            <a:avLst>
              <a:gd name="adj" fmla="val 6061"/>
            </a:avLst>
          </a:prstGeom>
          <a:solidFill>
            <a:srgbClr val="2A15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786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EU AI Act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45152" y="1280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August 2026: High-risk AI obligations enforced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21424" y="658368"/>
            <a:ext cx="2011680" cy="1207008"/>
          </a:xfrm>
          <a:prstGeom prst="roundRect">
            <a:avLst>
              <a:gd name="adj" fmla="val 6061"/>
            </a:avLst>
          </a:prstGeom>
          <a:solidFill>
            <a:srgbClr val="2A0018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786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3F5E"/>
                </a:solidFill>
              </a:rPr>
              <a:t>$4.4B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21424" y="1280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estimated market for prompt engineering tools by 2030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2608" y="2029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Fundamental Shift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" y="2340864"/>
            <a:ext cx="1874520" cy="1261872"/>
          </a:xfrm>
          <a:prstGeom prst="rect">
            <a:avLst/>
          </a:prstGeom>
          <a:solidFill>
            <a:srgbClr val="1C2A42"/>
          </a:solidFill>
          <a:ln w="6350">
            <a:solidFill>
              <a:srgbClr val="25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340864"/>
            <a:ext cx="64008" cy="1261872"/>
          </a:xfrm>
          <a:prstGeom prst="rect">
            <a:avLst/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Before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2633472"/>
            <a:ext cx="1554480" cy="877824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</a:rPr>
              <a:t>Train a custom model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</a:rPr>
              <a:t>Months of ML engineering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</a:rPr>
              <a:t>$500K–$2M budget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</a:rPr>
              <a:t>Needs ML PhD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9456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</a:rPr>
              <a:t>▶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523744" y="2340864"/>
            <a:ext cx="1874520" cy="1261872"/>
          </a:xfrm>
          <a:prstGeom prst="rect">
            <a:avLst/>
          </a:prstGeom>
          <a:solidFill>
            <a:srgbClr val="1C2A42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3744" y="2340864"/>
            <a:ext cx="64008" cy="126187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0048" y="2395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Now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70048" y="2633472"/>
            <a:ext cx="1554480" cy="877824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Engineer the prompt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Hours to days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API costs only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Any developer can do it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26280" y="20299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Bad Prompts Cost You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2340864"/>
            <a:ext cx="4297680" cy="548640"/>
          </a:xfrm>
          <a:prstGeom prst="rect">
            <a:avLst/>
          </a:prstGeom>
          <a:solidFill>
            <a:srgbClr val="1C2A42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2340864"/>
            <a:ext cx="64008" cy="548640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404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Hallucinations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81728" y="2633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Confident wrong answers that bypass human review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26280" y="2962656"/>
            <a:ext cx="4297680" cy="548640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2962656"/>
            <a:ext cx="64008" cy="54864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026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Compliance Exposure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81728" y="32552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PII leakage, GDPR/HIPAA violations in prompt logs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26280" y="3584448"/>
            <a:ext cx="4297680" cy="548640"/>
          </a:xfrm>
          <a:prstGeom prst="rect">
            <a:avLst/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3584448"/>
            <a:ext cx="64008" cy="54864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648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Wasted Budget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81728" y="38770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5–10× more tokens than needed from vague prompts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26280" y="4206240"/>
            <a:ext cx="4297680" cy="548640"/>
          </a:xfrm>
          <a:prstGeom prst="rect">
            <a:avLst/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26280" y="4206240"/>
            <a:ext cx="64008" cy="548640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4270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Prompt Injection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681728" y="4498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Adversarial inputs hijack model behaviour in production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92608" y="4434840"/>
            <a:ext cx="8558784" cy="621792"/>
          </a:xfrm>
          <a:prstGeom prst="roundRect">
            <a:avLst>
              <a:gd name="adj" fmla="val 11765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🧪 WORKSHOP EXERCISE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Think of a task you do daily that involves writing or summarising. How would you phrase it as a ChatGPT prompt? Write it down — we'll refine it by end of session.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Show real example: vague prompt vs engineered prompt side-by-side. Ask audience for worst AI output they've seen.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MODULE 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Evolution of Generative AI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8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3/23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0080" y="1234440"/>
            <a:ext cx="8046720" cy="45720"/>
          </a:xfrm>
          <a:prstGeom prst="rect">
            <a:avLst/>
          </a:prstGeom>
          <a:solidFill>
            <a:srgbClr val="253550"/>
          </a:solidFill>
          <a:ln w="6350">
            <a:solidFill>
              <a:srgbClr val="25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097280"/>
            <a:ext cx="320040" cy="3200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2017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4944" y="1417320"/>
            <a:ext cx="54864" cy="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8288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C2A42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9019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Attention Is All You Need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65376" y="1097280"/>
            <a:ext cx="320040" cy="3200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5064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2018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29968" y="1417320"/>
            <a:ext cx="54864" cy="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7904" y="182880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1C2A42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19019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BERT &amp; GPT-1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109728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2020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64992" y="1828800"/>
            <a:ext cx="54864" cy="411480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2267712"/>
            <a:ext cx="1188720" cy="1389888"/>
          </a:xfrm>
          <a:prstGeom prst="roundRect">
            <a:avLst>
              <a:gd name="adj" fmla="val 6154"/>
            </a:avLst>
          </a:prstGeom>
          <a:solidFill>
            <a:srgbClr val="1C2A42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GPT-3 (175B params)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2651760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0EFFF"/>
                </a:solidFill>
              </a:rPr>
              <a:t>In-context learning emerges. Prompt engineering begins.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35424" y="10972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2022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0016" y="1828800"/>
            <a:ext cx="54864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7952" y="2267712"/>
            <a:ext cx="1188720" cy="1389888"/>
          </a:xfrm>
          <a:prstGeom prst="roundRect">
            <a:avLst>
              <a:gd name="adj" fmla="val 6154"/>
            </a:avLst>
          </a:prstGeom>
          <a:solidFill>
            <a:srgbClr val="1C2A42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61104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ChatGPT + RLHF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61104" y="2651760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0EFFF"/>
                </a:solidFill>
              </a:rPr>
              <a:t>Instruction-tuned LLMs. Mass adoption begins.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70448" y="10972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0136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2023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1828800"/>
            <a:ext cx="54864" cy="41148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22976" y="2267712"/>
            <a:ext cx="1188720" cy="1389888"/>
          </a:xfrm>
          <a:prstGeom prst="roundRect">
            <a:avLst>
              <a:gd name="adj" fmla="val 6154"/>
            </a:avLst>
          </a:prstGeom>
          <a:solidFill>
            <a:srgbClr val="1C2A42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GPT-4 · Llama 2 · Claude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96128" y="2651760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0EFFF"/>
                </a:solidFill>
              </a:rPr>
              <a:t>Multimodal · Open-source · Constitutional AI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05472" y="1097280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2024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70064" y="1828800"/>
            <a:ext cx="54864" cy="41148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2267712"/>
            <a:ext cx="1188720" cy="1389888"/>
          </a:xfrm>
          <a:prstGeom prst="roundRect">
            <a:avLst>
              <a:gd name="adj" fmla="val 6154"/>
            </a:avLst>
          </a:prstGeom>
          <a:solidFill>
            <a:srgbClr val="1C2A42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RAG · Agents · Function Calling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31152" y="2651760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0EFFF"/>
                </a:solidFill>
              </a:rPr>
              <a:t>LLMs become orchestrators, not just generators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8540496" y="1097280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0184" y="676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2025–26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705088" y="1828800"/>
            <a:ext cx="54864" cy="411480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93024" y="2267712"/>
            <a:ext cx="1188720" cy="1389888"/>
          </a:xfrm>
          <a:prstGeom prst="roundRect">
            <a:avLst>
              <a:gd name="adj" fmla="val 6154"/>
            </a:avLst>
          </a:prstGeom>
          <a:solidFill>
            <a:srgbClr val="1C2A42"/>
          </a:solidFill>
          <a:ln w="889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66176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Agentic AI · EU AI Act · o3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66176" y="2651760"/>
            <a:ext cx="1078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0EFFF"/>
                </a:solidFill>
              </a:rPr>
              <a:t>Reasoning models, compliance mandates, enterprise scale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92608" y="3840480"/>
            <a:ext cx="8558784" cy="475488"/>
          </a:xfrm>
          <a:prstGeom prst="roundRect">
            <a:avLst>
              <a:gd name="adj" fmla="val 15385"/>
            </a:avLst>
          </a:prstGeom>
          <a:solidFill>
            <a:srgbClr val="0A1E0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9136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💡  KEY INSIGHT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09651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The shift from fine-tuning to prompting lowered the barrier from PhD-level ML to any developer. We are now in the 'context engineering' era — the quality of what you put IN determines the quality of what comes OUT.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Pause at GPT-3 (2020): 'This is when prompt engineering as a discipline was born.' Ask: who remembers when ChatGPT launched? Dec 2022 — fastest product to 100M users.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3/23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MODULE 03A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How LLMs Understand Language: Tokens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1009498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10094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15 min total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4/23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40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Tokenisation: Text → Numbers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1A3D6B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Hello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ID: 15496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36192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1A3D20"/>
          </a:solidFill>
          <a:ln w="889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 world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</a:rPr>
              <a:t>ID: 1917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79776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3D2B00"/>
          </a:solidFill>
          <a:ln w="889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9776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,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79776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DE68A"/>
                </a:solidFill>
              </a:rPr>
              <a:t>ID: 11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23360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2A1040"/>
          </a:solidFill>
          <a:ln w="889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 how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B5FD"/>
                </a:solidFill>
              </a:rPr>
              <a:t>ID: 703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66944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3D0018"/>
          </a:solidFill>
          <a:ln w="889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5A5"/>
                </a:solidFill>
              </a:rPr>
              <a:t> 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66944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ID: 389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10528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003D3D"/>
          </a:solidFill>
          <a:ln w="8890">
            <a:solidFill>
              <a:srgbClr val="67E8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 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ID: 345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54112" y="960120"/>
            <a:ext cx="1152144" cy="530352"/>
          </a:xfrm>
          <a:prstGeom prst="roundRect">
            <a:avLst>
              <a:gd name="adj" fmla="val 13793"/>
            </a:avLst>
          </a:prstGeom>
          <a:solidFill>
            <a:srgbClr val="2A2A00"/>
          </a:solidFill>
          <a:ln w="8890">
            <a:solidFill>
              <a:srgbClr val="FFF1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54112" y="100584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176"/>
                </a:solidFill>
              </a:rPr>
              <a:t>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54112" y="126187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176"/>
                </a:solidFill>
              </a:rPr>
              <a:t>ID: 30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2608" y="15727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7 tokens (not 7 words — spaces are part of tokens!)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92608" y="18653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Critical Token Rules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2608" y="2157984"/>
            <a:ext cx="4206240" cy="402336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2677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2212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E68A"/>
                </a:solidFill>
              </a:rPr>
              <a:t>~4 chars = 1 token on average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23957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'engineering' = 3 tokens; 'AI' = 1 token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92608" y="2615184"/>
            <a:ext cx="4206240" cy="402336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27249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2670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E68A"/>
                </a:solidFill>
              </a:rPr>
              <a:t>You pay per token (input + output)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" y="28529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GPT-4: $10/M input, $30/M output tokens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92608" y="3072384"/>
            <a:ext cx="4206240" cy="402336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1821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31272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E68A"/>
                </a:solidFill>
              </a:rPr>
              <a:t>Context window = max tokens in+out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" y="33101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GPT-4: 128K | Claude 3.5: 200K | Gemini 1.5: 1M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92608" y="3529584"/>
            <a:ext cx="4206240" cy="402336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6393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35844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E68A"/>
                </a:solidFill>
              </a:rPr>
              <a:t>Lost-in-middle effect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" y="37673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Models under-attend to content in middle of long contexts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63440" y="18653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Token Cost Awareness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2157984"/>
            <a:ext cx="4160520" cy="1481328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2249424"/>
            <a:ext cx="39410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estimate token cost before production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tiktoken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tiktoken.encoding_for_model("gpt-4")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"Analyse this financial report: ..."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len(enc.encode(prompt))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 $0.01/1K tokens input: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= (tokens / 1000) * 0.01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print(f'Prompt: '+str(tokens)+' tokens = '+str(round(cost,4)))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Rule: Count tokens. Set max_tokens budgets.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12464"/>
            <a:ext cx="4160520" cy="512064"/>
          </a:xfrm>
          <a:prstGeom prst="rect">
            <a:avLst/>
          </a:prstGeom>
          <a:solidFill>
            <a:srgbClr val="0A2010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376732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✅  GOLDEN RULE: Write shorter prompts that get the same quality output.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Every unnecessary token is a direct cost + latency penalty.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2608" y="4434840"/>
            <a:ext cx="8558784" cy="621792"/>
          </a:xfrm>
          <a:prstGeom prst="roundRect">
            <a:avLst>
              <a:gd name="adj" fmla="val 11765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🧪 WORKSHOP EXERCISE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Go to platform.openai.com/tokenizer — paste: "Fraud detection requires robust ML models." Count tokens. Now rephrase shorter. Compare.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Live demo: open tokenizer in browser. Type your name — show how it tokenises. Ask: 'How many tokens is the word antidisestablishmentarianism?'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4/23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MODULE 03B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Embeddings &amp; Attention Mechanisms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5/23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92608" y="6400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Embeddings: Meaning as Vectors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932688"/>
            <a:ext cx="4160520" cy="1627632"/>
          </a:xfrm>
          <a:prstGeom prst="rect">
            <a:avLst/>
          </a:prstGeom>
          <a:solidFill>
            <a:srgbClr val="1C2A42"/>
          </a:solidFill>
          <a:ln w="6350">
            <a:solidFill>
              <a:srgbClr val="25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0241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A3D6B"/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024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1481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A3D20"/>
          </a:solidFill>
          <a:ln w="762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481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queen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61488" y="10241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A1000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10241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</a:rPr>
              <a:t>man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61488" y="1481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A0015"/>
          </a:solidFill>
          <a:ln w="762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1481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woman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1901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− man + woman ≈ queen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231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Words with similar meaning cluster nearby in vector space (768–4096 dimensions)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26280" y="640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Self-Attention: Why It Changed Everything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932688"/>
            <a:ext cx="4297680" cy="1627632"/>
          </a:xfrm>
          <a:prstGeom prst="rect">
            <a:avLst/>
          </a:prstGeom>
          <a:solidFill>
            <a:srgbClr val="1C2A42"/>
          </a:solidFill>
          <a:ln w="6350">
            <a:solidFill>
              <a:srgbClr val="25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"The animal didn't cross the street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because it was too tired"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45152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The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A3D2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animal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779008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didn't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45936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cross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12864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because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479792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0E3A5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it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046720" y="1554480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15544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tired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3440" y="188366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Attention links "it" → "animal" (not "street") by computing relevance scores across all tokens simultaneously. This is what RNNs couldn't do.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26280" y="2523744"/>
            <a:ext cx="4297680" cy="457200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2633472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Attention(Q,K,V) = softmax( QKᵀ / √dₖ ) · V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" y="2706624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Matters for Prompting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" y="2999232"/>
            <a:ext cx="2788920" cy="969264"/>
          </a:xfrm>
          <a:prstGeom prst="rect">
            <a:avLst/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2999232"/>
            <a:ext cx="64008" cy="9692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0540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Order matters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8912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Attention is position-aware. Put constraints and format instructions LAST — closest to generation.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18688" y="2999232"/>
            <a:ext cx="2788920" cy="969264"/>
          </a:xfrm>
          <a:prstGeom prst="rect">
            <a:avLst/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18688" y="2999232"/>
            <a:ext cx="64008" cy="9692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0540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Repetition reinforces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64992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Restating the key requirement mid-prompt and at the end increases attention weight on it.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44768" y="2999232"/>
            <a:ext cx="2788920" cy="969264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2999232"/>
            <a:ext cx="64008" cy="96926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0540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Context dilution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In long prompts, irrelevant text dilutes attention on your key instructions. Be precise.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Use the cocktail party analogy: 'Attention is like being at a party — your brain focuses on relevant voices and filters noise.' Same mechanism in transformers.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92608" y="4434840"/>
            <a:ext cx="8558784" cy="621792"/>
          </a:xfrm>
          <a:prstGeom prst="roundRect">
            <a:avLst>
              <a:gd name="adj" fmla="val 11765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🧪 WORKSHOP EXERCISE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Take your prompt from Slide 2. Identify: Where are your key instructions? Move them to the END of the prompt. Test the difference.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5/23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MODULE 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Prompt Engineering Fundamentals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15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6/23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CRSP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50976"/>
            <a:ext cx="4160520" cy="749808"/>
          </a:xfrm>
          <a:prstGeom prst="rect">
            <a:avLst/>
          </a:prstGeom>
          <a:solidFill>
            <a:srgbClr val="1C2A42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3385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" y="10332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" y="1316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Domain, background, constraints, who, what, why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773936"/>
            <a:ext cx="4160520" cy="749808"/>
          </a:xfrm>
          <a:prstGeom prst="rect">
            <a:avLst/>
          </a:prstGeom>
          <a:solidFill>
            <a:srgbClr val="1C2A42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568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1856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" y="2139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WHO the model should be — unlocks specialist behaviour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608" y="2596896"/>
            <a:ext cx="4160520" cy="749808"/>
          </a:xfrm>
          <a:prstGeom prst="rect">
            <a:avLst/>
          </a:prstGeom>
          <a:solidFill>
            <a:srgbClr val="1C2A42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7977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" y="2679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Specificity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" y="29626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Output format, length, tone, language, structure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3419856"/>
            <a:ext cx="4160520" cy="749808"/>
          </a:xfrm>
          <a:prstGeom prst="rect">
            <a:avLst/>
          </a:prstGeom>
          <a:solidFill>
            <a:srgbClr val="1C2A42"/>
          </a:solidFill>
          <a:ln w="889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02736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" y="3502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Process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" y="37856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Reasoning trigger: 'step by step', 'explain first'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658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Prompt Dissection (Fraud Detection)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26280" y="950976"/>
            <a:ext cx="4297680" cy="585216"/>
          </a:xfrm>
          <a:prstGeom prst="rect">
            <a:avLst/>
          </a:prstGeom>
          <a:solidFill>
            <a:srgbClr val="1C2A42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950976"/>
            <a:ext cx="64008" cy="585216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10058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0EA5E9"/>
                </a:solidFill>
              </a:rPr>
              <a:t>ROLE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81728" y="120700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You are a senior fraud analyst at a Tier-1 bank with 15 years experience in AML.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26280" y="1600200"/>
            <a:ext cx="4297680" cy="585216"/>
          </a:xfrm>
          <a:prstGeom prst="rect">
            <a:avLst/>
          </a:prstGeom>
          <a:solidFill>
            <a:srgbClr val="1C2A4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1600200"/>
            <a:ext cx="64008" cy="585216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6550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10B981"/>
                </a:solidFill>
              </a:rPr>
              <a:t>CONTEXT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81728" y="1856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Transaction data shows: Account X — 12 international transfers in 4 hours, each £9,800 (just below SARS threshold).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26280" y="2249424"/>
            <a:ext cx="4297680" cy="585216"/>
          </a:xfrm>
          <a:prstGeom prst="rect">
            <a:avLst/>
          </a:prstGeom>
          <a:solidFill>
            <a:srgbClr val="1C2A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0" y="2249424"/>
            <a:ext cx="64008" cy="585216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23042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59E0B"/>
                </a:solidFill>
              </a:rPr>
              <a:t>TASK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81728" y="2505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Assess the risk level of this transaction pattern and identify which AML typologies apply.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26280" y="2898648"/>
            <a:ext cx="4297680" cy="585216"/>
          </a:xfrm>
          <a:prstGeom prst="rect">
            <a:avLst/>
          </a:prstGeom>
          <a:solidFill>
            <a:srgbClr val="1C2A4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2898648"/>
            <a:ext cx="64008" cy="585216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29535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43F5E"/>
                </a:solidFill>
              </a:rPr>
              <a:t>FORMAT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81728" y="315468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Respond with: Risk Level (HIGH/MEDIUM/LOW), Typology list, Recommended action, Confidence score (0–100).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26280" y="3547872"/>
            <a:ext cx="4297680" cy="585216"/>
          </a:xfrm>
          <a:prstGeom prst="rect">
            <a:avLst/>
          </a:prstGeom>
          <a:solidFill>
            <a:srgbClr val="1C2A4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6280" y="3547872"/>
            <a:ext cx="64008" cy="585216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36027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8B5CF6"/>
                </a:solidFill>
              </a:rPr>
              <a:t>CONSTRAINT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81728" y="38039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Do not speculate. Base analysis only on provided data. Flag if additional data is needed.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2608" y="4434840"/>
            <a:ext cx="8558784" cy="621792"/>
          </a:xfrm>
          <a:prstGeom prst="roundRect">
            <a:avLst>
              <a:gd name="adj" fmla="val 11765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🧪 WORKSHOP EXERCISE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EXERCISE: Rewrite your slide-2 prompt using CRSP. Add a Role, Context, Specificity. Share with the person next to you — which CRSP element was hardest to write?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Walk through the fraud prompt LIVE. Ask audience: 'What happens if we remove the CONSTRAINT line?' — they usually find the model hallucinates risk scores.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6/23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1207008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MODULE 04 CONT.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Prompting Patterns: Zero-Shot to ReAct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7/23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658368"/>
            <a:ext cx="2029968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658368"/>
            <a:ext cx="2029968" cy="23774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6949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ZERO-SHOT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08176" y="71323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62035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722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Good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" y="969264"/>
            <a:ext cx="1847088" cy="1261872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0607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transaction risk: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 £98,500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Country: High-risk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3042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Best for: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4871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Clear, well-defined tasks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798064"/>
            <a:ext cx="1847088" cy="164592"/>
          </a:xfrm>
          <a:prstGeom prst="rect">
            <a:avLst/>
          </a:prstGeom>
          <a:solidFill>
            <a:srgbClr val="07152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25496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Accuracy boost over baseline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68880" y="658368"/>
            <a:ext cx="2029968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658368"/>
            <a:ext cx="2029968" cy="23774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6949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FEW-SHOT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84448" y="71323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620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722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+30%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0" y="969264"/>
            <a:ext cx="1847088" cy="1261872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048" y="10607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Amount:£500,UK → LOW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Amount:£9800,RU → HIGH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Amount:£250,US → LOW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Amount:£11K,CN →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0" y="23042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Best for: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24871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Custom format, style, labels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2798064"/>
            <a:ext cx="1847088" cy="164592"/>
          </a:xfrm>
          <a:prstGeom prst="rect">
            <a:avLst/>
          </a:prstGeom>
          <a:solidFill>
            <a:srgbClr val="0715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825496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Accuracy boost over baseline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645152" y="658368"/>
            <a:ext cx="2029968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658368"/>
            <a:ext cx="2029968" cy="23774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6949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CHAIN-OF-THOUGHT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71323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722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+40%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36592" y="969264"/>
            <a:ext cx="1847088" cy="1261872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0607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this pattern: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transfers × £9,800...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think step by step: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36592" y="23042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Best for: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24871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Reasoning, math, logic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6592" y="2798064"/>
            <a:ext cx="1847088" cy="164592"/>
          </a:xfrm>
          <a:prstGeom prst="rect">
            <a:avLst/>
          </a:prstGeom>
          <a:solidFill>
            <a:srgbClr val="07152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825496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Accuracy boost over baseline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821424" y="658368"/>
            <a:ext cx="2029968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1424" y="658368"/>
            <a:ext cx="2029968" cy="23774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21424" y="6949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REACT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936992" y="71323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62035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36992" y="72237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Agent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912864" y="969264"/>
            <a:ext cx="1847088" cy="1261872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1060704"/>
            <a:ext cx="1627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Check KYC DB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query_kyc(acct_X)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Observe: 3 aliases found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Escalate...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12864" y="2304288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Best for: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12864" y="248716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Tool use, search, multi-step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12864" y="2798064"/>
            <a:ext cx="1847088" cy="164592"/>
          </a:xfrm>
          <a:prstGeom prst="rect">
            <a:avLst/>
          </a:prstGeom>
          <a:solidFill>
            <a:srgbClr val="071520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2864" y="2825496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</a:rPr>
              <a:t>Accuracy boost over baseline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92608" y="3054096"/>
            <a:ext cx="8558784" cy="731520"/>
          </a:xfrm>
          <a:prstGeom prst="roundRect">
            <a:avLst>
              <a:gd name="adj" fmla="val 10000"/>
            </a:avLst>
          </a:prstGeom>
          <a:solidFill>
            <a:srgbClr val="0A1A30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1272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SELF-CONSISTENCY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33284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Sample the same prompt N times at temperature &gt; 0 → majority vote on answers. +17% on GSM8K math, +23% accuracy on large models. Use for high-stakes decisions where one answer isn't enough.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For ReAct, show the Thought→Action→Observation loop on the board. This is the foundation of every AI agent. Copilot, AutoGPT, Claude Code — all ReAct at heart.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7/23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MODULE 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Context Engineering &amp; RAG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12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8/23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Architecture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69264"/>
            <a:ext cx="1298448" cy="841248"/>
          </a:xfrm>
          <a:prstGeom prst="rect">
            <a:avLst/>
          </a:prstGeom>
          <a:solidFill>
            <a:srgbClr val="0E2840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04241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Documents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(PDFs, DBs, APIs)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9344" y="1261872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55648" y="969264"/>
            <a:ext cx="1298448" cy="841248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12848" y="10424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5564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Chunking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200–800 tokens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72384" y="1261872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18688" y="969264"/>
            <a:ext cx="1298448" cy="841248"/>
          </a:xfrm>
          <a:prstGeom prst="rect">
            <a:avLst/>
          </a:prstGeom>
          <a:solidFill>
            <a:srgbClr val="2A15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75888" y="104241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1868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Embedding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Vector DB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35424" y="1261872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1728" y="969264"/>
            <a:ext cx="1298448" cy="841248"/>
          </a:xfrm>
          <a:prstGeom prst="rect">
            <a:avLst/>
          </a:prstGeom>
          <a:solidFill>
            <a:srgbClr val="1A0A3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0424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8172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Query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Retrieval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98464" y="1261872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4768" y="969264"/>
            <a:ext cx="1298448" cy="841248"/>
          </a:xfrm>
          <a:prstGeom prst="rect">
            <a:avLst/>
          </a:prstGeom>
          <a:solidFill>
            <a:srgbClr val="001A2A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01968" y="10424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4476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Injection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61504" y="1261872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07808" y="969264"/>
            <a:ext cx="1298448" cy="841248"/>
          </a:xfrm>
          <a:prstGeom prst="rect">
            <a:avLst/>
          </a:prstGeom>
          <a:solidFill>
            <a:srgbClr val="2A001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65008" y="1042416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500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07808" y="14630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Grounded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FFF"/>
                </a:solidFill>
              </a:rPr>
              <a:t>Generation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" y="1993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Chunking Strategies Matter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2608" y="2286000"/>
            <a:ext cx="4160520" cy="475488"/>
          </a:xfrm>
          <a:prstGeom prst="rect">
            <a:avLst/>
          </a:prstGeom>
          <a:solidFill>
            <a:srgbClr val="1C2A42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2286000"/>
            <a:ext cx="64008" cy="475488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2350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Fixed-size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8912" y="2560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Simple, fast. Splits mid-sentence. Start here.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21024" y="240487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21024" y="24231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Baseline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2608" y="2834640"/>
            <a:ext cx="4160520" cy="475488"/>
          </a:xfrm>
          <a:prstGeom prst="rect">
            <a:avLst/>
          </a:prstGeom>
          <a:solidFill>
            <a:srgbClr val="1C2A4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" y="2834640"/>
            <a:ext cx="64008" cy="47548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28986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Semantic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8912" y="31089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Split on meaning boundaries. +40% retrieval accuracy.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21024" y="295351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21024" y="297180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+40%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2608" y="3383280"/>
            <a:ext cx="4160520" cy="475488"/>
          </a:xfrm>
          <a:prstGeom prst="rect">
            <a:avLst/>
          </a:prstGeom>
          <a:solidFill>
            <a:srgbClr val="1C2A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" y="3383280"/>
            <a:ext cx="64008" cy="47548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3447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Recursive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38912" y="3657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Try paragraph→sentence→word. Best for mixed docs.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21024" y="350215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1024" y="352044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+25%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2608" y="3931920"/>
            <a:ext cx="4160520" cy="475488"/>
          </a:xfrm>
          <a:prstGeom prst="rect">
            <a:avLst/>
          </a:prstGeom>
          <a:solidFill>
            <a:srgbClr val="1C2A4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2608" y="3931920"/>
            <a:ext cx="64008" cy="475488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39959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Contextual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8912" y="42062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Add surrounding context to each chunk. Preserves coherence.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21024" y="4050792"/>
            <a:ext cx="749808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21024" y="406908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+35%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26280" y="19933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Prompt Pattern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26280" y="2286000"/>
            <a:ext cx="4297680" cy="1956816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36008" y="2377440"/>
            <a:ext cx="40782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compliance analyst.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provided context.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answer not in context, say "Insufficient data."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CONTEXT: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{chunk_1}: GDPR Art.17 — Right to erasure...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{chunk_2}: Internal policy PE-204...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{user_query}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in &lt;100 words. Cite the source chunk.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Key insight: RAG = open-book exam. The model's training is closed-book memory; RAG gives it a reference book at exam time. This is why RAG reduces hallucination 60%+.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8/23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MODULE 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Prompt Evaluation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9/23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to Evaluate Prompts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50976"/>
            <a:ext cx="4160520" cy="566928"/>
          </a:xfrm>
          <a:prstGeom prst="rect">
            <a:avLst/>
          </a:prstGeom>
          <a:solidFill>
            <a:srgbClr val="1C2A42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950976"/>
            <a:ext cx="64008" cy="566928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014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Faithfulness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Does output contradict the provided context?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10642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2471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RAGAS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" y="1591056"/>
            <a:ext cx="4160520" cy="566928"/>
          </a:xfrm>
          <a:prstGeom prst="rect">
            <a:avLst/>
          </a:prstGeom>
          <a:solidFill>
            <a:srgbClr val="1C2A4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1591056"/>
            <a:ext cx="64008" cy="56692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655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Relevance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18836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Is the answer actually addressing the question?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74650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647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LangSmith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2608" y="2231136"/>
            <a:ext cx="4160520" cy="566928"/>
          </a:xfrm>
          <a:prstGeom prst="rect">
            <a:avLst/>
          </a:prstGeom>
          <a:solidFill>
            <a:srgbClr val="1C2A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2231136"/>
            <a:ext cx="64008" cy="56692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2951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Correctness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25237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Is the factual content accurate?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38658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4048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PromptFoo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2608" y="2871216"/>
            <a:ext cx="4160520" cy="566928"/>
          </a:xfrm>
          <a:prstGeom prst="rect">
            <a:avLst/>
          </a:prstGeom>
          <a:solidFill>
            <a:srgbClr val="1C2A4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2871216"/>
            <a:ext cx="64008" cy="566928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9352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Toxicity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31638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Does output contain harmful, biased, or unsafe content?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302666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0449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</a:rPr>
              <a:t>Guardrails 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2608" y="3511296"/>
            <a:ext cx="4160520" cy="566928"/>
          </a:xfrm>
          <a:prstGeom prst="rect">
            <a:avLst/>
          </a:prstGeom>
          <a:solidFill>
            <a:srgbClr val="1C2A4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2608" y="3511296"/>
            <a:ext cx="64008" cy="566928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5753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Latency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" y="38039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Time to first token + total response time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3666744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0" y="368503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LangSmith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26280" y="658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Guardrails Architecture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26280" y="950976"/>
            <a:ext cx="4297680" cy="512064"/>
          </a:xfrm>
          <a:prstGeom prst="rect">
            <a:avLst/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6280" y="950976"/>
            <a:ext cx="64008" cy="5120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10149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Input Guardrails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81728" y="122529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Detect PII, inject attempts, jailbreaks BEFORE calling LLM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74920" y="14264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26280" y="1609344"/>
            <a:ext cx="4297680" cy="512064"/>
          </a:xfrm>
          <a:prstGeom prst="rect">
            <a:avLst/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1609344"/>
            <a:ext cx="64008" cy="5120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16733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System Prompt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81728" y="188366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Hard constraints on model behaviour and scope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74920" y="20848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26280" y="2267712"/>
            <a:ext cx="4297680" cy="512064"/>
          </a:xfrm>
          <a:prstGeom prst="rect">
            <a:avLst/>
          </a:prstGeom>
          <a:solidFill>
            <a:srgbClr val="162035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26280" y="2267712"/>
            <a:ext cx="64008" cy="512064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2331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LLM Processing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81728" y="25420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Model inference with temperature 0 for determinism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074920" y="27432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26280" y="2926080"/>
            <a:ext cx="4297680" cy="512064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26280" y="2926080"/>
            <a:ext cx="64008" cy="51206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29900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Output Validators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681728" y="320040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Schema check (Pydantic), toxicity filter, hallucination detect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074920" y="34015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▼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26280" y="3584448"/>
            <a:ext cx="4297680" cy="512064"/>
          </a:xfrm>
          <a:prstGeom prst="rect">
            <a:avLst/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26280" y="3584448"/>
            <a:ext cx="64008" cy="512064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81728" y="36484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Audit Log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681728" y="385876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Every prompt + response logged for compliance review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92608" y="4187952"/>
            <a:ext cx="8558784" cy="512064"/>
          </a:xfrm>
          <a:prstGeom prst="roundRect">
            <a:avLst>
              <a:gd name="adj" fmla="val 14286"/>
            </a:avLst>
          </a:prstGeom>
          <a:solidFill>
            <a:srgbClr val="1A0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DE68A"/>
                </a:solidFill>
              </a:rPr>
              <a:t>⚠️  Production Reality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57200" y="44622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JSON Mode (LLM): 5–10% failure rate  |  Structured Outputs (schema-enforced): &lt;0.1%  |  Prompt Injection attacks: #1 AI exploit of 2025 per OWASP LLM Top 10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Show OWASP LLM Top 10 on screen. Ask: 'Has anyone seen a jailbreak attempt in production?' Discuss prompt injection vs SQL injection analogy.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9/23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MODULE 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LangChain Prompt Templates &amp; LCEL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12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10/23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LCEL: The Pipe Operator Pattern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50976"/>
            <a:ext cx="2011680" cy="640080"/>
          </a:xfrm>
          <a:prstGeom prst="rect">
            <a:avLst/>
          </a:prstGeom>
          <a:solidFill>
            <a:srgbClr val="1C2A42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950976"/>
            <a:ext cx="2011680" cy="7315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ChatPromptTemplate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{variables}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22576" y="11155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|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05456" y="950976"/>
            <a:ext cx="2011680" cy="640080"/>
          </a:xfrm>
          <a:prstGeom prst="rect">
            <a:avLst/>
          </a:prstGeom>
          <a:solidFill>
            <a:srgbClr val="1C2A4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950976"/>
            <a:ext cx="2011680" cy="7315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ChatModel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05456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gpt-4 / claude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35424" y="11155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|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18304" y="950976"/>
            <a:ext cx="2011680" cy="640080"/>
          </a:xfrm>
          <a:prstGeom prst="rect">
            <a:avLst/>
          </a:prstGeom>
          <a:solidFill>
            <a:srgbClr val="1C2A4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950976"/>
            <a:ext cx="2011680" cy="7315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OutputParser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18304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str / JSON / Pydantic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48272" y="1115568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|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950976"/>
            <a:ext cx="2011680" cy="640080"/>
          </a:xfrm>
          <a:prstGeom prst="rect">
            <a:avLst/>
          </a:prstGeom>
          <a:solidFill>
            <a:srgbClr val="1C2A42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950976"/>
            <a:ext cx="2011680" cy="7315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051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Structured Result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Typed &amp; validated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" y="17556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Working Example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" y="2048256"/>
            <a:ext cx="4160520" cy="2816352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2139696"/>
            <a:ext cx="394106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langchain_core.output_parsers import StrOutputParser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Reusable template with typed placeholders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("system","You are a {role} at a {company_type}."),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("human","Analyse: {transaction_data}\nOutput: {output_format}")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chain: prompt → model → parser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ChatOpenAI(model="gpt-4") | StrOutputParser()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Invoke — swap vars without changing logic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chain.invoke({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"fraud analyst",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"company_type": "Tier-1 bank",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"transaction_data": "12 transfers £9800...",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"output_format": "JSON with risk_level, typology"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26280" y="17556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LangChain Concepts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26280" y="2048256"/>
            <a:ext cx="4297680" cy="493776"/>
          </a:xfrm>
          <a:prstGeom prst="rect">
            <a:avLst/>
          </a:prstGeom>
          <a:solidFill>
            <a:srgbClr val="1C2A42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2048256"/>
            <a:ext cx="64008" cy="493776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ChatPromptTemplate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232257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Separates prompt logic from string concatenation. Versioned, testable, reusable across models.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26280" y="2615184"/>
            <a:ext cx="4297680" cy="493776"/>
          </a:xfrm>
          <a:prstGeom prst="rect">
            <a:avLst/>
          </a:prstGeom>
          <a:solidFill>
            <a:srgbClr val="1C2A4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2615184"/>
            <a:ext cx="64008" cy="493776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LCEL Pipe ( | 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81728" y="288950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Composes runnables. Auto-handles streaming, async, batch. The ONLY supported pattern (legacy LLMChain deprecated).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26280" y="3182112"/>
            <a:ext cx="4297680" cy="493776"/>
          </a:xfrm>
          <a:prstGeom prst="rect">
            <a:avLst/>
          </a:prstGeom>
          <a:solidFill>
            <a:srgbClr val="1C2A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6280" y="3182112"/>
            <a:ext cx="64008" cy="493776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32369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Partial Templates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81728" y="34564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Pre-fill some variables: prompt.partial(role='analyst'). Great for environment-specific configs.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26280" y="3749040"/>
            <a:ext cx="4297680" cy="493776"/>
          </a:xfrm>
          <a:prstGeom prst="rect">
            <a:avLst/>
          </a:prstGeom>
          <a:solidFill>
            <a:srgbClr val="1C2A4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26280" y="3749040"/>
            <a:ext cx="64008" cy="493776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803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MessagesPlaceholder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81728" y="402336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Inject conversation history into multi-turn chains. Enables memory in stateful agents.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26280" y="4315968"/>
            <a:ext cx="4297680" cy="493776"/>
          </a:xfrm>
          <a:prstGeom prst="rect">
            <a:avLst/>
          </a:prstGeom>
          <a:solidFill>
            <a:srgbClr val="1C2A42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26280" y="4315968"/>
            <a:ext cx="64008" cy="493776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43708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LangSmith Integration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81728" y="459028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Trace every prompt + response. A/B test prompts. Essential for production debugging.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92608" y="4434840"/>
            <a:ext cx="8558784" cy="621792"/>
          </a:xfrm>
          <a:prstGeom prst="roundRect">
            <a:avLst>
              <a:gd name="adj" fmla="val 11765"/>
            </a:avLst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🧪 WORKSHOP EXERCISE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LIVE CODE: Open Jupyter/Colab. Copy this template. Replace variables with YOUR domain (risk, compliance, dev). Run it. Modify the output_format variable.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Demo live in browser/Colab. Emphasise: the pipe operator IS the chain. No boilerplate. Ask: 'What would your team use as {role} and {transaction_data}?'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10/23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</a:rPr>
              <a:t>MODULE 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Structured Output: Reliable JSON from LLMs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11/23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 with Unstructured Outputs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50976"/>
            <a:ext cx="4114800" cy="969264"/>
          </a:xfrm>
          <a:prstGeom prst="rect">
            <a:avLst/>
          </a:prstGeom>
          <a:solidFill>
            <a:srgbClr val="1C2A42"/>
          </a:solidFill>
          <a:ln w="8890">
            <a:solidFill>
              <a:srgbClr val="7F1D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950976"/>
            <a:ext cx="64008" cy="96926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❌  Unreliable (JSON Mode only)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24358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Model returns: ```json\n{"risk": "HIGH"}\n```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Parser fails — backticks! Or renames "status" to "current_state". Failure rate: 5–10%.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43984" y="12984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0016" y="950976"/>
            <a:ext cx="4114800" cy="969264"/>
          </a:xfrm>
          <a:prstGeom prst="rect">
            <a:avLst/>
          </a:prstGeom>
          <a:solidFill>
            <a:srgbClr val="1C2A42"/>
          </a:solidFill>
          <a:ln w="8890">
            <a:solidFill>
              <a:srgbClr val="064E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950976"/>
            <a:ext cx="64008" cy="9692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✅  Reliable (Structured Outputs)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243584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Schema-enforced via Pydantic model. Model MUST produce valid, typed output. Failure rate: &lt;0.1%. Production-ready.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2084832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Three Approaches (by reliability)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" y="2377440"/>
            <a:ext cx="2761488" cy="2505456"/>
          </a:xfrm>
          <a:prstGeom prst="rect">
            <a:avLst/>
          </a:prstGeom>
          <a:solidFill>
            <a:srgbClr val="1C2A42"/>
          </a:solidFill>
          <a:ln w="762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450592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4597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01 Prompt Engineering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706624"/>
            <a:ext cx="2578608" cy="1243584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798064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ONLY valid JSON: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"risk_level":"HIGH",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"confidence":0.92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backticks. No explanation.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0050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</a:rPr>
              <a:t>Fragile. Model forgets. Use only for prototypes.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18688" y="2377440"/>
            <a:ext cx="2761488" cy="2505456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2450592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4597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02 Function Calling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10128" y="2706624"/>
            <a:ext cx="2578608" cy="1243584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2798064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"name":"flag_transaction",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"parameters":{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"risk_level":{"enum":["HIGH","MED","LOW"]},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"confidence":{"type":"number"}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0128" y="40050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F59E0B"/>
                </a:solidFill>
              </a:rPr>
              <a:t>Reliable for tool-call patterns. Not always available.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44768" y="2377440"/>
            <a:ext cx="2761488" cy="2505456"/>
          </a:xfrm>
          <a:prstGeom prst="rect">
            <a:avLst/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6208" y="2450592"/>
            <a:ext cx="246888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45973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03 Pydantic + Instructor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36208" y="2706624"/>
            <a:ext cx="2578608" cy="1243584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5936" y="2798064"/>
            <a:ext cx="23591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RiskResult(BaseModel):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risk_level: RiskEnum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float = Field(ge=0, le=1)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typologies: list[str]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action: str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instructor.patch(OpenAI())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36208" y="40050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10B981"/>
                </a:solidFill>
              </a:rPr>
              <a:t>Best for production. Auto-retry on parse failure. &lt;0.1% error rate.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Show live: run without structured output, get backtick-wrapped JSON, crash parser. Then switch to Instructor — clean, typed object. This is the 'before and after' moment.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11/23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MODULE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Enterprise Use Cases: Fraud · Risk · Compliance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12/23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92608" y="658368"/>
            <a:ext cx="2743200" cy="4279392"/>
          </a:xfrm>
          <a:prstGeom prst="rect">
            <a:avLst/>
          </a:prstGeom>
          <a:solidFill>
            <a:srgbClr val="2A001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658368"/>
            <a:ext cx="2743200" cy="25603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694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FRAUD DETECTION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969264"/>
            <a:ext cx="2487168" cy="1426464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Transaction anomaly narration — explain ML model decisions in plain English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Synthetic identity detection — cross-reference LLM reasoning with graph features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SAR (Suspicious Activity Report) auto-drafting with audit trail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Real-time payment fraud triage — structured JSON risk scoring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468880"/>
            <a:ext cx="2560320" cy="1481328"/>
          </a:xfrm>
          <a:prstGeom prst="rect">
            <a:avLst/>
          </a:prstGeom>
          <a:solidFill>
            <a:srgbClr val="050D18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SAMPLE PROMPT PATTERN: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2724912"/>
            <a:ext cx="23957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You are an AML expert.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{transaction_data}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Generate a SAR draft.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JSON with fields: summary, typology, risk_score, evidence[]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658368"/>
            <a:ext cx="2743200" cy="4279392"/>
          </a:xfrm>
          <a:prstGeom prst="rect">
            <a:avLst/>
          </a:prstGeom>
          <a:solidFill>
            <a:srgbClr val="2A14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658368"/>
            <a:ext cx="2743200" cy="25603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694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 MANAGEMENT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28416" y="969264"/>
            <a:ext cx="2487168" cy="1426464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Credit memo generation from structured financial data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Counterparty risk assessment from earnings calls + news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Stress test scenario narration for regulatory submissions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Model risk documentation auto-generation (SR 11-7 aligned)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2468880"/>
            <a:ext cx="2560320" cy="1481328"/>
          </a:xfrm>
          <a:prstGeom prst="rect">
            <a:avLst/>
          </a:prstGeom>
          <a:solidFill>
            <a:srgbClr val="050D18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SAMPLE PROMPT PATTERN: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01568" y="2724912"/>
            <a:ext cx="23957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Risk analyst.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{counterparty_data}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Constraint: Only use provided data.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Credit risk memo in MRC format.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JSON {rating, justification, flags[]}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44768" y="658368"/>
            <a:ext cx="2743200" cy="4279392"/>
          </a:xfrm>
          <a:prstGeom prst="rect">
            <a:avLst/>
          </a:prstGeom>
          <a:solidFill>
            <a:srgbClr val="1A0A2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658368"/>
            <a:ext cx="2743200" cy="256032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694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COMPLIANCE &amp; LEGAL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54496" y="969264"/>
            <a:ext cx="2487168" cy="1426464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Policy Q&amp;A over internal documents via RAG (GDPR, HIPAA, EU AI Act)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Contract clause analysis and red-flag detection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Regulatory change impact assessment (DORA, Basel IV, MiFID III)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Audit response drafting with source citation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36208" y="2468880"/>
            <a:ext cx="2560320" cy="1481328"/>
          </a:xfrm>
          <a:prstGeom prst="rect">
            <a:avLst/>
          </a:prstGeom>
          <a:solidFill>
            <a:srgbClr val="050D18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SAMPLE PROMPT PATTERN: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27648" y="2724912"/>
            <a:ext cx="23957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Compliance counsel.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{retrieved_policy_chunks}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Answer: {user_question}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Constraint: Cite source. If not in context: say "Insufficient data."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Ask audience which domain they work in. Run the relevant sample prompt LIVE on ChatGPT with dummy data. Let them see the output quality difference with vs without structure.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12/23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MODULE 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Advanced Prompting: ToT · Self-Consistency · Meta-Prompts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13/23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92608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Tree of Thoughts (ToT)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097280"/>
            <a:ext cx="-1371600" cy="658368"/>
          </a:xfrm>
          <a:prstGeom prst="line">
            <a:avLst/>
          </a:prstGeom>
          <a:noFill/>
          <a:ln w="10160">
            <a:solidFill>
              <a:srgbClr val="25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097280"/>
            <a:ext cx="0" cy="658368"/>
          </a:xfrm>
          <a:prstGeom prst="line">
            <a:avLst/>
          </a:prstGeom>
          <a:noFill/>
          <a:ln w="10160">
            <a:solidFill>
              <a:srgbClr val="25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097280"/>
            <a:ext cx="1371600" cy="658368"/>
          </a:xfrm>
          <a:prstGeom prst="line">
            <a:avLst/>
          </a:prstGeom>
          <a:noFill/>
          <a:ln w="10160">
            <a:solidFill>
              <a:srgbClr val="25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901952"/>
            <a:ext cx="-45720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1901952"/>
            <a:ext cx="45720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901952"/>
            <a:ext cx="-36576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901952"/>
            <a:ext cx="36576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58768" y="1901952"/>
            <a:ext cx="-45720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8768" y="1901952"/>
            <a:ext cx="457200" cy="585216"/>
          </a:xfrm>
          <a:prstGeom prst="line">
            <a:avLst/>
          </a:prstGeom>
          <a:noFill/>
          <a:ln w="6350">
            <a:solidFill>
              <a:srgbClr val="1A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969264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96926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Problem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" y="173736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17373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Path 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84832" y="173736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17373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Path 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56432" y="173736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17373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Path 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A1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7043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A2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1907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1907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5059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B2✓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9923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23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C1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13632" y="2468880"/>
            <a:ext cx="493776" cy="274320"/>
          </a:xfrm>
          <a:prstGeom prst="roundRect">
            <a:avLst>
              <a:gd name="adj" fmla="val 13333"/>
            </a:avLst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2468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C2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92608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BFS/DFS explores multiple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reasoning paths. Best path wins.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+40% vs CoT on complex tasks.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26280" y="658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Self-Consistency Voting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26280" y="950976"/>
            <a:ext cx="4297680" cy="438912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100584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FFF"/>
                </a:solidFill>
              </a:rPr>
              <a:t>Sample 1 → Answer: HIGH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26280" y="1463040"/>
            <a:ext cx="4297680" cy="438912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15179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FFF"/>
                </a:solidFill>
              </a:rPr>
              <a:t>Sample 2 → Answer: HIGH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26280" y="1975104"/>
            <a:ext cx="4297680" cy="438912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202996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FFF"/>
                </a:solidFill>
              </a:rPr>
              <a:t>Sample 3 → Answer: MEDIUM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2487168"/>
            <a:ext cx="4297680" cy="438912"/>
          </a:xfrm>
          <a:prstGeom prst="rect">
            <a:avLst/>
          </a:prstGeom>
          <a:solidFill>
            <a:srgbClr val="1C2A42"/>
          </a:solidFill>
          <a:ln w="5080">
            <a:solidFill>
              <a:srgbClr val="2535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254203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FFF"/>
                </a:solidFill>
              </a:rPr>
              <a:t>Sample 4 → Answer: HIGH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26280" y="2999232"/>
            <a:ext cx="4297680" cy="438912"/>
          </a:xfrm>
          <a:prstGeom prst="rect">
            <a:avLst/>
          </a:prstGeom>
          <a:solidFill>
            <a:srgbClr val="0A2010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305409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E7B7"/>
                </a:solidFill>
              </a:rPr>
              <a:t>Majority Vote → ✅ HIGH (3/4)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2628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Use for: high-stakes decisions, regulatory outputs, any answer you'd stake a reputation 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" y="3474720"/>
            <a:ext cx="8558784" cy="841248"/>
          </a:xfrm>
          <a:prstGeom prst="roundRect">
            <a:avLst>
              <a:gd name="adj" fmla="val 8696"/>
            </a:avLst>
          </a:prstGeom>
          <a:solidFill>
            <a:srgbClr val="0A1A30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547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META-PROMPTING: The prompt that writes prompts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7856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0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"You are a prompt engineer. Given a task description, write an optimised CRSP-structured prompt that includes: role, context, constraints, output format, and a CoT trigger. Return ONLY the prompt, no commentary."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E0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"Task: Detect money laundering patterns in transaction sequences"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Pause on meta-prompting. Ask: 'Who has used ChatGPT to improve their ChatGPT prompt?' This is enterprise gold — your prompt library becomes self-improving.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13/23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MODULE 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Live Demo: Commercial Insight Analyzer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10 min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14/23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92608" y="658368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987552"/>
            <a:ext cx="1645920" cy="548640"/>
          </a:xfrm>
          <a:prstGeom prst="rect">
            <a:avLst/>
          </a:prstGeom>
          <a:solidFill>
            <a:srgbClr val="1C2A42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987552"/>
            <a:ext cx="1645920" cy="7315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Input Layer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1298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FFF"/>
                </a:solidFill>
              </a:rPr>
              <a:t>Financial reports, news, transcripts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56816" y="1188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21408" y="987552"/>
            <a:ext cx="1645920" cy="548640"/>
          </a:xfrm>
          <a:prstGeom prst="rect">
            <a:avLst/>
          </a:prstGeom>
          <a:solidFill>
            <a:srgbClr val="1C2A42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21408" y="987552"/>
            <a:ext cx="1645920" cy="7315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RAG Retrieval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21408" y="1298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FFF"/>
                </a:solidFill>
              </a:rPr>
              <a:t>Vector DB: FAISS/Chroma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785616" y="1188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50208" y="987552"/>
            <a:ext cx="1645920" cy="548640"/>
          </a:xfrm>
          <a:prstGeom prst="rect">
            <a:avLst/>
          </a:prstGeom>
          <a:solidFill>
            <a:srgbClr val="1C2A4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0208" y="987552"/>
            <a:ext cx="1645920" cy="7315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Prompt Engine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50208" y="1298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FFF"/>
                </a:solidFill>
              </a:rPr>
              <a:t>CRSP + CoT templates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14416" y="1188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79008" y="987552"/>
            <a:ext cx="1645920" cy="548640"/>
          </a:xfrm>
          <a:prstGeom prst="rect">
            <a:avLst/>
          </a:prstGeom>
          <a:solidFill>
            <a:srgbClr val="1C2A42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79008" y="987552"/>
            <a:ext cx="1645920" cy="73152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79008" y="1078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LLM + Guardrails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79008" y="1298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FFF"/>
                </a:solidFill>
              </a:rPr>
              <a:t>GPT-4 + Pydantic output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443216" y="1188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07808" y="987552"/>
            <a:ext cx="1207008" cy="548640"/>
          </a:xfrm>
          <a:prstGeom prst="rect">
            <a:avLst/>
          </a:prstGeom>
          <a:solidFill>
            <a:srgbClr val="1C2A42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07808" y="987552"/>
            <a:ext cx="1207008" cy="7315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07808" y="107899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Structured JSON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607808" y="129844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FFF"/>
                </a:solidFill>
              </a:rPr>
              <a:t>Risk · Insight · Action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92608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1975104"/>
            <a:ext cx="4160520" cy="2194560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066544"/>
            <a:ext cx="39410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Earnings call transcript chunk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transcript_chunk = """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revenue down 12% YoY. CFO noted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'unprecedented client attrition in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 segment' and delayed 3 major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contracts to Q4.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analyser.run(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text=transcript_chunk,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analysis_type="commercial_risk"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26280" y="17190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(Pydantic validated)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26280" y="1975104"/>
            <a:ext cx="4297680" cy="2194560"/>
          </a:xfrm>
          <a:prstGeom prst="rect">
            <a:avLst/>
          </a:prstGeom>
          <a:solidFill>
            <a:srgbClr val="050D18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2066544"/>
            <a:ext cx="4078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"HIGH",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0.91,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"key_signals": [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"Revenue decline 12% YoY",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"Client attrition: APAC",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"3 contract deferrals"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"commercial_implication": "Pipeline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 materialising. Q4 recovery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 on 3 deferred contracts.",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"recommended_actions": [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"Escalate to commercial risk team",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"Request APAC client retention data"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"data_source": "earnings_q3_2025.pdf",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"generated_at": "2026-01-15T09:32:01"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Run the LIVE demo here. Use a real (anonymised) earnings excerpt or 10-K filing excerpt. Show the structured JSON output. Ask: 'How long would this analysis take manually?'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14/23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1207008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MODULE 07 CONT.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Prompt Security: Injection &amp; Enterprise Risks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15/23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92608" y="658368"/>
            <a:ext cx="8558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OWASP LLM Top 10 — What Matters in Enterprise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950976"/>
            <a:ext cx="4251960" cy="566928"/>
          </a:xfrm>
          <a:prstGeom prst="rect">
            <a:avLst/>
          </a:prstGeom>
          <a:solidFill>
            <a:srgbClr val="1C2A42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950976"/>
            <a:ext cx="64008" cy="566928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2412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0332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LLM01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5568" y="1014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Prompt Injection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24358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Malicious input overrides system instructions. Like SQL injection but semantic.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84448" y="1097280"/>
            <a:ext cx="8778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11155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3F5E"/>
                </a:solidFill>
              </a:rPr>
              <a:t>CRITICAL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2608" y="1591056"/>
            <a:ext cx="4251960" cy="566928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1591056"/>
            <a:ext cx="64008" cy="56692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166420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6733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LLM02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5568" y="1655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Insecure Output Handling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15568" y="188366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Raw LLM output passed to downstream systems without validation.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84448" y="1737360"/>
            <a:ext cx="8778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175564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HIGH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2608" y="2231136"/>
            <a:ext cx="4251960" cy="566928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231136"/>
            <a:ext cx="64008" cy="56692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230428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23134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LLM06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5568" y="22951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Sensitive Info Disclosure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15568" y="252374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PII, credentials, or confidential data leaks via prompt or output.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84448" y="2377440"/>
            <a:ext cx="8778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239572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HIGH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92608" y="2871216"/>
            <a:ext cx="4251960" cy="566928"/>
          </a:xfrm>
          <a:prstGeom prst="rect">
            <a:avLst/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2871216"/>
            <a:ext cx="64008" cy="566928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" y="294436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162035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953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LLM07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15568" y="2935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System Prompt Leakage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" y="31638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Attacker extracts confidential system prompt via clever user prompts.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584448" y="3017520"/>
            <a:ext cx="877824" cy="219456"/>
          </a:xfrm>
          <a:prstGeom prst="roundRect">
            <a:avLst>
              <a:gd name="adj" fmla="val 16667"/>
            </a:avLst>
          </a:prstGeom>
          <a:solidFill>
            <a:srgbClr val="162035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4448" y="303580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MEDIUM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0016" y="658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Defence in Depth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0016" y="950976"/>
            <a:ext cx="4114800" cy="548640"/>
          </a:xfrm>
          <a:prstGeom prst="rect">
            <a:avLst/>
          </a:prstGeom>
          <a:solidFill>
            <a:srgbClr val="1C2A42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950976"/>
            <a:ext cx="64008" cy="548640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0149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</a:rPr>
              <a:t>Input Sanitisation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124358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Strip known injection patterns before prompt construction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0016" y="1572768"/>
            <a:ext cx="4114800" cy="548640"/>
          </a:xfrm>
          <a:prstGeom prst="rect">
            <a:avLst/>
          </a:prstGeom>
          <a:solidFill>
            <a:srgbClr val="1C2A42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0016" y="1572768"/>
            <a:ext cx="64008" cy="54864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16367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Privilege Minimisation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46320" y="186537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LLM agents get minimum permissions needed — no full DB access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0016" y="2194560"/>
            <a:ext cx="4114800" cy="548640"/>
          </a:xfrm>
          <a:prstGeom prst="rect">
            <a:avLst/>
          </a:prstGeom>
          <a:solidFill>
            <a:srgbClr val="1C2A42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2194560"/>
            <a:ext cx="64008" cy="548640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258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Output Validation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46320" y="2487168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Pydantic schema + toxicity filters on every LLM response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0016" y="2816352"/>
            <a:ext cx="4114800" cy="548640"/>
          </a:xfrm>
          <a:prstGeom prst="rect">
            <a:avLst/>
          </a:prstGeom>
          <a:solidFill>
            <a:srgbClr val="1C2A42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2816352"/>
            <a:ext cx="64008" cy="548640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Audit Logging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46320" y="3108960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Every prompt+response timestamped and signed. EU AI Act requires this.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00016" y="3438144"/>
            <a:ext cx="4114800" cy="548640"/>
          </a:xfrm>
          <a:prstGeom prst="rect">
            <a:avLst/>
          </a:prstGeom>
          <a:solidFill>
            <a:srgbClr val="1C2A42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0016" y="3438144"/>
            <a:ext cx="64008" cy="548640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502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Human-in-the-Loop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46320" y="373075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FFF"/>
                </a:solidFill>
              </a:rPr>
              <a:t>High-risk decisions (credit, fraud flags) require human sign-off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2608" y="3566160"/>
            <a:ext cx="8558784" cy="731520"/>
          </a:xfrm>
          <a:prstGeom prst="roundRect">
            <a:avLst>
              <a:gd name="adj" fmla="val 10000"/>
            </a:avLst>
          </a:prstGeom>
          <a:solidFill>
            <a:srgbClr val="1A001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639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</a:rPr>
              <a:t>⚠️  2026 Regulatory Reality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38587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0EFFF"/>
                </a:solidFill>
              </a:rPr>
              <a:t>EU AI Act August 2026: High-risk AI (credit scoring, fraud detection) must have documented prompt governance, audit logs, and human oversight. Non-compliance: fines up to 3% global revenue. NIST AI RMF and ISO 42001 provide the governance backbone — build your prompt library against these standards NOW.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This is the 'serious' slide. Ask the audience: 'Does your company have a prompt governance policy?' The answer is usually no. That's the gap this session helps fill.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15/23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"/>
            <a:ext cx="1338682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18872"/>
            <a:ext cx="13386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WORKSHOP EXERCISE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Build a Production-Grade Prompt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A3B8"/>
                </a:solidFill>
              </a:rPr>
              <a:t>15 min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16/23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2608" y="658368"/>
            <a:ext cx="8558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CHALLENGE: Complete Prompt Engineering Sprint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1024128"/>
            <a:ext cx="8558784" cy="640080"/>
          </a:xfrm>
          <a:prstGeom prst="rect">
            <a:avLst/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152144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10972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Choose YOUR domain use case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1353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Pick one: Fraud SAR drafting | Credit risk memo | GDPR policy Q&amp;A | Contract red-flag detection | Other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1737360"/>
            <a:ext cx="8558784" cy="640080"/>
          </a:xfrm>
          <a:prstGeom prst="rect">
            <a:avLst/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86537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" y="18105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Apply CRSP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2066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Write: Role (who is the model?) + Context (what data?) + Specificity (output format) + Process (CoT trigger)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2450592"/>
            <a:ext cx="8558784" cy="640080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" y="2523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Add Guardrails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27797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Add: 'Base analysis ONLY on provided data' + output schema (JSON fields + types) + confidence score request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3163824"/>
            <a:ext cx="8558784" cy="640080"/>
          </a:xfrm>
          <a:prstGeom prst="rect">
            <a:avLst/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29184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" y="3236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Test &amp; Iterate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" y="34930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Run it. Remove the Role line — what breaks? Remove CoT — what changes? Add a constraint. Note the delta.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" y="3877056"/>
            <a:ext cx="8558784" cy="640080"/>
          </a:xfrm>
          <a:prstGeom prst="rect">
            <a:avLst/>
          </a:prstGeom>
          <a:solidFill>
            <a:srgbClr val="1C2A42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4005072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" y="3950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Share One Insight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FFF"/>
                </a:solidFill>
              </a:rPr>
              <a:t>What surprised you? What worked best? What would you change for production?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Give teams 10 min to build their prompt. Then 5 min: 2–3 volunteers share theirs live. Run it in ChatGPT/Claude. The group critiques: which CRSP element is missing?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16/23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0E4D7A">
              <a:alpha val="20000"/>
            </a:srgbClr>
          </a:solidFill>
          <a:ln w="12700">
            <a:solidFill>
              <a:srgbClr val="0E4D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502920"/>
            <a:ext cx="64008" cy="1737360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8778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Take Away &amp; What to Do Monday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09728"/>
            <a:ext cx="811987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18872"/>
            <a:ext cx="811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MODULE 12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17/23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" y="950976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950976"/>
            <a:ext cx="64008" cy="1078992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115568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1042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Prompting is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" y="13350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Treat prompts like code: version them, test them, review them. A bad prompt in production is a production bug.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27448" y="950976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950976"/>
            <a:ext cx="64008" cy="1078992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55464" y="111556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94376" y="1042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CRSP is your scaffold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94376" y="13350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Context + Role + Specificity + Process. Apply it to every LLM call in your team. It takes 5 min and saves hours.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2103120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103120"/>
            <a:ext cx="64008" cy="1078992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22677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" y="21945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Structure over free text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" y="2487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Use Pydantic + Instructor for every production output. 5–10% failure rate → &lt;0.1%. Non-negotiable in enterprise.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27448" y="2103120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27448" y="2103120"/>
            <a:ext cx="64008" cy="1078992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55464" y="226771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94376" y="21945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RAG is table stakes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94376" y="248716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If your LLM doesn't know your company's policies and data, it will hallucinate them. RAG is the fix. Start now.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" y="3255264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" y="3255264"/>
            <a:ext cx="64008" cy="1078992"/>
          </a:xfrm>
          <a:prstGeom prst="rect">
            <a:avLst/>
          </a:prstGeom>
          <a:solidFill>
            <a:srgbClr val="F43F5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624" y="3419856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9536" y="3346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</a:rPr>
              <a:t>Governance is not optional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9536" y="36393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EU AI Act Aug 2026. Audit logs. Human oversight for high-risk decisions. Build the governance layer now.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27448" y="3255264"/>
            <a:ext cx="4160520" cy="1078992"/>
          </a:xfrm>
          <a:prstGeom prst="rect">
            <a:avLst/>
          </a:prstGeom>
          <a:solidFill>
            <a:srgbClr val="1C2A42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3255264"/>
            <a:ext cx="64008" cy="1078992"/>
          </a:xfrm>
          <a:prstGeom prst="rect">
            <a:avLst/>
          </a:prstGeom>
          <a:solidFill>
            <a:srgbClr val="06B6D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55464" y="3419856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5464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94376" y="3346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Iterate with data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94376" y="36393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0EFFF"/>
                </a:solidFill>
              </a:rPr>
              <a:t>Use LangSmith or PromptFoo. A/B test prompts. Measure accuracy, latency, cost. Intuition + data beats intuition alone.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Ask the room: 'Which one of these will you implement THIS WEEK?' Get 3 hands up for each. That's your action commitment close.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17/23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0172A"/>
          </a:solidFill>
          <a:ln w="6350">
            <a:solidFill>
              <a:srgbClr val="10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2064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9728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NEXT STEPS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4440" y="822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Your 30-Day Prompt Engineering Roadmap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18/23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92608" y="658368"/>
            <a:ext cx="2011680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658368"/>
            <a:ext cx="2011680" cy="292608"/>
          </a:xfrm>
          <a:prstGeom prst="rect">
            <a:avLst/>
          </a:prstGeom>
          <a:solidFill>
            <a:srgbClr val="0EA5E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6949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Foundations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1353312"/>
            <a:ext cx="1810512" cy="3291840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Apply CRSP to 3 real work tasks daily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Use tiktoken to audit your current prompts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Read: Wei et al. 2022 (CoT paper) — 20 min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658368"/>
            <a:ext cx="2011680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658368"/>
            <a:ext cx="2011680" cy="29260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6949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8608" y="1353312"/>
            <a:ext cx="1810512" cy="3291840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Install Instructor + Pydantic: pip install instructor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Wrap your top 2 LLM calls in typed schemas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A/B test: same task, prompt with/without CoT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658368"/>
            <a:ext cx="2011680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658368"/>
            <a:ext cx="2011680" cy="29260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6949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5152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RAG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353312"/>
            <a:ext cx="1810512" cy="3291840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Build a minimal RAG: LangChain + FAISS + your docs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Test chunking strategies: fixed vs semantic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Connect LangSmith for tracing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21424" y="658368"/>
            <a:ext cx="2011680" cy="4169664"/>
          </a:xfrm>
          <a:prstGeom prst="rect">
            <a:avLst/>
          </a:prstGeom>
          <a:solidFill>
            <a:srgbClr val="1C2A42"/>
          </a:solidFill>
          <a:ln w="889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1424" y="658368"/>
            <a:ext cx="2011680" cy="292608"/>
          </a:xfrm>
          <a:prstGeom prst="rect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6949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21424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1353312"/>
            <a:ext cx="1810512" cy="3291840"/>
          </a:xfrm>
          <a:prstGeom prst="rect">
            <a:avLst/>
          </a:prstGeom>
          <a:noFill/>
          <a:ln/>
        </p:spPr>
        <p:txBody>
          <a:bodyPr wrap="square" lIns="12700" tIns="5080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Add input/output guardrails to one live system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Document prompt governance policy (1 page)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50" dirty="0">
                <a:solidFill>
                  <a:srgbClr val="E0EFFF"/>
                </a:solidFill>
              </a:rPr>
              <a:t>Share learnings in team retro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2608" y="4645152"/>
            <a:ext cx="8558784" cy="0"/>
          </a:xfrm>
          <a:prstGeom prst="rect">
            <a:avLst/>
          </a:prstGeom>
          <a:solidFill>
            <a:srgbClr val="253550"/>
          </a:solidFill>
          <a:ln w="6350">
            <a:solidFill>
              <a:srgbClr val="253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73659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📚 Resources: promptingguide.ai  ·  learnprompting.org  ·  python.langchain.com  ·  OWASP LLM Top 10  ·  EU AI Act (eur-lex.europa.eu)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62035"/>
          </a:solidFill>
          <a:ln w="3810">
            <a:solidFill>
              <a:srgbClr val="1A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80974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📝 PRESENTER NOTE: Hand out or display this roadmap. Ask: 'Raise your hand if you'll commit to Week 1 tasks.' Follow up in 1 week via email/Slack. Accountability = completion.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59536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80"/>
                </a:solidFill>
              </a:rPr>
              <a:t>18/23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2026-06-03T18:32:16Z</dcterms:created>
  <dcterms:modified xsi:type="dcterms:W3CDTF">2026-06-03T18:32:16Z</dcterms:modified>
</cp:coreProperties>
</file>