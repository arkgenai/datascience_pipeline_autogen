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4C81">
              <a:alpha val="80000"/>
            </a:srgbClr>
          </a:solidFill>
          <a:ln w="12700">
            <a:solidFill>
              <a:srgbClr val="0F4C8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005840" y="13716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9040" y="777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360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749040" y="1572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Transformation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749040" y="20482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749040" y="2743200"/>
            <a:ext cx="5029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0" y="29077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Platform Evolution  ·  Foundation → Enterprise Intelligence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49040" y="3401568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1E2E40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49040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49040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Accuracy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02352" y="3401568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1E2E40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02352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02352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55664" y="3401568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1E2E40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55664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55664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Effort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808976" y="3401568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1E2E40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808976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25%↑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08976" y="3785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370832"/>
            <a:ext cx="9144000" cy="768096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0" y="46451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 ·  C360 PLATFORM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0D1F33"/>
          </a:solidFill>
          <a:ln w="12700">
            <a:solidFill>
              <a:srgbClr val="1A33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548640" cy="1115568"/>
          </a:xfrm>
          <a:prstGeom prst="roundRect">
            <a:avLst>
              <a:gd name="adj" fmla="val 16667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164592" cy="111556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517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22529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Assessment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current state, foundational strengths &amp; identified gaps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0016" y="1097280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0D1F33"/>
          </a:solidFill>
          <a:ln w="12700">
            <a:solidFill>
              <a:srgbClr val="1A33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1097280"/>
            <a:ext cx="548640" cy="1115568"/>
          </a:xfrm>
          <a:prstGeom prst="roundRect">
            <a:avLst>
              <a:gd name="adj" fmla="val 16667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4" y="1097280"/>
            <a:ext cx="164592" cy="1115568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517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58384" y="122529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Framework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58384" y="1554480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recommended strategic priorities for 24-month transformation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359152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0D1F33"/>
          </a:solidFill>
          <a:ln w="12700">
            <a:solidFill>
              <a:srgbClr val="1A33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359152"/>
            <a:ext cx="548640" cy="1115568"/>
          </a:xfrm>
          <a:prstGeom prst="roundRect">
            <a:avLst>
              <a:gd name="adj" fmla="val 16667"/>
            </a:avLst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359152"/>
            <a:ext cx="164592" cy="1115568"/>
          </a:xfrm>
          <a:prstGeom prst="rect">
            <a:avLst/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48716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81635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component map — identity, profiles, events, AI &amp; decisioning layers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0016" y="2359152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0D1F33"/>
          </a:solidFill>
          <a:ln w="12700">
            <a:solidFill>
              <a:srgbClr val="1A33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2359152"/>
            <a:ext cx="548640" cy="1115568"/>
          </a:xfrm>
          <a:prstGeom prst="roundRect">
            <a:avLst>
              <a:gd name="adj" fmla="val 16667"/>
            </a:avLst>
          </a:prstGeom>
          <a:solidFill>
            <a:srgbClr val="0B5E3E"/>
          </a:solidFill>
          <a:ln w="12700">
            <a:solidFill>
              <a:srgbClr val="0B5E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4064" y="2359152"/>
            <a:ext cx="164592" cy="1115568"/>
          </a:xfrm>
          <a:prstGeom prst="rect">
            <a:avLst/>
          </a:prstGeom>
          <a:solidFill>
            <a:srgbClr val="0B5E3E"/>
          </a:solidFill>
          <a:ln w="12700">
            <a:solidFill>
              <a:srgbClr val="0B5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58384" y="248716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Initiatives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58384" y="281635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deliverables: Identity, CDP, Governance, AI Servicing, Events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362102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0D1F33"/>
          </a:solidFill>
          <a:ln w="12700">
            <a:solidFill>
              <a:srgbClr val="1A33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621024"/>
            <a:ext cx="548640" cy="1115568"/>
          </a:xfrm>
          <a:prstGeom prst="roundRect">
            <a:avLst>
              <a:gd name="adj" fmla="val 16667"/>
            </a:avLst>
          </a:prstGeom>
          <a:solidFill>
            <a:srgbClr val="3E5F8A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621024"/>
            <a:ext cx="164592" cy="1115568"/>
          </a:xfrm>
          <a:prstGeom prst="rect">
            <a:avLst/>
          </a:prstGeom>
          <a:solidFill>
            <a:srgbClr val="3E5F8A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374904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 Vision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intelligence capability endpoints and enterprise adoption targets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0016" y="362102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0D1F33"/>
          </a:solidFill>
          <a:ln w="12700">
            <a:solidFill>
              <a:srgbClr val="1A33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3621024"/>
            <a:ext cx="548640" cy="1115568"/>
          </a:xfrm>
          <a:prstGeom prst="roundRect">
            <a:avLst>
              <a:gd name="adj" fmla="val 16667"/>
            </a:avLst>
          </a:prstGeom>
          <a:solidFill>
            <a:srgbClr val="0A4266"/>
          </a:solidFill>
          <a:ln w="12700">
            <a:solidFill>
              <a:srgbClr val="0A42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84064" y="3621024"/>
            <a:ext cx="164592" cy="1115568"/>
          </a:xfrm>
          <a:prstGeom prst="rect">
            <a:avLst/>
          </a:prstGeom>
          <a:solidFill>
            <a:srgbClr val="0A4266"/>
          </a:solidFill>
          <a:ln w="12700">
            <a:solidFill>
              <a:srgbClr val="0A42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58384" y="374904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58384" y="407822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KPI scorecard — Quality, Efficiency, Growth &amp; Strategic reach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C360 Current State &amp; Transformation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24128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4206240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Strengths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57276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identities across Cards, Banking, Loans,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Merchants, Travel &amp; B2B Payments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04825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probabilistic matching at enterprise scale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52374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" y="25054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publishing &amp; enterprise-wide integrations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99923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" y="29809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users · 200+ analytical consumers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47472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6656" y="3456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System of Record for customer data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4700016" y="1024128"/>
            <a:ext cx="4187952" cy="1298448"/>
          </a:xfrm>
          <a:prstGeom prst="roundRect">
            <a:avLst>
              <a:gd name="adj" fmla="val 7042"/>
            </a:avLst>
          </a:prstGeom>
          <a:solidFill>
            <a:srgbClr val="FFF8E8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4828032" y="1115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Identified Gap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828032" y="142646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Profile capability is currently upcoming — corporate hierarchy and beneficial ownership coverage are incomplete across all regions.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700016" y="2450592"/>
            <a:ext cx="41879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4828032" y="2523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Scale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828032" y="277977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8,000+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828032" y="299923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5852160" y="277977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852160" y="299923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6876288" y="277977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876288" y="299923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7900416" y="277977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900416" y="299923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4700016" y="338328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24-Month Target Outcomes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700016" y="3749040"/>
            <a:ext cx="932688" cy="1261872"/>
          </a:xfrm>
          <a:prstGeom prst="roundRect">
            <a:avLst>
              <a:gd name="adj" fmla="val 7843"/>
            </a:avLst>
          </a:prstGeom>
          <a:solidFill>
            <a:srgbClr val="0A1628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4700016" y="3822192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700016" y="4242816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733288" y="3749040"/>
            <a:ext cx="932688" cy="1261872"/>
          </a:xfrm>
          <a:prstGeom prst="roundRect">
            <a:avLst>
              <a:gd name="adj" fmla="val 7843"/>
            </a:avLst>
          </a:prstGeom>
          <a:solidFill>
            <a:srgbClr val="0A1628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5733288" y="3822192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95%↑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5733288" y="4242816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766560" y="3749040"/>
            <a:ext cx="932688" cy="1261872"/>
          </a:xfrm>
          <a:prstGeom prst="roundRect">
            <a:avLst>
              <a:gd name="adj" fmla="val 7843"/>
            </a:avLst>
          </a:prstGeom>
          <a:solidFill>
            <a:srgbClr val="0A1628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6766560" y="3822192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30%↓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6766560" y="4242816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7799832" y="3749040"/>
            <a:ext cx="932688" cy="1261872"/>
          </a:xfrm>
          <a:prstGeom prst="roundRect">
            <a:avLst>
              <a:gd name="adj" fmla="val 7843"/>
            </a:avLst>
          </a:prstGeom>
          <a:solidFill>
            <a:srgbClr val="0A1628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7799832" y="3822192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25%↑</a:t>
            </a:r>
            <a:endParaRPr lang="en-US" sz="1600" dirty="0"/>
          </a:p>
        </p:txBody>
      </p:sp>
      <p:sp>
        <p:nvSpPr>
          <p:cNvPr id="44" name="Text 37"/>
          <p:cNvSpPr/>
          <p:nvPr/>
        </p:nvSpPr>
        <p:spPr>
          <a:xfrm>
            <a:off x="7799832" y="4242816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Recommended Strategic Priorities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19456" y="1078992"/>
            <a:ext cx="2029968" cy="3840480"/>
          </a:xfrm>
          <a:prstGeom prst="roundRect">
            <a:avLst>
              <a:gd name="adj" fmla="val 5405"/>
            </a:avLst>
          </a:prstGeom>
          <a:solidFill>
            <a:srgbClr val="0B6E6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" y="19019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0896" y="214884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Identity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Legal Entity Graph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" y="2834640"/>
            <a:ext cx="1481328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" y="2926080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Globalize deterministic &amp; probabilistic matching (APAC, LATAM, EMEA). Build UBO hierarchy, corporate ownership graph, and Merchant-to-Corporate linkage. Foundational for all downstream use cases.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32304" y="1078992"/>
            <a:ext cx="2029968" cy="3840480"/>
          </a:xfrm>
          <a:prstGeom prst="roundRect">
            <a:avLst>
              <a:gd name="adj" fmla="val 5405"/>
            </a:avLst>
          </a:prstGeom>
          <a:solidFill>
            <a:srgbClr val="0F4C8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234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32304" y="19019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23744" y="214884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Event-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Driven C360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06624" y="2834640"/>
            <a:ext cx="1481328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23744" y="2926080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from profile repository to event-driven platform. Streaming APIs, event mesh architecture, and published RTF events for customer updates, relationship changes, and product acquisition.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45152" y="1078992"/>
            <a:ext cx="2029968" cy="3840480"/>
          </a:xfrm>
          <a:prstGeom prst="roundRect">
            <a:avLst>
              <a:gd name="adj" fmla="val 5405"/>
            </a:avLst>
          </a:prstGeom>
          <a:solidFill>
            <a:srgbClr val="1B5E8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23444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45152" y="19019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36592" y="214884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AI Layer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919472" y="2834640"/>
            <a:ext cx="1481328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36592" y="2926080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customer summaries, agent copilots, and intelligent search. Automated KYC enrichment and identity verification. Delivers measurable business value across servicing, marketing, and risk.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0" y="1078992"/>
            <a:ext cx="2029968" cy="3840480"/>
          </a:xfrm>
          <a:prstGeom prst="roundRect">
            <a:avLst>
              <a:gd name="adj" fmla="val 5405"/>
            </a:avLst>
          </a:prstGeom>
          <a:solidFill>
            <a:srgbClr val="0A426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123444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19019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49440" y="214884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Hub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132320" y="2834640"/>
            <a:ext cx="1481328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949440" y="2926080"/>
            <a:ext cx="184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C360 as the central customer intelligence engine — a connected decisioning layer serving Servicing, Marketing, Sales, Collections, Risk, and Compliance from a single enterprise graph.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266"/>
          </a:solidFill>
          <a:ln w="12700">
            <a:solidFill>
              <a:srgbClr val="0A42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C360 Component Map — Five Integrated Layers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52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017520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673856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73856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330192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30192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86528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6528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42864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42864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99200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9200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Payments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55536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55536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D&amp;B Hierarchy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11872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11872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Registry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268208" y="1115568"/>
            <a:ext cx="564896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68208" y="1115568"/>
            <a:ext cx="564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434840" y="1554480"/>
            <a:ext cx="27432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" y="1609344"/>
            <a:ext cx="8631936" cy="640080"/>
          </a:xfrm>
          <a:prstGeom prst="roundRect">
            <a:avLst>
              <a:gd name="adj" fmla="val 11429"/>
            </a:avLst>
          </a:prstGeom>
          <a:solidFill>
            <a:srgbClr val="0F4C8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73736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94944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RESOLUTION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017520" y="1700784"/>
            <a:ext cx="893064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017520" y="1700784"/>
            <a:ext cx="893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002024" y="1700784"/>
            <a:ext cx="893064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002024" y="1700784"/>
            <a:ext cx="893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ML Matching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986528" y="1700784"/>
            <a:ext cx="893064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86528" y="1700784"/>
            <a:ext cx="893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Golden Customer ID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971032" y="1700784"/>
            <a:ext cx="893064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971032" y="1700784"/>
            <a:ext cx="893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Hierarchy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955536" y="1700784"/>
            <a:ext cx="893064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955536" y="1700784"/>
            <a:ext cx="893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Profile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7940040" y="1700784"/>
            <a:ext cx="893064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940040" y="1700784"/>
            <a:ext cx="893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Ownership Graph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434840" y="2249424"/>
            <a:ext cx="27432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56032" y="2304288"/>
            <a:ext cx="8631936" cy="640080"/>
          </a:xfrm>
          <a:prstGeom prst="roundRect">
            <a:avLst>
              <a:gd name="adj" fmla="val 11429"/>
            </a:avLst>
          </a:prstGeom>
          <a:solidFill>
            <a:srgbClr val="0B6E6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432304"/>
            <a:ext cx="274320" cy="2743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94944" y="2450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PLATFORM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3017520" y="2395728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017520" y="2395728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Profile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3861381" y="2395728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861381" y="2395728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Profile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4705241" y="2395728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705241" y="2395728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Profile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5549102" y="2395728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549102" y="2395728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Profile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6392962" y="2395728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392962" y="2395728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Engagement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7236823" y="2395728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7236823" y="2395728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Affinity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8080683" y="2395728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080683" y="2395728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Graph</a:t>
            </a:r>
            <a:endParaRPr lang="en-US" sz="850" dirty="0"/>
          </a:p>
        </p:txBody>
      </p:sp>
      <p:sp>
        <p:nvSpPr>
          <p:cNvPr id="60" name="Shape 55"/>
          <p:cNvSpPr/>
          <p:nvPr/>
        </p:nvSpPr>
        <p:spPr>
          <a:xfrm>
            <a:off x="4434840" y="2944368"/>
            <a:ext cx="27432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256032" y="2999232"/>
            <a:ext cx="8631936" cy="640080"/>
          </a:xfrm>
          <a:prstGeom prst="roundRect">
            <a:avLst>
              <a:gd name="adj" fmla="val 11429"/>
            </a:avLst>
          </a:prstGeom>
          <a:solidFill>
            <a:srgbClr val="1B5E8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127248"/>
            <a:ext cx="274320" cy="274320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694944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AI</a:t>
            </a:r>
            <a:endParaRPr lang="en-US" sz="950" dirty="0"/>
          </a:p>
        </p:txBody>
      </p:sp>
      <p:sp>
        <p:nvSpPr>
          <p:cNvPr id="64" name="Shape 58"/>
          <p:cNvSpPr/>
          <p:nvPr/>
        </p:nvSpPr>
        <p:spPr>
          <a:xfrm>
            <a:off x="3017520" y="3090672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3017520" y="3090672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Customer Summaries</a:t>
            </a:r>
            <a:endParaRPr lang="en-US" sz="850" dirty="0"/>
          </a:p>
        </p:txBody>
      </p:sp>
      <p:sp>
        <p:nvSpPr>
          <p:cNvPr id="66" name="Shape 60"/>
          <p:cNvSpPr/>
          <p:nvPr/>
        </p:nvSpPr>
        <p:spPr>
          <a:xfrm>
            <a:off x="3861381" y="3090672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3861381" y="3090672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Copilots</a:t>
            </a:r>
            <a:endParaRPr lang="en-US" sz="850" dirty="0"/>
          </a:p>
        </p:txBody>
      </p:sp>
      <p:sp>
        <p:nvSpPr>
          <p:cNvPr id="68" name="Shape 62"/>
          <p:cNvSpPr/>
          <p:nvPr/>
        </p:nvSpPr>
        <p:spPr>
          <a:xfrm>
            <a:off x="4705241" y="3090672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4705241" y="3090672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</a:t>
            </a:r>
            <a:endParaRPr lang="en-US" sz="850" dirty="0"/>
          </a:p>
        </p:txBody>
      </p:sp>
      <p:sp>
        <p:nvSpPr>
          <p:cNvPr id="70" name="Shape 64"/>
          <p:cNvSpPr/>
          <p:nvPr/>
        </p:nvSpPr>
        <p:spPr>
          <a:xfrm>
            <a:off x="5549102" y="3090672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5549102" y="3090672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850" dirty="0"/>
          </a:p>
        </p:txBody>
      </p:sp>
      <p:sp>
        <p:nvSpPr>
          <p:cNvPr id="72" name="Shape 66"/>
          <p:cNvSpPr/>
          <p:nvPr/>
        </p:nvSpPr>
        <p:spPr>
          <a:xfrm>
            <a:off x="6392962" y="3090672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6392962" y="3090672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Automation</a:t>
            </a:r>
            <a:endParaRPr lang="en-US" sz="850" dirty="0"/>
          </a:p>
        </p:txBody>
      </p:sp>
      <p:sp>
        <p:nvSpPr>
          <p:cNvPr id="74" name="Shape 68"/>
          <p:cNvSpPr/>
          <p:nvPr/>
        </p:nvSpPr>
        <p:spPr>
          <a:xfrm>
            <a:off x="7236823" y="3090672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7236823" y="3090672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Layer</a:t>
            </a:r>
            <a:endParaRPr lang="en-US" sz="850" dirty="0"/>
          </a:p>
        </p:txBody>
      </p:sp>
      <p:sp>
        <p:nvSpPr>
          <p:cNvPr id="76" name="Shape 70"/>
          <p:cNvSpPr/>
          <p:nvPr/>
        </p:nvSpPr>
        <p:spPr>
          <a:xfrm>
            <a:off x="8080683" y="3090672"/>
            <a:ext cx="752421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8080683" y="3090672"/>
            <a:ext cx="752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Engine</a:t>
            </a:r>
            <a:endParaRPr lang="en-US" sz="850" dirty="0"/>
          </a:p>
        </p:txBody>
      </p:sp>
      <p:sp>
        <p:nvSpPr>
          <p:cNvPr id="78" name="Shape 72"/>
          <p:cNvSpPr/>
          <p:nvPr/>
        </p:nvSpPr>
        <p:spPr>
          <a:xfrm>
            <a:off x="4434840" y="3639312"/>
            <a:ext cx="27432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256032" y="3694176"/>
            <a:ext cx="8631936" cy="530352"/>
          </a:xfrm>
          <a:prstGeom prst="roundRect">
            <a:avLst>
              <a:gd name="adj" fmla="val 13793"/>
            </a:avLst>
          </a:prstGeom>
          <a:solidFill>
            <a:srgbClr val="0B5E3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8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822192"/>
            <a:ext cx="274320" cy="274320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694944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&amp; DECISIONING</a:t>
            </a:r>
            <a:endParaRPr lang="en-US" sz="950" dirty="0"/>
          </a:p>
        </p:txBody>
      </p:sp>
      <p:sp>
        <p:nvSpPr>
          <p:cNvPr id="82" name="Shape 75"/>
          <p:cNvSpPr/>
          <p:nvPr/>
        </p:nvSpPr>
        <p:spPr>
          <a:xfrm>
            <a:off x="3017520" y="3785616"/>
            <a:ext cx="752421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3" name="Text 76"/>
          <p:cNvSpPr/>
          <p:nvPr/>
        </p:nvSpPr>
        <p:spPr>
          <a:xfrm>
            <a:off x="3017520" y="3785616"/>
            <a:ext cx="752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850" dirty="0"/>
          </a:p>
        </p:txBody>
      </p:sp>
      <p:sp>
        <p:nvSpPr>
          <p:cNvPr id="84" name="Shape 77"/>
          <p:cNvSpPr/>
          <p:nvPr/>
        </p:nvSpPr>
        <p:spPr>
          <a:xfrm>
            <a:off x="3861381" y="3785616"/>
            <a:ext cx="752421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5" name="Text 78"/>
          <p:cNvSpPr/>
          <p:nvPr/>
        </p:nvSpPr>
        <p:spPr>
          <a:xfrm>
            <a:off x="3861381" y="3785616"/>
            <a:ext cx="752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86" name="Shape 79"/>
          <p:cNvSpPr/>
          <p:nvPr/>
        </p:nvSpPr>
        <p:spPr>
          <a:xfrm>
            <a:off x="4705241" y="3785616"/>
            <a:ext cx="752421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4705241" y="3785616"/>
            <a:ext cx="752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50" dirty="0"/>
          </a:p>
        </p:txBody>
      </p:sp>
      <p:sp>
        <p:nvSpPr>
          <p:cNvPr id="88" name="Shape 81"/>
          <p:cNvSpPr/>
          <p:nvPr/>
        </p:nvSpPr>
        <p:spPr>
          <a:xfrm>
            <a:off x="5549102" y="3785616"/>
            <a:ext cx="752421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9" name="Text 82"/>
          <p:cNvSpPr/>
          <p:nvPr/>
        </p:nvSpPr>
        <p:spPr>
          <a:xfrm>
            <a:off x="5549102" y="3785616"/>
            <a:ext cx="752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50" dirty="0"/>
          </a:p>
        </p:txBody>
      </p:sp>
      <p:sp>
        <p:nvSpPr>
          <p:cNvPr id="90" name="Shape 83"/>
          <p:cNvSpPr/>
          <p:nvPr/>
        </p:nvSpPr>
        <p:spPr>
          <a:xfrm>
            <a:off x="6392962" y="3785616"/>
            <a:ext cx="752421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6392962" y="3785616"/>
            <a:ext cx="752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850" dirty="0"/>
          </a:p>
        </p:txBody>
      </p:sp>
      <p:sp>
        <p:nvSpPr>
          <p:cNvPr id="92" name="Shape 85"/>
          <p:cNvSpPr/>
          <p:nvPr/>
        </p:nvSpPr>
        <p:spPr>
          <a:xfrm>
            <a:off x="7236823" y="3785616"/>
            <a:ext cx="752421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3" name="Text 86"/>
          <p:cNvSpPr/>
          <p:nvPr/>
        </p:nvSpPr>
        <p:spPr>
          <a:xfrm>
            <a:off x="7236823" y="3785616"/>
            <a:ext cx="752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Mesh</a:t>
            </a:r>
            <a:endParaRPr lang="en-US" sz="850" dirty="0"/>
          </a:p>
        </p:txBody>
      </p:sp>
      <p:sp>
        <p:nvSpPr>
          <p:cNvPr id="94" name="Shape 87"/>
          <p:cNvSpPr/>
          <p:nvPr/>
        </p:nvSpPr>
        <p:spPr>
          <a:xfrm>
            <a:off x="8080683" y="3785616"/>
            <a:ext cx="752421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5" name="Text 88"/>
          <p:cNvSpPr/>
          <p:nvPr/>
        </p:nvSpPr>
        <p:spPr>
          <a:xfrm>
            <a:off x="8080683" y="3785616"/>
            <a:ext cx="752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APIs</a:t>
            </a:r>
            <a:endParaRPr lang="en-US" sz="850" dirty="0"/>
          </a:p>
        </p:txBody>
      </p:sp>
      <p:sp>
        <p:nvSpPr>
          <p:cNvPr id="96" name="Text 89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Data flows upward through layers · Events stream bidirectionally via Real-Time Event Mesh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Q1–Q2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Excellence  &amp;  Legal Entity / Business Graph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61872"/>
            <a:ext cx="4206240" cy="14630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0881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" y="110642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Excellence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6616" y="1517904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deterministic matching to APAC, LATAM &amp; remaining EMEA markets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6616" y="1920240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ML-assisted entity resolution &amp; relationship confidence scoring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6616" y="232257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Global Golden Customer ID across all business lines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3464" y="4306824"/>
            <a:ext cx="4096512" cy="36576"/>
          </a:xfrm>
          <a:prstGeom prst="rect">
            <a:avLst/>
          </a:prstGeom>
          <a:solidFill>
            <a:srgbClr val="E0EAF5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" y="437997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6616" y="46177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Accuracy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73352" y="437997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73352" y="46177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990088" y="437997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990088" y="46177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09160" y="1005840"/>
            <a:ext cx="420624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005840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1261872"/>
            <a:ext cx="4206240" cy="14630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088136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9784" y="110642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Entity &amp; Business Graph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37176" y="1517904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Legal Entity Profile &amp; Ultimate Beneficial Owner (UBO) hierarchy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837176" y="1920240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Corporate ownership graph &amp; Merchant-to-Corporate linkage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37176" y="232257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Integrate: D&amp;B hierarchy and corporate registry data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64024" y="4306824"/>
            <a:ext cx="4096512" cy="36576"/>
          </a:xfrm>
          <a:prstGeom prst="rect">
            <a:avLst/>
          </a:prstGeom>
          <a:solidFill>
            <a:srgbClr val="E0EAF5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37176" y="437997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837176" y="461772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 Hierarchy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812280" y="437997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812280" y="461772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Coverage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Q2–Q3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CDP Enhancement  &amp;  Hyper-Personalization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61872"/>
            <a:ext cx="4206240" cy="146304"/>
          </a:xfrm>
          <a:prstGeom prst="rect">
            <a:avLst/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789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" y="1106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 Platform Enhancement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536192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5361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8992" y="15361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Preference &amp; Contextual Profiles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" y="206654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20665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" y="206654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engagement &amp; product affinity data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7472" y="2596896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25968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8992" y="25968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Travel/service preferences at customer level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" y="3456432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47472" y="35295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47472" y="39867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313432" y="3456432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313432" y="35295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50%↑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313432" y="39867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1005840"/>
            <a:ext cx="420624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1005840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1261872"/>
            <a:ext cx="4206240" cy="14630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78992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57216" y="1106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Hyper-Personalization Platform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828032" y="15361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servicing recommendations &amp; marketing offers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828032" y="20116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digital experiences and merchant offers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828032" y="248716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across Mobile, Web, and Contact Centers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828032" y="3456432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4828032" y="35295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25%↑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4828032" y="39867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793992" y="3456432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6793992" y="35295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15%↑</a:t>
            </a:r>
            <a:endParaRPr lang="en-US" sz="2200" dirty="0"/>
          </a:p>
        </p:txBody>
      </p:sp>
      <p:sp>
        <p:nvSpPr>
          <p:cNvPr id="38" name="Text 34"/>
          <p:cNvSpPr/>
          <p:nvPr/>
        </p:nvSpPr>
        <p:spPr>
          <a:xfrm>
            <a:off x="6793992" y="398678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Q2–Q4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 ·  AI-Powered Servicing  ·  Real-Time Event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61872"/>
            <a:ext cx="4206240" cy="1463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789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" y="1106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Modernization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15361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Scorecards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17373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visibility into data health across all domains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7472" y="21031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Steward Workbench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23042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stewardship workflows — reduce manual effort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7472" y="26700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Catalog Integration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" y="287121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metadata layer for discovery and lineage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" y="323697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Visualization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7472" y="34381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 for audit, compliance, and trust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7472" y="404164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41148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95%↑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7472" y="44074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313432" y="404164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13432" y="41148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50%↓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313432" y="44074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09160" y="1005840"/>
            <a:ext cx="42062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1005840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0B5E3E"/>
          </a:solidFill>
          <a:ln w="12700">
            <a:solidFill>
              <a:srgbClr val="0B5E3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09160" y="1261872"/>
            <a:ext cx="4206240" cy="146304"/>
          </a:xfrm>
          <a:prstGeom prst="rect">
            <a:avLst/>
          </a:prstGeom>
          <a:solidFill>
            <a:srgbClr val="0B5E3E"/>
          </a:solidFill>
          <a:ln w="12700">
            <a:solidFill>
              <a:srgbClr val="0B5E3E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78992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57216" y="1106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Servicing &amp; Operations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28032" y="151790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customer summaries &amp; agent copilots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828032" y="19202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explanations &amp; intelligent search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828032" y="23225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KYC enrichment &amp; identity verification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828032" y="2596896"/>
            <a:ext cx="1847088" cy="237744"/>
          </a:xfrm>
          <a:prstGeom prst="roundRect">
            <a:avLst>
              <a:gd name="adj" fmla="val 19231"/>
            </a:avLst>
          </a:prstGeom>
          <a:solidFill>
            <a:srgbClr val="0B5E3E">
              <a:alpha val="20000"/>
            </a:srgbClr>
          </a:solidFill>
          <a:ln w="12700">
            <a:solidFill>
              <a:srgbClr val="0B5E3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28032" y="259689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30%↓  Servicing Time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821424" y="2596896"/>
            <a:ext cx="1847088" cy="237744"/>
          </a:xfrm>
          <a:prstGeom prst="roundRect">
            <a:avLst>
              <a:gd name="adj" fmla="val 19231"/>
            </a:avLst>
          </a:prstGeom>
          <a:solidFill>
            <a:srgbClr val="0B5E3E">
              <a:alpha val="20000"/>
            </a:srgbClr>
          </a:solidFill>
          <a:ln w="12700">
            <a:solidFill>
              <a:srgbClr val="0B5E3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821424" y="259689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40%↓  Manual Investigations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709160" y="2999232"/>
            <a:ext cx="420624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709160" y="2999232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3E5F8A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709160" y="3255264"/>
            <a:ext cx="4206240" cy="146304"/>
          </a:xfrm>
          <a:prstGeom prst="rect">
            <a:avLst/>
          </a:prstGeom>
          <a:solidFill>
            <a:srgbClr val="3E5F8A"/>
          </a:solidFill>
          <a:ln w="12700">
            <a:solidFill>
              <a:srgbClr val="3E5F8A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063240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157216" y="3090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Event Architecture  (Q3–Q4)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4828032" y="351129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published RTF Events &amp; Streaming APIs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4828032" y="391363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mesh architecture rollout across enterprise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4828032" y="431596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customer updates, relationship changes, product acquisition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4266"/>
          </a:solidFill>
          <a:ln w="12700">
            <a:solidFill>
              <a:srgbClr val="0A42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EVOLUTION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→ Year 1 → Year 2 Maturity Journey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393192"/>
          </a:xfrm>
          <a:prstGeom prst="rect">
            <a:avLst/>
          </a:prstGeom>
          <a:solidFill>
            <a:srgbClr val="0A162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60704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50592" y="1060704"/>
            <a:ext cx="1737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24528" y="1060704"/>
            <a:ext cx="1737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Target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53328" y="1060704"/>
            <a:ext cx="1828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 Vision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399032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53896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481328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4813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24528" y="1472184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Globalized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53328" y="1472184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AI Enhanced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792224"/>
            <a:ext cx="8686800" cy="39319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96312" y="1874520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18745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24528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3328" y="186537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Real-Time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185416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Mgmt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96312" y="2267712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22677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24528" y="2258568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Legal Entity Graph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53328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Enterprise Graph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578608"/>
            <a:ext cx="8686800" cy="39319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96312" y="2660904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26609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24528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Automated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53328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Predictive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2971800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026664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96312" y="3054096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0540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24528" y="3044952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Enterprise Scale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53328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Real-Time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3364992"/>
            <a:ext cx="8686800" cy="39319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419856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Intelligence/Analytics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96312" y="3447288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344728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24528" y="3438144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Insight Layer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53328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Predictive AI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3758184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96312" y="3840480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38404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224528" y="3831336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Foundations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53328" y="3831336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Hyper-Personalized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4151376"/>
            <a:ext cx="8686800" cy="39319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GenAI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496312" y="4233672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96312" y="42336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224528" y="4224528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Pilot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53328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Enterprise Adoption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8600" y="4544568"/>
            <a:ext cx="8686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4599432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496312" y="4626864"/>
            <a:ext cx="1508760" cy="237744"/>
          </a:xfrm>
          <a:prstGeom prst="roundRect">
            <a:avLst>
              <a:gd name="adj" fmla="val 19231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96312" y="46268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224528" y="4617720"/>
            <a:ext cx="1737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Connected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53328" y="4617720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Centralized Hub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24-Month Program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058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—  Foundation Modernization &amp; Enterprise Expansion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27448" y="1005840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7448" y="10058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—  Intelligence Integration &amp; Enterprise Adoption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371600"/>
            <a:ext cx="1005840" cy="2743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35024" y="1371600"/>
            <a:ext cx="1005840" cy="2743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14016" y="1371600"/>
            <a:ext cx="1005840" cy="2743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1371600"/>
            <a:ext cx="1005840" cy="2743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100584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50992" y="1371600"/>
            <a:ext cx="100584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9984" y="1371600"/>
            <a:ext cx="100584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08976" y="1371600"/>
            <a:ext cx="100584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08976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1773936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Entity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92608" y="1810512"/>
            <a:ext cx="2084832" cy="384048"/>
          </a:xfrm>
          <a:prstGeom prst="roundRect">
            <a:avLst>
              <a:gd name="adj" fmla="val 14286"/>
            </a:avLst>
          </a:prstGeom>
          <a:solidFill>
            <a:srgbClr val="0F4C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Excellence + Global Golden ID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71600" y="1810512"/>
            <a:ext cx="2084832" cy="384048"/>
          </a:xfrm>
          <a:prstGeom prst="roundRect">
            <a:avLst>
              <a:gd name="adj" fmla="val 14286"/>
            </a:avLst>
          </a:prstGeom>
          <a:solidFill>
            <a:srgbClr val="3A6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26464" y="18105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Graph + UBO Hierarchy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08576" y="1810512"/>
            <a:ext cx="4242816" cy="384048"/>
          </a:xfrm>
          <a:prstGeom prst="roundRect">
            <a:avLst>
              <a:gd name="adj" fmla="val 14286"/>
            </a:avLst>
          </a:prstGeom>
          <a:solidFill>
            <a:srgbClr val="0D7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810512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Identity Resolution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0" y="2267712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371600" y="2304288"/>
            <a:ext cx="2084832" cy="384048"/>
          </a:xfrm>
          <a:prstGeom prst="roundRect">
            <a:avLst>
              <a:gd name="adj" fmla="val 14286"/>
            </a:avLst>
          </a:prstGeom>
          <a:solidFill>
            <a:srgbClr val="1B5E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26464" y="2304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Enhancement (Travel, Preference, Contextual)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08576" y="2304288"/>
            <a:ext cx="4242816" cy="384048"/>
          </a:xfrm>
          <a:prstGeom prst="roundRect">
            <a:avLst>
              <a:gd name="adj" fmla="val 14286"/>
            </a:avLst>
          </a:prstGeom>
          <a:solidFill>
            <a:srgbClr val="0A5F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304288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Profile Streaming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0" y="276148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1371600" y="2798064"/>
            <a:ext cx="3163824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2798064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Modernization (Scorecards, Lineage, Catalog)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08576" y="2798064"/>
            <a:ext cx="4242816" cy="384048"/>
          </a:xfrm>
          <a:prstGeom prst="roundRect">
            <a:avLst>
              <a:gd name="adj" fmla="val 14286"/>
            </a:avLst>
          </a:prstGeom>
          <a:solidFill>
            <a:srgbClr val="0B4D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798064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Data Quality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3255264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1371600" y="3291840"/>
            <a:ext cx="3163824" cy="384048"/>
          </a:xfrm>
          <a:prstGeom prst="roundRect">
            <a:avLst>
              <a:gd name="adj" fmla="val 14286"/>
            </a:avLst>
          </a:prstGeom>
          <a:solidFill>
            <a:srgbClr val="0B5E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26464" y="329184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Servicing Pilot (Copilots, KYC, Intelligent Search)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08576" y="3291840"/>
            <a:ext cx="4242816" cy="384048"/>
          </a:xfrm>
          <a:prstGeom prst="roundRect">
            <a:avLst>
              <a:gd name="adj" fmla="val 14286"/>
            </a:avLst>
          </a:prstGeom>
          <a:solidFill>
            <a:srgbClr val="07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291840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GenAI Adoption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0" y="3749040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Personali-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zation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371600" y="3785616"/>
            <a:ext cx="2084832" cy="384048"/>
          </a:xfrm>
          <a:prstGeom prst="roundRect">
            <a:avLst>
              <a:gd name="adj" fmla="val 14286"/>
            </a:avLst>
          </a:prstGeom>
          <a:solidFill>
            <a:srgbClr val="0B6E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26464" y="378561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Hyper-Personalization Foundations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08576" y="3785616"/>
            <a:ext cx="4242816" cy="384048"/>
          </a:xfrm>
          <a:prstGeom prst="roundRect">
            <a:avLst>
              <a:gd name="adj" fmla="val 14286"/>
            </a:avLst>
          </a:prstGeom>
          <a:solidFill>
            <a:srgbClr val="0D7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785616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Hyper-Personalization at Scale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0" y="4242816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2450592" y="4279392"/>
            <a:ext cx="2084832" cy="384048"/>
          </a:xfrm>
          <a:prstGeom prst="roundRect">
            <a:avLst>
              <a:gd name="adj" fmla="val 14286"/>
            </a:avLst>
          </a:prstGeom>
          <a:solidFill>
            <a:srgbClr val="3E5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05456" y="427939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Architecture (RTF, APIs)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08576" y="4279392"/>
            <a:ext cx="4242816" cy="384048"/>
          </a:xfrm>
          <a:prstGeom prst="roundRect">
            <a:avLst>
              <a:gd name="adj" fmla="val 14286"/>
            </a:avLst>
          </a:prstGeom>
          <a:solidFill>
            <a:srgbClr val="0A50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4279392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Event Mesh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numbers are relative.  Q1–Q4 = Year 1   |   Q5–Q8 = Year 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5E3E"/>
          </a:solidFill>
          <a:ln w="12700">
            <a:solidFill>
              <a:srgbClr val="0B5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Q2–Q4  |  AI SERVICING DETAIL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Servicing &amp; Operations — Deliverables &amp; KPIs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42062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24128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0B5E3E"/>
          </a:solidFill>
          <a:ln w="12700">
            <a:solidFill>
              <a:srgbClr val="0B5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4206240" cy="164592"/>
          </a:xfrm>
          <a:prstGeom prst="rect">
            <a:avLst/>
          </a:prstGeom>
          <a:solidFill>
            <a:srgbClr val="0B5E3E"/>
          </a:solidFill>
          <a:ln w="12700">
            <a:solidFill>
              <a:srgbClr val="0B5E3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1124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GenAI-Powered Capabilities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55448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summaries &amp; relationship explanations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95681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copilots for servicing workflows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35915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 across customer context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6032" y="3072384"/>
            <a:ext cx="42062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3072384"/>
            <a:ext cx="4206240" cy="402336"/>
          </a:xfrm>
          <a:prstGeom prst="roundRect">
            <a:avLst>
              <a:gd name="adj" fmla="val 22727"/>
            </a:avLst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" y="3310128"/>
            <a:ext cx="4206240" cy="164592"/>
          </a:xfrm>
          <a:prstGeom prst="rect">
            <a:avLst/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4553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4944" y="3172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Operations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5760" y="360273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enrichment &amp; automated data remediation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65760" y="400507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at enterprise scale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5760" y="440740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quality remediation workflows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09160" y="1024128"/>
            <a:ext cx="1938528" cy="1828800"/>
          </a:xfrm>
          <a:prstGeom prst="roundRect">
            <a:avLst>
              <a:gd name="adj" fmla="val 6000"/>
            </a:avLst>
          </a:prstGeom>
          <a:solidFill>
            <a:srgbClr val="0B5E3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709160" y="1353312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30%↓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4709160" y="199339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Time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830568" y="1024128"/>
            <a:ext cx="1938528" cy="1828800"/>
          </a:xfrm>
          <a:prstGeom prst="roundRect">
            <a:avLst>
              <a:gd name="adj" fmla="val 6000"/>
            </a:avLst>
          </a:prstGeom>
          <a:solidFill>
            <a:srgbClr val="1B5E8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830568" y="1353312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40%↓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6830568" y="199339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Investigations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09160" y="3054096"/>
            <a:ext cx="1938528" cy="1828800"/>
          </a:xfrm>
          <a:prstGeom prst="roundRect">
            <a:avLst>
              <a:gd name="adj" fmla="val 6000"/>
            </a:avLst>
          </a:prstGeom>
          <a:solidFill>
            <a:srgbClr val="0B6E6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709160" y="338328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4709160" y="402336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KYC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830568" y="3054096"/>
            <a:ext cx="1938528" cy="1828800"/>
          </a:xfrm>
          <a:prstGeom prst="roundRect">
            <a:avLst>
              <a:gd name="adj" fmla="val 6000"/>
            </a:avLst>
          </a:prstGeom>
          <a:solidFill>
            <a:srgbClr val="0F4C8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6830568" y="338328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50%↓</a:t>
            </a:r>
            <a:endParaRPr lang="en-US" sz="3000" dirty="0"/>
          </a:p>
        </p:txBody>
      </p:sp>
      <p:sp>
        <p:nvSpPr>
          <p:cNvPr id="32" name="Text 28"/>
          <p:cNvSpPr/>
          <p:nvPr/>
        </p:nvSpPr>
        <p:spPr>
          <a:xfrm>
            <a:off x="6830568" y="402336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INTELLIGENCE INTEGRATION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Adoption — Six Capability Endpoints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24912" cy="1874520"/>
          </a:xfrm>
          <a:prstGeom prst="roundRect">
            <a:avLst>
              <a:gd name="adj" fmla="val 5854"/>
            </a:avLst>
          </a:prstGeom>
          <a:solidFill>
            <a:srgbClr val="0F4C8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1887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645920"/>
            <a:ext cx="23774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737360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Golden ID + ML-powered resolution, probabilistic scoring, real-time deduplication at APAC/LATAM/EMEA scale.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63824" y="1078992"/>
            <a:ext cx="2724912" cy="1874520"/>
          </a:xfrm>
          <a:prstGeom prst="roundRect">
            <a:avLst>
              <a:gd name="adj" fmla="val 5854"/>
            </a:avLst>
          </a:prstGeom>
          <a:solidFill>
            <a:srgbClr val="0B5E3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1704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11887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Analytics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73552" y="1645920"/>
            <a:ext cx="23774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73552" y="1737360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layer evolves to predictive models — customer intent, churn, lifetime value, next-best-action across all lines.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71616" y="1078992"/>
            <a:ext cx="2724912" cy="1874520"/>
          </a:xfrm>
          <a:prstGeom prst="roundRect">
            <a:avLst>
              <a:gd name="adj" fmla="val 5854"/>
            </a:avLst>
          </a:prstGeom>
          <a:solidFill>
            <a:srgbClr val="3E5F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1704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11887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Mesh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81344" y="1645920"/>
            <a:ext cx="23774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81344" y="1737360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event mesh deployed. All lifecycle events — acquisition, change, churn — streamed in real-time to consumers.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56032" y="3108960"/>
            <a:ext cx="2724912" cy="1874520"/>
          </a:xfrm>
          <a:prstGeom prst="roundRect">
            <a:avLst>
              <a:gd name="adj" fmla="val 5854"/>
            </a:avLst>
          </a:prstGeom>
          <a:solidFill>
            <a:srgbClr val="0B6E6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040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321868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Hyper-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65760" y="3675888"/>
            <a:ext cx="23774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5760" y="3767328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real-time offer engine across Mobile, Web, Contact Centers, and Merchant touchpoints at enterprise scale.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63824" y="3108960"/>
            <a:ext cx="2724912" cy="1874520"/>
          </a:xfrm>
          <a:prstGeom prst="roundRect">
            <a:avLst>
              <a:gd name="adj" fmla="val 5854"/>
            </a:avLst>
          </a:prstGeom>
          <a:solidFill>
            <a:srgbClr val="1B5E8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20040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39312" y="321868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3273552" y="3675888"/>
            <a:ext cx="23774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273552" y="3767328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data quality alerts, lineage anomaly detection, proactive remediation — governance becomes predictive.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71616" y="3108960"/>
            <a:ext cx="2724912" cy="1874520"/>
          </a:xfrm>
          <a:prstGeom prst="roundRect">
            <a:avLst>
              <a:gd name="adj" fmla="val 5854"/>
            </a:avLst>
          </a:prstGeom>
          <a:solidFill>
            <a:srgbClr val="0A426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20040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47104" y="321868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Hub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181344" y="3675888"/>
            <a:ext cx="23774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181344" y="3767328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as single decisioning engine for Servicing, Marketing, Sales, Collections, Risk, and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24-Month Target Scorecard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993392" cy="3950208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98448"/>
            <a:ext cx="1993392" cy="21031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5156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1078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664208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172821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216712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 accuracy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743200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28072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65760" y="32461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822192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5760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65760" y="43251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reduction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32304" y="1005840"/>
            <a:ext cx="1993392" cy="3950208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432304" y="10058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32304" y="1298448"/>
            <a:ext cx="1993392" cy="21031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05156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871216" y="1078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2542032" y="1664208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2542032" y="172821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30%↓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2542032" y="216712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time reduction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542032" y="2743200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2542032" y="28072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2542032" y="32461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KYC investigations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542032" y="3822192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2542032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50%↓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2542032" y="43251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 issues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608576" y="1005840"/>
            <a:ext cx="1993392" cy="3950208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608576" y="10058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608576" y="1298448"/>
            <a:ext cx="1993392" cy="210312"/>
          </a:xfrm>
          <a:prstGeom prst="rect">
            <a:avLst/>
          </a:prstGeom>
          <a:solidFill>
            <a:srgbClr val="1B5E8E"/>
          </a:solidFill>
          <a:ln w="12700">
            <a:solidFill>
              <a:srgbClr val="1B5E8E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051560"/>
            <a:ext cx="310896" cy="31089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047488" y="1078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4718304" y="1664208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4718304" y="172821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25%↑</a:t>
            </a:r>
            <a:endParaRPr lang="en-US" sz="2000" dirty="0"/>
          </a:p>
        </p:txBody>
      </p:sp>
      <p:sp>
        <p:nvSpPr>
          <p:cNvPr id="40" name="Text 35"/>
          <p:cNvSpPr/>
          <p:nvPr/>
        </p:nvSpPr>
        <p:spPr>
          <a:xfrm>
            <a:off x="4718304" y="216712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opportunities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718304" y="2743200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4718304" y="28072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15–20%↑</a:t>
            </a:r>
            <a:endParaRPr lang="en-US" sz="2000" dirty="0"/>
          </a:p>
        </p:txBody>
      </p:sp>
      <p:sp>
        <p:nvSpPr>
          <p:cNvPr id="43" name="Text 38"/>
          <p:cNvSpPr/>
          <p:nvPr/>
        </p:nvSpPr>
        <p:spPr>
          <a:xfrm>
            <a:off x="4718304" y="32461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718304" y="3822192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0"/>
          <p:cNvSpPr/>
          <p:nvPr/>
        </p:nvSpPr>
        <p:spPr>
          <a:xfrm>
            <a:off x="4718304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15%↑</a:t>
            </a:r>
            <a:endParaRPr lang="en-US" sz="2000" dirty="0"/>
          </a:p>
        </p:txBody>
      </p:sp>
      <p:sp>
        <p:nvSpPr>
          <p:cNvPr id="46" name="Text 41"/>
          <p:cNvSpPr/>
          <p:nvPr/>
        </p:nvSpPr>
        <p:spPr>
          <a:xfrm>
            <a:off x="4718304" y="43251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acceptance rate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784848" y="1005840"/>
            <a:ext cx="1993392" cy="3950208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6784848" y="10058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0A4266"/>
          </a:solidFill>
          <a:ln w="12700">
            <a:solidFill>
              <a:srgbClr val="0A4266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784848" y="1298448"/>
            <a:ext cx="1993392" cy="210312"/>
          </a:xfrm>
          <a:prstGeom prst="rect">
            <a:avLst/>
          </a:prstGeom>
          <a:solidFill>
            <a:srgbClr val="0A4266"/>
          </a:solidFill>
          <a:ln w="12700">
            <a:solidFill>
              <a:srgbClr val="0A4266"/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51560"/>
            <a:ext cx="310896" cy="310896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223760" y="1078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1400" dirty="0"/>
          </a:p>
        </p:txBody>
      </p:sp>
      <p:sp>
        <p:nvSpPr>
          <p:cNvPr id="52" name="Shape 46"/>
          <p:cNvSpPr/>
          <p:nvPr/>
        </p:nvSpPr>
        <p:spPr>
          <a:xfrm>
            <a:off x="6894576" y="1664208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6894576" y="172821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4" name="Text 48"/>
          <p:cNvSpPr/>
          <p:nvPr/>
        </p:nvSpPr>
        <p:spPr>
          <a:xfrm>
            <a:off x="6894576" y="216712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 graph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6894576" y="2743200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6" name="Text 50"/>
          <p:cNvSpPr/>
          <p:nvPr/>
        </p:nvSpPr>
        <p:spPr>
          <a:xfrm>
            <a:off x="6894576" y="28072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57" name="Text 51"/>
          <p:cNvSpPr/>
          <p:nvPr/>
        </p:nvSpPr>
        <p:spPr>
          <a:xfrm>
            <a:off x="6894576" y="32461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lines unified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6894576" y="3822192"/>
            <a:ext cx="1773936" cy="960120"/>
          </a:xfrm>
          <a:prstGeom prst="roundRect">
            <a:avLst>
              <a:gd name="adj" fmla="val 7619"/>
            </a:avLst>
          </a:prstGeom>
          <a:solidFill>
            <a:srgbClr val="EBF4FB"/>
          </a:solidFill>
          <a:ln w="1270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9" name="Text 53"/>
          <p:cNvSpPr/>
          <p:nvPr/>
        </p:nvSpPr>
        <p:spPr>
          <a:xfrm>
            <a:off x="6894576" y="38862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8,000+</a:t>
            </a:r>
            <a:endParaRPr lang="en-US" sz="2000" dirty="0"/>
          </a:p>
        </p:txBody>
      </p:sp>
      <p:sp>
        <p:nvSpPr>
          <p:cNvPr id="60" name="Text 54"/>
          <p:cNvSpPr/>
          <p:nvPr/>
        </p:nvSpPr>
        <p:spPr>
          <a:xfrm>
            <a:off x="6894576" y="43251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C360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4C81">
              <a:alpha val="70000"/>
            </a:srgbClr>
          </a:solidFill>
          <a:ln w="12700">
            <a:solidFill>
              <a:srgbClr val="0F4C8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685800" y="118872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89120" y="86868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Enterprise.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Customer Graph.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389120" y="2852928"/>
            <a:ext cx="43891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0" y="2980944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positions American Express as an AI-native, real-time, enterprise-grade customer intelligence platform — delivering unified intelligence across every customer interaction, business line, and region.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89120" y="44074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89120" y="4645152"/>
            <a:ext cx="4389120" cy="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0" y="4645152"/>
            <a:ext cx="4389120" cy="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4645152"/>
            <a:ext cx="4389120" cy="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07408" y="46085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7408" y="46085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46085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46085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Approve 24-Month Program Charter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Activate Q1 Identity &amp; Entity Workstreams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Stand up GenAI Servicing Pilot Team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 ·  C360 PLATFORM  ·  24-MONTH ROADMAP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360 — Complete Strategic Roadmap</dc:title>
  <dc:subject>PptxGenJS Presentation</dc:subject>
  <dc:creator>PptxGenJS</dc:creator>
  <cp:lastModifiedBy>PptxGenJS</cp:lastModifiedBy>
  <cp:revision>1</cp:revision>
  <dcterms:created xsi:type="dcterms:W3CDTF">2026-06-19T03:43:34Z</dcterms:created>
  <dcterms:modified xsi:type="dcterms:W3CDTF">2026-06-19T03:43:34Z</dcterms:modified>
</cp:coreProperties>
</file>