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11F32"/>
          </a:solidFill>
          <a:ln w="12700">
            <a:solidFill>
              <a:srgbClr val="111F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7772400" cy="685800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548640"/>
            <a:ext cx="54864" cy="5760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C360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Intelligence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65176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2062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Product Roadmap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Foundation to Enterprise Scale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63440" y="16002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journey across Data Foundation → Knowledge Graph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Stack → GenAI Copilot → Autonomous Decisions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606040"/>
            <a:ext cx="71323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65176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POC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0" y="26517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7132320" cy="777240"/>
          </a:xfrm>
          <a:prstGeom prst="roundRect">
            <a:avLst>
              <a:gd name="adj" fmla="val 7059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61188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36118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Build-out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0" y="36118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4526280"/>
            <a:ext cx="7132320" cy="777240"/>
          </a:xfrm>
          <a:prstGeom prst="roundRect">
            <a:avLst>
              <a:gd name="adj" fmla="val 7059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45720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4572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Scale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45720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5486400"/>
            <a:ext cx="7132320" cy="777240"/>
          </a:xfrm>
          <a:prstGeom prst="roundRect">
            <a:avLst>
              <a:gd name="adj" fmla="val 705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55321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55321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92640" y="55321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65379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C360 Product Strategy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2-Year Master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through Q4 2026  ·  8 Quarters  ·  4 Phases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2608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'25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3479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479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4350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4350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5221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221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6092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'26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6963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963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'26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57834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'26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687050" y="1024128"/>
            <a:ext cx="1072134" cy="347472"/>
          </a:xfrm>
          <a:prstGeom prst="roundRect">
            <a:avLst>
              <a:gd name="adj" fmla="val 10526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87050" y="1024128"/>
            <a:ext cx="10721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'26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37160" y="1426464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142646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0" y="1426464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62656" y="1481328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017520" y="1481328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KYC · Transactions · Fraud · OB ingestion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37160" y="1956816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19568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KG Schema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1956816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62656" y="2011680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17520" y="2011680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relationship modelling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80076" y="2011680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34940" y="2011680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 &amp; enrichment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37160" y="2487168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24871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– Identity &amp; Fraud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926080" y="2487168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62656" y="2542032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17520" y="2542032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POC: Identity resolution + Fraud graph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37160" y="3017520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0175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– Intelligence Stack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26080" y="3017520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80076" y="3072384"/>
            <a:ext cx="3252978" cy="365760"/>
          </a:xfrm>
          <a:prstGeom prst="roundRect">
            <a:avLst>
              <a:gd name="adj" fmla="val 10000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234940" y="3072384"/>
            <a:ext cx="31615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1-6: Identity → Journey → Fraud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37160" y="3547872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354787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Copilot Layer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926080" y="3547872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88786" y="3602736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43650" y="3602736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Assist · Inv. Copilot · NL Query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06206" y="3602736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561070" y="3602736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Summary · GraphRAG · MCP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37160" y="4078224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40782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Intel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4078224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97496" y="4133088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452360" y="4133088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· CLV · Risk-Adj Profitability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9614916" y="4133088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669780" y="4133088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 · RL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37160" y="4608576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460857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UAT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926080" y="4608576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97496" y="4663440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452360" y="4663440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2 business domains · UAT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37160" y="5138928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51389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926080" y="5138928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62656" y="5193792"/>
            <a:ext cx="8796528" cy="365760"/>
          </a:xfrm>
          <a:prstGeom prst="roundRect">
            <a:avLst>
              <a:gd name="adj" fmla="val 10000"/>
            </a:avLst>
          </a:prstGeom>
          <a:solidFill>
            <a:srgbClr val="2E3A55"/>
          </a:solidFill>
          <a:ln w="12700">
            <a:solidFill>
              <a:srgbClr val="2E3A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3017520" y="5193792"/>
            <a:ext cx="8705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GDPR · SOC2 · Data Governance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137160" y="5669280"/>
            <a:ext cx="2651760" cy="475488"/>
          </a:xfrm>
          <a:prstGeom prst="roundRect">
            <a:avLst>
              <a:gd name="adj" fmla="val 7692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" y="56692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Deploy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926080" y="5669280"/>
            <a:ext cx="8869680" cy="475488"/>
          </a:xfrm>
          <a:prstGeom prst="rect">
            <a:avLst/>
          </a:prstGeom>
          <a:solidFill>
            <a:srgbClr val="162030">
              <a:alpha val="80000"/>
            </a:srgbClr>
          </a:solidFill>
          <a:ln w="12700">
            <a:solidFill>
              <a:srgbClr val="1E2F4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14916" y="5724144"/>
            <a:ext cx="2144268" cy="365760"/>
          </a:xfrm>
          <a:prstGeom prst="roundRect">
            <a:avLst>
              <a:gd name="adj" fmla="val 10000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669780" y="5724144"/>
            <a:ext cx="205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business apps · MLOps · SLA monitoring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65760" y="6565392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" y="6547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POC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200400" y="6565392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56432" y="6547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MVP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6565392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1072" y="6547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Pilot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869680" y="6565392"/>
            <a:ext cx="201168" cy="164592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125712" y="6547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Deploy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&amp; Proof of Concept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Q2 2025  ·  6 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82496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920240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1746504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6 data sources: CRM, Transactions, KYC, Credit, Fraud, Digital Events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" y="2487168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" y="2724912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2551176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C360 ontology: Entity Models, Relationship Models, Business Vocabulary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3291840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3529584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3355848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initial Knowledge Graph with Customer, Account, Card, Transaction nodes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4096512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8328" y="4334256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4160520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data pipeline infrastructure (Kafka, Spark, graph DB)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4901184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" y="5138928"/>
            <a:ext cx="237744" cy="23774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" y="4965192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data governance, GDPR &amp; lineage frameworks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0" y="1207008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Deliverables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0" y="1682496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33088" y="1920240"/>
            <a:ext cx="237744" cy="237744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746504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#1: Identity Resolution — 98%+ entity match rate across CRM &amp; KYC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3360" y="2487168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33088" y="2724912"/>
            <a:ext cx="237744" cy="237744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43984" y="2551176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#2: Fraud Graph — real-time device–account–merchant network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0" y="3291840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33088" y="3529584"/>
            <a:ext cx="237744" cy="237744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3355848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#3: Customer 360 Profile — unified view across 3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23360" y="4096512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33088" y="4334256"/>
            <a:ext cx="237744" cy="237744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4160520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GraphDB schema validated for 10M+ entity scale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023360" y="4901184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33088" y="5138928"/>
            <a:ext cx="237744" cy="237744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4965192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model: RBAC, data masking, audit logging in place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18120" y="1207008"/>
            <a:ext cx="3566160" cy="402336"/>
          </a:xfrm>
          <a:prstGeom prst="roundRect">
            <a:avLst>
              <a:gd name="adj" fmla="val 11364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120700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818120" y="1682496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927848" y="1920240"/>
            <a:ext cx="237744" cy="2377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1746504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 identity match accuracy on test dataset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18120" y="2487168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927848" y="2724912"/>
            <a:ext cx="237744" cy="2377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38744" y="2551176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query P99 &lt; 200ms for 2-hop traversal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818120" y="3291840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927848" y="3529584"/>
            <a:ext cx="237744" cy="2377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38744" y="3355848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latency &lt; 5 min for batch; &lt; 30s streaming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818120" y="4096512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927848" y="4334256"/>
            <a:ext cx="237744" cy="2377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38744" y="4160520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from Fraud, KYC, and Risk domain owners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818120" y="4901184"/>
            <a:ext cx="356616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927848" y="5138928"/>
            <a:ext cx="237744" cy="23774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38744" y="4965192"/>
            <a:ext cx="3035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 approval for Phase 2 build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6263640"/>
            <a:ext cx="11704320" cy="457200"/>
          </a:xfrm>
          <a:prstGeom prst="roundRect">
            <a:avLst>
              <a:gd name="adj" fmla="val 12000"/>
            </a:avLst>
          </a:prstGeom>
          <a:solidFill>
            <a:srgbClr val="0A2A3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2636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MILESTONE: POC Sign-off &amp; Phase 2 Go/No-Go Decision Gate  ·  End of Q2 2025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Build-out  ·  Intelligence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F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– Q4 2025  ·  6 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075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350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70078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resolution, dedup, golden record across all sources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90088" y="1170432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13075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13350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9816" y="170078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Customer–Account–Card–Household graph linkages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51576" y="1170432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1307592"/>
            <a:ext cx="475488" cy="475488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37376" y="13350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Graph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61304" y="170078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fraud rings, UBO chains, counterparty mapping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513064" y="1170432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50224" y="1307592"/>
            <a:ext cx="475488" cy="475488"/>
          </a:xfrm>
          <a:prstGeom prst="ellipse">
            <a:avLst/>
          </a:prstGeom>
          <a:solidFill>
            <a:srgbClr val="5C3A10"/>
          </a:solidFill>
          <a:ln w="12700">
            <a:solidFill>
              <a:srgbClr val="5C3A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1307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98864" y="13350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22792" y="1700784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models: churn, default, LTV, next-best-action scores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487168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24328"/>
            <a:ext cx="475488" cy="475488"/>
          </a:xfrm>
          <a:prstGeom prst="ellipse">
            <a:avLst/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2651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" y="301752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event sequencing, micro-segment triggers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990088" y="2487168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27248" y="2624328"/>
            <a:ext cx="475488" cy="475488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75888" y="2651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99816" y="301752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scoring, case graph, network alerts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51576" y="2487168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88736" y="2624328"/>
            <a:ext cx="475488" cy="475488"/>
          </a:xfrm>
          <a:prstGeom prst="ellipse">
            <a:avLst/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8736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37376" y="2651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61304" y="301752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profitability, portfolio optimisation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513064" y="2487168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50224" y="2624328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50224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98864" y="2651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22792" y="3017520"/>
            <a:ext cx="2432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layer, RAG pipelines, LLM orchestration ready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8600" y="3803904"/>
            <a:ext cx="11704320" cy="475488"/>
          </a:xfrm>
          <a:prstGeom prst="roundRect">
            <a:avLst>
              <a:gd name="adj" fmla="val 11538"/>
            </a:avLst>
          </a:prstGeom>
          <a:solidFill>
            <a:srgbClr val="0D1F30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803904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also delivers:   Agent Assist Copilot  ·  Customer Summary (GenAI)  ·  Natural Language Query  ·  API gateway for Business App integration  ·  CI/CD &amp; model registry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4462272"/>
            <a:ext cx="2377440" cy="1143000"/>
          </a:xfrm>
          <a:prstGeom prst="roundRect">
            <a:avLst>
              <a:gd name="adj" fmla="val 5600"/>
            </a:avLst>
          </a:prstGeom>
          <a:solidFill>
            <a:srgbClr val="182D44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48640" y="4526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40%↓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548640" y="5138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false positives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83280" y="4462272"/>
            <a:ext cx="2377440" cy="1143000"/>
          </a:xfrm>
          <a:prstGeom prst="roundRect">
            <a:avLst>
              <a:gd name="adj" fmla="val 5600"/>
            </a:avLst>
          </a:prstGeom>
          <a:solidFill>
            <a:srgbClr val="182D44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83280" y="4526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25%↓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3383280" y="5138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review time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4462272"/>
            <a:ext cx="2377440" cy="1143000"/>
          </a:xfrm>
          <a:prstGeom prst="roundRect">
            <a:avLst>
              <a:gd name="adj" fmla="val 5600"/>
            </a:avLst>
          </a:prstGeom>
          <a:solidFill>
            <a:srgbClr val="182D44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217920" y="4526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3000" dirty="0"/>
          </a:p>
        </p:txBody>
      </p:sp>
      <p:sp>
        <p:nvSpPr>
          <p:cNvPr id="56" name="Text 54"/>
          <p:cNvSpPr/>
          <p:nvPr/>
        </p:nvSpPr>
        <p:spPr>
          <a:xfrm>
            <a:off x="6217920" y="5138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 speed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052560" y="4462272"/>
            <a:ext cx="2377440" cy="1143000"/>
          </a:xfrm>
          <a:prstGeom prst="roundRect">
            <a:avLst>
              <a:gd name="adj" fmla="val 5600"/>
            </a:avLst>
          </a:prstGeom>
          <a:solidFill>
            <a:srgbClr val="182D44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9052560" y="4526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9052560" y="5138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integrated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" y="5806440"/>
            <a:ext cx="11704320" cy="457200"/>
          </a:xfrm>
          <a:prstGeom prst="roundRect">
            <a:avLst>
              <a:gd name="adj" fmla="val 12000"/>
            </a:avLst>
          </a:prstGeom>
          <a:solidFill>
            <a:srgbClr val="0A2A1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58064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MILESTONE: MVP Demo Day  ·  Internal stakeholder review &amp; business domain UAT sign-off  ·  End of Q4 2025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Hardening &amp; Scaling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Q2 2026  ·  6 Months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70432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7043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Programme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+ Servicing pilot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93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traffic on 2 business apps. Real-time fraud graph with &lt;50ms decision SLA.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2496312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5511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Copilot UAT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254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fraud investigators using AI-assisted case management. Target: 40% case closure speed improvement.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3328416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383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Summary rollout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summaries for 500 relationship managers. NPS baseline established.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4160520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215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+ MCP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48970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 live. External data enrichment via Open Banking nodes.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4992624"/>
            <a:ext cx="5486400" cy="713232"/>
          </a:xfrm>
          <a:prstGeom prst="roundRect">
            <a:avLst>
              <a:gd name="adj" fmla="val 6410"/>
            </a:avLst>
          </a:prstGeom>
          <a:solidFill>
            <a:srgbClr val="182D44"/>
          </a:solidFill>
          <a:ln w="12700">
            <a:solidFill>
              <a:srgbClr val="253C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2960" y="50474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hardening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53218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HA/DR tested, horizontal pod autoscaling, 50M entity load test passed.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35040" y="1170432"/>
            <a:ext cx="5897880" cy="384048"/>
          </a:xfrm>
          <a:prstGeom prst="roundRect">
            <a:avLst>
              <a:gd name="adj" fmla="val 11905"/>
            </a:avLst>
          </a:prstGeom>
          <a:solidFill>
            <a:srgbClr val="2D1B5E"/>
          </a:solidFill>
          <a:ln w="12700">
            <a:solidFill>
              <a:srgbClr val="2D1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170432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Compliance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1664208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175564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06654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Open Banking, Contact Centre, Merchant sources. 100M+ entity KG.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52560" y="1664208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89720" y="175564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audit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189720" y="2066544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readiness. Penetration testing. Data residency controls.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35040" y="2962656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3A2E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72200" y="3054096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Governance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336499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cards, drift detection, explainability reports for GDPR Art. 22.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052560" y="2962656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89720" y="3054096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pipeline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89720" y="3364992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retraining, shadow deployment, A/B champion-challenger.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035040" y="4261104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72200" y="435254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SLAs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466344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 signed. Observability stack: Grafana, OpenTelemetry.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52560" y="4261104"/>
            <a:ext cx="2816352" cy="1143000"/>
          </a:xfrm>
          <a:prstGeom prst="roundRect">
            <a:avLst>
              <a:gd name="adj" fmla="val 4800"/>
            </a:avLst>
          </a:prstGeom>
          <a:solidFill>
            <a:srgbClr val="182D44"/>
          </a:solidFill>
          <a:ln w="12700">
            <a:solidFill>
              <a:srgbClr val="5C3A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89720" y="4352544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Explainability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189720" y="466344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explanations on all credit &amp; fraud decisions.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6254496"/>
            <a:ext cx="11704320" cy="457200"/>
          </a:xfrm>
          <a:prstGeom prst="roundRect">
            <a:avLst>
              <a:gd name="adj" fmla="val 12000"/>
            </a:avLst>
          </a:prstGeom>
          <a:solidFill>
            <a:srgbClr val="1A0A3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254496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MILESTONE: Pilot Go-Live  ·  2 business domains live in production  ·  Executive steering committee review  ·  End of Q2 2026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Enterprise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0" y="402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– Q4 2026  ·  6 Months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Business Applications  →  Production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2E6B99"/>
          </a:solidFill>
          <a:ln w="12700">
            <a:solidFill>
              <a:srgbClr val="2E6B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AHT reduction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591056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91056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91056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false positive 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3512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5C3A10"/>
          </a:solidFill>
          <a:ln w="12700">
            <a:solidFill>
              <a:srgbClr val="5C3A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53512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08376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3512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model accuracy 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15968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2E6B99"/>
          </a:solidFill>
          <a:ln w="12700">
            <a:solidFill>
              <a:srgbClr val="2E6B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15968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70832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5968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review time 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78424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78424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33288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78424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campaign ROI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40880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2E6B99"/>
          </a:solidFill>
          <a:ln w="12700">
            <a:solidFill>
              <a:srgbClr val="2E6B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40880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95744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conversion ↑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403336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03336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58200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03336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default rate ↓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765792" y="1536192"/>
            <a:ext cx="1316736" cy="1005840"/>
          </a:xfrm>
          <a:prstGeom prst="roundRect">
            <a:avLst>
              <a:gd name="adj" fmla="val 5455"/>
            </a:avLst>
          </a:prstGeom>
          <a:solidFill>
            <a:srgbClr val="5C3A10"/>
          </a:solidFill>
          <a:ln w="12700">
            <a:solidFill>
              <a:srgbClr val="5C3A1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765792" y="1572768"/>
            <a:ext cx="1316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820656" y="1920240"/>
            <a:ext cx="12070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65792" y="1956816"/>
            <a:ext cx="13167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E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recovery 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2697480"/>
            <a:ext cx="11704320" cy="320040"/>
          </a:xfrm>
          <a:prstGeom prst="roundRect">
            <a:avLst>
              <a:gd name="adj" fmla="val 14286"/>
            </a:avLst>
          </a:prstGeom>
          <a:solidFill>
            <a:srgbClr val="1A2B42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69748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Completion Checklist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31089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8 Intelligence layers operational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0040" y="35478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GenAI Copilot Layer: 6 capabilities live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20040" y="39867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Enterprise Value Intelligence: NBA, CLV, RL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" y="442569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GraphRAG · MCP · LangGraph orchestration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20040" y="486460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streaming (&lt; 30s end-to-end)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310896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MLOps: auto-retraining, champion-challenger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263640" y="354787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SOC 2 Type II certified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63640" y="3986784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GDPR Art. 22 explainability compliant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63640" y="4425696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99.9% uptime SLA, multi-region HA/DR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63640" y="4864608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observability: Grafana + OpenTelemetry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5376672"/>
            <a:ext cx="12161520" cy="1481328"/>
          </a:xfrm>
          <a:prstGeom prst="round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98%+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36576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match rate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28600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50%↓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228600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false positives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20624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40%↓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420624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processing time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2648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612648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cost reduction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04672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25%↓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804672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rate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966960" y="54498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9966960" y="6126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speed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Structure, 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804672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9844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122529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04088" y="14447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&amp; tech governance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063240" y="1188720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29844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98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22529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38728" y="144475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pipelines, KG schema, ontology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" y="1810512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92024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" y="1847088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4088" y="20665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layers, model training, RAG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63240" y="1810512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92024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920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38728" y="1847088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Specialists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38728" y="206654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/ TigerGraph, query optimisation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2432304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54203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246888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/ LLM Engineers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4088" y="268833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Agent Assist, LangGraph orchestration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063240" y="2432304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254203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5420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38728" y="246888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38728" y="268833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model validation, explainability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28600" y="3054096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16382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" y="309067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MLOps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04088" y="3310128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model registry, monitoring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063240" y="3054096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316382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38728" y="3090672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38728" y="3310128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SOC2, RBAC, audit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3675888"/>
            <a:ext cx="2651760" cy="530352"/>
          </a:xfrm>
          <a:prstGeom prst="roundRect">
            <a:avLst>
              <a:gd name="adj" fmla="val 6897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78561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" y="3712464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04088" y="3931920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stakeholder mgmt, business alignment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989320" y="804672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989320" y="1188720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129844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12984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784848" y="12435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gaps in source systems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84848" y="1517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Data profiling in Phase 1; quality gates before KG load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1956816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206654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206654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784848" y="2011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performance at 100M+ scale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84848" y="2286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Load testing in Phase 3; index strategy &amp; query cache layer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989320" y="2724912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0760" y="283464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B07020"/>
          </a:solidFill>
          <a:ln w="12700">
            <a:solidFill>
              <a:srgbClr val="B070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0760" y="28346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784848" y="27797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 in Copilot outputs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84848" y="30540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RAG with graph context; human-in-the-loop for high-stakes decisions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989320" y="3493008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80760" y="360273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B07020"/>
          </a:solidFill>
          <a:ln w="12700">
            <a:solidFill>
              <a:srgbClr val="B070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80760" y="360273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784848" y="35478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regulatory approval delays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84848" y="3822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Legal review in Phase 1; DPO sign-off gating each phase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989320" y="4261104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0760" y="437083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B07020"/>
          </a:solidFill>
          <a:ln w="12700">
            <a:solidFill>
              <a:srgbClr val="B070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80760" y="437083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784848" y="43159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adoption resistance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784848" y="4590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Embedded change management; early pilot with power users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989320" y="5029200"/>
            <a:ext cx="5943600" cy="658368"/>
          </a:xfrm>
          <a:prstGeom prst="roundRect">
            <a:avLst>
              <a:gd name="adj" fmla="val 6944"/>
            </a:avLst>
          </a:prstGeom>
          <a:solidFill>
            <a:srgbClr val="1A2B42"/>
          </a:solidFill>
          <a:ln w="12700">
            <a:solidFill>
              <a:srgbClr val="253C5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513892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80760" y="5138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784848" y="508406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/ cloud lock-in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784848" y="5358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Cloud-agnostic GraphDB; abstraction layers over LLM providers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2E"/>
          </a:solidFill>
          <a:ln w="12700">
            <a:solidFill>
              <a:srgbClr val="0E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7315200" cy="7315200"/>
          </a:xfrm>
          <a:prstGeom prst="ellipse">
            <a:avLst/>
          </a:prstGeom>
          <a:solidFill>
            <a:srgbClr val="111F32"/>
          </a:solidFill>
          <a:ln w="12700">
            <a:solidFill>
              <a:srgbClr val="192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4572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37760" y="19202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C360 platform transforms raw enterprise data into a living knowledge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that powers real-time intelligence across every business domain.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7760" y="29260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34381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76672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budget &amp; team resourcing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424160" y="3383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37760" y="403250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4032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76672" y="3977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procure Graph DB platform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2416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462686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4626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76672" y="4572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 pilot business domain sponsors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24160" y="4572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522122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5221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76672" y="5166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source access agreements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0" y="5166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37760" y="581558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5815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76672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Sprint 1: Ontology &amp; KG schema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24160" y="5760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9600" dirty="0"/>
          </a:p>
        </p:txBody>
      </p:sp>
      <p:sp>
        <p:nvSpPr>
          <p:cNvPr id="28" name="Text 26"/>
          <p:cNvSpPr/>
          <p:nvPr/>
        </p:nvSpPr>
        <p:spPr>
          <a:xfrm>
            <a:off x="274320" y="2651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to full enterprise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deployment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3474720" cy="566928"/>
          </a:xfrm>
          <a:prstGeom prst="roundRect">
            <a:avLst>
              <a:gd name="adj" fmla="val 80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7490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POC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374904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'25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425696"/>
            <a:ext cx="3474720" cy="566928"/>
          </a:xfrm>
          <a:prstGeom prst="roundRect">
            <a:avLst>
              <a:gd name="adj" fmla="val 8065"/>
            </a:avLst>
          </a:prstGeom>
          <a:solidFill>
            <a:srgbClr val="1F5C3A"/>
          </a:solidFill>
          <a:ln w="12700">
            <a:solidFill>
              <a:srgbClr val="1F5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4256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MVP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68880" y="442569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'25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5102352"/>
            <a:ext cx="3474720" cy="566928"/>
          </a:xfrm>
          <a:prstGeom prst="roundRect">
            <a:avLst>
              <a:gd name="adj" fmla="val 8065"/>
            </a:avLst>
          </a:prstGeom>
          <a:solidFill>
            <a:srgbClr val="3A2E7A"/>
          </a:solidFill>
          <a:ln w="12700">
            <a:solidFill>
              <a:srgbClr val="3A2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51023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Pilot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68880" y="510235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'26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5779008"/>
            <a:ext cx="3474720" cy="566928"/>
          </a:xfrm>
          <a:prstGeom prst="roundRect">
            <a:avLst>
              <a:gd name="adj" fmla="val 806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57790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Deploy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68880" y="577900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'26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653796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C360 Enterprise Intelligence Platform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2026-06-22T19:16:56Z</dcterms:created>
  <dcterms:modified xsi:type="dcterms:W3CDTF">2026-06-22T19:16:56Z</dcterms:modified>
</cp:coreProperties>
</file>