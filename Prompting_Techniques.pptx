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0060A0">
              <a:alpha val="18000"/>
            </a:srgbClr>
          </a:solidFill>
          <a:ln w="12700">
            <a:solidFill>
              <a:srgbClr val="0060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926080"/>
            <a:ext cx="3200400" cy="3200400"/>
          </a:xfrm>
          <a:prstGeom prst="ellipse">
            <a:avLst/>
          </a:prstGeom>
          <a:solidFill>
            <a:srgbClr val="5020A0">
              <a:alpha val="18000"/>
            </a:srgbClr>
          </a:solidFill>
          <a:ln w="12700">
            <a:solidFill>
              <a:srgbClr val="5020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828"/>
          </a:solidFill>
          <a:ln w="12700">
            <a:solidFill>
              <a:srgbClr val="0A18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0584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00184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51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C8FF"/>
                </a:solidFill>
              </a:rPr>
              <a:t>PROMPTING TECHNIQUES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148840" y="9144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Foundational Prompting Strategies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732520" y="1280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A7090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749808"/>
            <a:ext cx="2816352" cy="4169664"/>
          </a:xfrm>
          <a:prstGeom prst="rect">
            <a:avLst/>
          </a:prstGeom>
          <a:solidFill>
            <a:srgbClr val="001828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749808"/>
            <a:ext cx="2816352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877824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87782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1220"/>
                </a:solidFill>
              </a:rPr>
              <a:t>ZERO-SHOT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14016" y="841248"/>
            <a:ext cx="475488" cy="475488"/>
          </a:xfrm>
          <a:prstGeom prst="ellipse">
            <a:avLst/>
          </a:prstGeom>
          <a:solidFill>
            <a:srgbClr val="00C8FF">
              <a:alpha val="18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14016" y="841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FF"/>
                </a:solidFill>
              </a:rPr>
              <a:t>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" y="1170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Zero-Shot Learning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" y="1463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C8FF"/>
                </a:solidFill>
              </a:rPr>
              <a:t>No examples. Pure instruction.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4048" y="170078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D6E8FF"/>
                </a:solidFill>
              </a:rPr>
              <a:t>The model is given a task and asked to respond with no prior examples in the prompt. It relies entirely on pre-trained knowledge and natural language understanding.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2377440"/>
            <a:ext cx="2560320" cy="932688"/>
          </a:xfrm>
          <a:prstGeom prst="rect">
            <a:avLst/>
          </a:prstGeom>
          <a:solidFill>
            <a:srgbClr val="060E18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423160"/>
            <a:ext cx="2414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A7090"/>
                </a:solidFill>
              </a:rPr>
              <a:t>EXAMPLE PROMPT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57200" y="2578608"/>
            <a:ext cx="2414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 the sentiment: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service was slow but friendly."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Sentiment: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84048" y="3310128"/>
            <a:ext cx="2560320" cy="219456"/>
          </a:xfrm>
          <a:prstGeom prst="rect">
            <a:avLst/>
          </a:prstGeom>
          <a:solidFill>
            <a:srgbClr val="081420"/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36976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0A8C0"/>
                </a:solidFill>
              </a:rPr>
              <a:t>Output: </a:t>
            </a:r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</a:rPr>
              <a:t>Mixed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4048" y="352958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850" b="1" spc="100" kern="0" dirty="0">
                <a:solidFill>
                  <a:srgbClr val="00C8FF"/>
                </a:solidFill>
              </a:rPr>
              <a:t>BEST FOR  </a:t>
            </a:r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90A8C0"/>
                </a:solidFill>
              </a:rPr>
              <a:t>Simple, well-defined tasks with clear output expectations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4048" y="3913632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C8FF"/>
                </a:solidFill>
              </a:rPr>
              <a:t>✓  Zero setup time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D6E8FF"/>
                </a:solidFill>
              </a:rPr>
              <a:t>✓  Minimal tokens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D6E8FF"/>
                </a:solidFill>
              </a:rPr>
              <a:t>✓  Great for common tasks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6032" y="4626864"/>
            <a:ext cx="2816352" cy="292608"/>
          </a:xfrm>
          <a:prstGeom prst="rect">
            <a:avLst/>
          </a:prstGeom>
          <a:solidFill>
            <a:srgbClr val="0D1520"/>
          </a:solidFill>
          <a:ln w="12700">
            <a:solidFill>
              <a:srgbClr val="0D15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6451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7090"/>
                </a:solidFill>
              </a:rPr>
              <a:t>⚠  Fails on niche formats or domain-specific tasks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200400" y="749808"/>
            <a:ext cx="2816352" cy="4169664"/>
          </a:xfrm>
          <a:prstGeom prst="rect">
            <a:avLst/>
          </a:prstGeom>
          <a:solidFill>
            <a:srgbClr val="001A10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749808"/>
            <a:ext cx="2816352" cy="7315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28416" y="877824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28416" y="87782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1220"/>
                </a:solidFill>
              </a:rPr>
              <a:t>ONE-SHOT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358384" y="841248"/>
            <a:ext cx="475488" cy="475488"/>
          </a:xfrm>
          <a:prstGeom prst="ellipse">
            <a:avLst/>
          </a:prstGeom>
          <a:solidFill>
            <a:srgbClr val="00E5A0">
              <a:alpha val="18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58384" y="841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A0"/>
                </a:solidFill>
              </a:rPr>
              <a:t>1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328416" y="1170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One-Shot Learning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28416" y="1463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E5A0"/>
                </a:solidFill>
              </a:rPr>
              <a:t>One example guides the model.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28416" y="170078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D6E8FF"/>
                </a:solidFill>
              </a:rPr>
              <a:t>A single input-output example is provided before the actual task. The model infers the pattern from that single demonstration and applies it.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328416" y="2377440"/>
            <a:ext cx="2560320" cy="932688"/>
          </a:xfrm>
          <a:prstGeom prst="rect">
            <a:avLst/>
          </a:prstGeom>
          <a:solidFill>
            <a:srgbClr val="060E18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01568" y="2423160"/>
            <a:ext cx="2414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A7090"/>
                </a:solidFill>
              </a:rPr>
              <a:t>EXAMPLE PROMPT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401568" y="2578608"/>
            <a:ext cx="2414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Positive → 😊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"Terrible experience" →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328416" y="3310128"/>
            <a:ext cx="2560320" cy="219456"/>
          </a:xfrm>
          <a:prstGeom prst="rect">
            <a:avLst/>
          </a:prstGeom>
          <a:solidFill>
            <a:srgbClr val="081420"/>
          </a:solidFill>
          <a:ln w="6350">
            <a:solidFill>
              <a:srgbClr val="00E5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01568" y="3236976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0A8C0"/>
                </a:solidFill>
              </a:rPr>
              <a:t>Output: </a:t>
            </a:r>
            <a:pPr indent="0" marL="0">
              <a:buNone/>
            </a:pPr>
            <a:r>
              <a:rPr lang="en-US" sz="900" b="1" dirty="0">
                <a:solidFill>
                  <a:srgbClr val="00E5A0"/>
                </a:solidFill>
              </a:rPr>
              <a:t>😞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328416" y="352958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850" b="1" spc="100" kern="0" dirty="0">
                <a:solidFill>
                  <a:srgbClr val="00E5A0"/>
                </a:solidFill>
              </a:rPr>
              <a:t>BEST FOR  </a:t>
            </a:r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90A8C0"/>
                </a:solidFill>
              </a:rPr>
              <a:t>Tasks needing format guidance but low ambiguity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328416" y="3913632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E5A0"/>
                </a:solidFill>
              </a:rPr>
              <a:t>✓  Teaches output format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D6E8FF"/>
                </a:solidFill>
              </a:rPr>
              <a:t>✓  Minimal overhead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D6E8FF"/>
                </a:solidFill>
              </a:rPr>
              <a:t>✓  Works well for classification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00400" y="4626864"/>
            <a:ext cx="2816352" cy="292608"/>
          </a:xfrm>
          <a:prstGeom prst="rect">
            <a:avLst/>
          </a:prstGeom>
          <a:solidFill>
            <a:srgbClr val="0D1520"/>
          </a:solidFill>
          <a:ln w="12700">
            <a:solidFill>
              <a:srgbClr val="0D152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28416" y="46451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7090"/>
                </a:solidFill>
              </a:rPr>
              <a:t>⚠  One example may be insufficient for complex patterns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144768" y="749808"/>
            <a:ext cx="2816352" cy="4169664"/>
          </a:xfrm>
          <a:prstGeom prst="rect">
            <a:avLst/>
          </a:prstGeom>
          <a:solidFill>
            <a:srgbClr val="130A28"/>
          </a:solidFill>
          <a:ln w="12700">
            <a:solidFill>
              <a:srgbClr val="9B6D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44768" y="749808"/>
            <a:ext cx="2816352" cy="73152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72784" y="877824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72784" y="87782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1220"/>
                </a:solidFill>
              </a:rPr>
              <a:t>FEW-SHOT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302752" y="841248"/>
            <a:ext cx="475488" cy="475488"/>
          </a:xfrm>
          <a:prstGeom prst="ellipse">
            <a:avLst/>
          </a:prstGeom>
          <a:solidFill>
            <a:srgbClr val="9B6DFF">
              <a:alpha val="18000"/>
            </a:srgbClr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02752" y="841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6DFF"/>
                </a:solidFill>
              </a:rPr>
              <a:t>3+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272784" y="1170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Few-Shot Learning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272784" y="1463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B6DFF"/>
                </a:solidFill>
              </a:rPr>
              <a:t>2–5 examples for pattern lock.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72784" y="170078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D6E8FF"/>
                </a:solidFill>
              </a:rPr>
              <a:t>Multiple input-output pairs are provided to establish a strong pattern. The model generalises from the examples to handle unseen inputs accurately.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272784" y="2377440"/>
            <a:ext cx="2560320" cy="932688"/>
          </a:xfrm>
          <a:prstGeom prst="rect">
            <a:avLst/>
          </a:prstGeom>
          <a:solidFill>
            <a:srgbClr val="060E18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45936" y="2423160"/>
            <a:ext cx="2414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A7090"/>
                </a:solidFill>
              </a:rPr>
              <a:t>EXAMPLE PROMPT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345936" y="2578608"/>
            <a:ext cx="2414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Happy→Positive  Angry→Neg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Bored→Neutral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Excited →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272784" y="3310128"/>
            <a:ext cx="2560320" cy="219456"/>
          </a:xfrm>
          <a:prstGeom prst="rect">
            <a:avLst/>
          </a:prstGeom>
          <a:solidFill>
            <a:srgbClr val="081420"/>
          </a:solidFill>
          <a:ln w="6350">
            <a:solidFill>
              <a:srgbClr val="9B6D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45936" y="3236976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0A8C0"/>
                </a:solidFill>
              </a:rPr>
              <a:t>Output: </a:t>
            </a:r>
            <a:pPr indent="0" marL="0">
              <a:buNone/>
            </a:pPr>
            <a:r>
              <a:rPr lang="en-US" sz="900" b="1" dirty="0">
                <a:solidFill>
                  <a:srgbClr val="9B6DFF"/>
                </a:solidFill>
              </a:rPr>
              <a:t>Positive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272784" y="352958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850" b="1" spc="100" kern="0" dirty="0">
                <a:solidFill>
                  <a:srgbClr val="9B6DFF"/>
                </a:solidFill>
              </a:rPr>
              <a:t>BEST FOR  </a:t>
            </a:r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90A8C0"/>
                </a:solidFill>
              </a:rPr>
              <a:t>Complex patterns, custom formats, domain-specific outputs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272784" y="3913632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B6DFF"/>
                </a:solidFill>
              </a:rPr>
              <a:t>✓  +30% accuracy over zero-shot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D6E8FF"/>
                </a:solidFill>
              </a:rPr>
              <a:t>✓  Teaches nuance &amp; tone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D6E8FF"/>
                </a:solidFill>
              </a:rPr>
              <a:t>✓  Reliable for production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144768" y="4626864"/>
            <a:ext cx="2816352" cy="292608"/>
          </a:xfrm>
          <a:prstGeom prst="rect">
            <a:avLst/>
          </a:prstGeom>
          <a:solidFill>
            <a:srgbClr val="0D1520"/>
          </a:solidFill>
          <a:ln w="12700">
            <a:solidFill>
              <a:srgbClr val="0D152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72784" y="46451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7090"/>
                </a:solidFill>
              </a:rPr>
              <a:t>⚠  Consumes more tokens; example quality matters greatly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080F1A"/>
          </a:solidFill>
          <a:ln w="12700">
            <a:solidFill>
              <a:srgbClr val="080F1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4320" y="47731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A7090"/>
                </a:solidFill>
              </a:rPr>
              <a:t>ACCURACY COMPARISON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194560" y="4809744"/>
            <a:ext cx="2011680" cy="128016"/>
          </a:xfrm>
          <a:prstGeom prst="rect">
            <a:avLst/>
          </a:prstGeom>
          <a:solidFill>
            <a:srgbClr val="1A284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194560" y="4809744"/>
            <a:ext cx="1106424" cy="12801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194560" y="476402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C8FF"/>
                </a:solidFill>
              </a:rPr>
              <a:t>Zero-Shot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3337560" y="476402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C8FF"/>
                </a:solidFill>
              </a:rPr>
              <a:t>55%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480560" y="4809744"/>
            <a:ext cx="2011680" cy="128016"/>
          </a:xfrm>
          <a:prstGeom prst="rect">
            <a:avLst/>
          </a:prstGeom>
          <a:solidFill>
            <a:srgbClr val="1A284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480560" y="4809744"/>
            <a:ext cx="1448410" cy="12801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480560" y="476402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E5A0"/>
                </a:solidFill>
              </a:rPr>
              <a:t>One-Shot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5965546" y="476402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E5A0"/>
                </a:solidFill>
              </a:rPr>
              <a:t>72%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6766560" y="4809744"/>
            <a:ext cx="2011680" cy="128016"/>
          </a:xfrm>
          <a:prstGeom prst="rect">
            <a:avLst/>
          </a:prstGeom>
          <a:solidFill>
            <a:srgbClr val="1A284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766560" y="4809744"/>
            <a:ext cx="1830629" cy="128016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766560" y="476402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B6DFF"/>
                </a:solidFill>
              </a:rPr>
              <a:t>Few-Shot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8633765" y="476402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B6DFF"/>
                </a:solidFill>
              </a:rPr>
              <a:t>91%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914400"/>
            <a:ext cx="3200400" cy="3200400"/>
          </a:xfrm>
          <a:prstGeom prst="ellipse">
            <a:avLst/>
          </a:prstGeom>
          <a:solidFill>
            <a:srgbClr val="003040">
              <a:alpha val="25000"/>
            </a:srgbClr>
          </a:solidFill>
          <a:ln w="12700">
            <a:solidFill>
              <a:srgbClr val="003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202060">
              <a:alpha val="20000"/>
            </a:srgbClr>
          </a:solidFill>
          <a:ln w="12700">
            <a:solidFill>
              <a:srgbClr val="2020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828"/>
          </a:solidFill>
          <a:ln w="12700">
            <a:solidFill>
              <a:srgbClr val="0A18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0584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00184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51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B830"/>
                </a:solidFill>
              </a:rPr>
              <a:t>ADVANCED TECHNIQUES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148840" y="9144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Reasoning &amp; Agentic Prompting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732520" y="1280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A7090"/>
                </a:solidFill>
              </a:rPr>
              <a:t>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694944"/>
            <a:ext cx="4133088" cy="4224528"/>
          </a:xfrm>
          <a:prstGeom prst="rect">
            <a:avLst/>
          </a:prstGeom>
          <a:solidFill>
            <a:srgbClr val="001820"/>
          </a:solidFill>
          <a:ln w="12700">
            <a:solidFill>
              <a:srgbClr val="FFB8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694944"/>
            <a:ext cx="4133088" cy="73152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822960"/>
            <a:ext cx="1508760" cy="237744"/>
          </a:xfrm>
          <a:prstGeom prst="roundRect">
            <a:avLst>
              <a:gd name="adj" fmla="val 15385"/>
            </a:avLst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82296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C1220"/>
                </a:solidFill>
              </a:rPr>
              <a:t>CHAIN-OF-THOUGHT  CoT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4048" y="1152144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Chain-of-Thought Prompting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" y="1426464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B830"/>
                </a:solidFill>
              </a:rPr>
              <a:t>"Think step by step."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1682496"/>
            <a:ext cx="3877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D6E8FF"/>
                </a:solidFill>
              </a:rPr>
              <a:t>Instructs the model to reason through a problem explicitly before giving an answer. Externalising reasoning dramatically improves accuracy on multi-step tasks.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" y="2304288"/>
            <a:ext cx="256032" cy="256032"/>
          </a:xfrm>
          <a:prstGeom prst="ellipse">
            <a:avLst/>
          </a:prstGeom>
          <a:solidFill>
            <a:srgbClr val="0A1830"/>
          </a:solidFill>
          <a:ln w="12700">
            <a:solidFill>
              <a:srgbClr val="7EAE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304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EAED4"/>
                </a:solidFill>
              </a:rPr>
              <a:t>Q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31520" y="2340864"/>
            <a:ext cx="3493008" cy="201168"/>
          </a:xfrm>
          <a:prstGeom prst="rect">
            <a:avLst/>
          </a:prstGeom>
          <a:solidFill>
            <a:srgbClr val="080E18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234086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8C0"/>
                </a:solidFill>
              </a:rPr>
              <a:t>Roger has 5 balls. Buys 2 cans × 3 balls. How many?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0624" y="256032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090"/>
                </a:solidFill>
              </a:rPr>
              <a:t>↓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4048" y="2679192"/>
            <a:ext cx="256032" cy="256032"/>
          </a:xfrm>
          <a:prstGeom prst="ellipse">
            <a:avLst/>
          </a:prstGeom>
          <a:solidFill>
            <a:srgbClr val="2A180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679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B830"/>
                </a:solidFill>
              </a:rPr>
              <a:t>①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31520" y="2715768"/>
            <a:ext cx="3493008" cy="201168"/>
          </a:xfrm>
          <a:prstGeom prst="rect">
            <a:avLst/>
          </a:prstGeom>
          <a:solidFill>
            <a:srgbClr val="080E18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" y="27157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F"/>
                </a:solidFill>
              </a:rPr>
              <a:t>Start: 5 balls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0624" y="293522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090"/>
                </a:solidFill>
              </a:rPr>
              <a:t>↓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048" y="3054096"/>
            <a:ext cx="256032" cy="256032"/>
          </a:xfrm>
          <a:prstGeom prst="ellipse">
            <a:avLst/>
          </a:prstGeom>
          <a:solidFill>
            <a:srgbClr val="2A180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054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B830"/>
                </a:solidFill>
              </a:rPr>
              <a:t>②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31520" y="3090672"/>
            <a:ext cx="3493008" cy="201168"/>
          </a:xfrm>
          <a:prstGeom prst="rect">
            <a:avLst/>
          </a:prstGeom>
          <a:solidFill>
            <a:srgbClr val="080E18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" y="30906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F"/>
                </a:solidFill>
              </a:rPr>
              <a:t>2 cans × 3 = 6 new balls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20624" y="331012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090"/>
                </a:solidFill>
              </a:rPr>
              <a:t>↓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84048" y="3429000"/>
            <a:ext cx="256032" cy="256032"/>
          </a:xfrm>
          <a:prstGeom prst="ellipse">
            <a:avLst/>
          </a:prstGeom>
          <a:solidFill>
            <a:srgbClr val="2A180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3429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B830"/>
                </a:solidFill>
              </a:rPr>
              <a:t>③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31520" y="3465576"/>
            <a:ext cx="3493008" cy="201168"/>
          </a:xfrm>
          <a:prstGeom prst="rect">
            <a:avLst/>
          </a:prstGeom>
          <a:solidFill>
            <a:srgbClr val="080E18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6384" y="346557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F"/>
                </a:solidFill>
              </a:rPr>
              <a:t>Total: 5 + 6 = 11 balls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0624" y="368503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090"/>
                </a:solidFill>
              </a:rPr>
              <a:t>↓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84048" y="3803904"/>
            <a:ext cx="256032" cy="256032"/>
          </a:xfrm>
          <a:prstGeom prst="ellipse">
            <a:avLst/>
          </a:prstGeom>
          <a:solidFill>
            <a:srgbClr val="003A2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3803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A0"/>
                </a:solidFill>
              </a:rPr>
              <a:t>✓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31520" y="3840480"/>
            <a:ext cx="3493008" cy="201168"/>
          </a:xfrm>
          <a:prstGeom prst="rect">
            <a:avLst/>
          </a:prstGeom>
          <a:solidFill>
            <a:srgbClr val="080E18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6384" y="38404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</a:rPr>
              <a:t>Answer: 11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84048" y="4480560"/>
            <a:ext cx="3877056" cy="329184"/>
          </a:xfrm>
          <a:prstGeom prst="rect">
            <a:avLst/>
          </a:prstGeom>
          <a:solidFill>
            <a:srgbClr val="1A1000"/>
          </a:solidFill>
          <a:ln w="6350">
            <a:solidFill>
              <a:srgbClr val="FFB8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4805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30"/>
                </a:solidFill>
              </a:rPr>
              <a:t>+40%</a:t>
            </a:r>
            <a:pPr indent="0" marL="0">
              <a:buNone/>
            </a:pPr>
            <a:r>
              <a:rPr lang="en-US" sz="850" dirty="0">
                <a:solidFill>
                  <a:srgbClr val="90A8C0"/>
                </a:solidFill>
              </a:rPr>
              <a:t>  accuracy on math &amp; logic vs zero-shot  ·  Use: </a:t>
            </a:r>
            <a:pPr indent="0" marL="0">
              <a:buNone/>
            </a:pPr>
            <a:r>
              <a:rPr lang="en-US" sz="850" i="1" dirty="0">
                <a:solidFill>
                  <a:srgbClr val="FFB830"/>
                </a:solidFill>
              </a:rPr>
              <a:t>"Let's think step by step"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553712" y="694944"/>
            <a:ext cx="4334256" cy="2029968"/>
          </a:xfrm>
          <a:prstGeom prst="rect">
            <a:avLst/>
          </a:prstGeom>
          <a:solidFill>
            <a:srgbClr val="0A1220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53712" y="694944"/>
            <a:ext cx="4334256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81728" y="822960"/>
            <a:ext cx="1417320" cy="237744"/>
          </a:xfrm>
          <a:prstGeom prst="roundRect">
            <a:avLst>
              <a:gd name="adj" fmla="val 15385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81728" y="82296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REACT PROMPTING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681728" y="1152144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ReAct: Reason + Act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4681728" y="1463040"/>
            <a:ext cx="1243584" cy="804672"/>
          </a:xfrm>
          <a:prstGeom prst="rect">
            <a:avLst/>
          </a:prstGeom>
          <a:solidFill>
            <a:srgbClr val="060E18"/>
          </a:solidFill>
          <a:ln w="10160">
            <a:solidFill>
              <a:srgbClr val="FFB83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81728" y="1463040"/>
            <a:ext cx="1243584" cy="164592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81728" y="1463040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C1220"/>
                </a:solidFill>
              </a:rPr>
              <a:t>THOUGHT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736592" y="1664208"/>
            <a:ext cx="1133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B830"/>
                </a:solidFill>
              </a:rPr>
              <a:t>Reason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B830"/>
                </a:solidFill>
              </a:rPr>
              <a:t>about task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943600" y="1755648"/>
            <a:ext cx="128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7090"/>
                </a:solidFill>
              </a:rPr>
              <a:t>→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089904" y="1463040"/>
            <a:ext cx="1243584" cy="804672"/>
          </a:xfrm>
          <a:prstGeom prst="rect">
            <a:avLst/>
          </a:prstGeom>
          <a:solidFill>
            <a:srgbClr val="060E18"/>
          </a:solidFill>
          <a:ln w="10160">
            <a:solidFill>
              <a:srgbClr val="FF6B6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089904" y="1463040"/>
            <a:ext cx="1243584" cy="16459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89904" y="1463040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C1220"/>
                </a:solidFill>
              </a:rPr>
              <a:t>ACTION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144768" y="1664208"/>
            <a:ext cx="1133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6B6B"/>
                </a:solidFill>
              </a:rPr>
              <a:t>Call tool /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6B6B"/>
                </a:solidFill>
              </a:rPr>
              <a:t>API / search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351776" y="1755648"/>
            <a:ext cx="128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7090"/>
                </a:solidFill>
              </a:rPr>
              <a:t>→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498080" y="1463040"/>
            <a:ext cx="1243584" cy="804672"/>
          </a:xfrm>
          <a:prstGeom prst="rect">
            <a:avLst/>
          </a:prstGeom>
          <a:solidFill>
            <a:srgbClr val="060E18"/>
          </a:solidFill>
          <a:ln w="10160">
            <a:solidFill>
              <a:srgbClr val="7EAED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498080" y="1463040"/>
            <a:ext cx="1243584" cy="164592"/>
          </a:xfrm>
          <a:prstGeom prst="rect">
            <a:avLst/>
          </a:prstGeom>
          <a:solidFill>
            <a:srgbClr val="7EAED4"/>
          </a:solidFill>
          <a:ln w="12700">
            <a:solidFill>
              <a:srgbClr val="7EAED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0" y="1463040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C1220"/>
                </a:solidFill>
              </a:rPr>
              <a:t>OBSERVE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7552944" y="1664208"/>
            <a:ext cx="1133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EAED4"/>
                </a:solidFill>
              </a:rPr>
              <a:t>Read tool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EAED4"/>
                </a:solidFill>
              </a:rPr>
              <a:t>result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681728" y="2322576"/>
            <a:ext cx="4078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6B6B"/>
                </a:solidFill>
              </a:rPr>
              <a:t>↺  Loop until task complete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681728" y="2523744"/>
            <a:ext cx="4078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090"/>
                </a:solidFill>
              </a:rPr>
              <a:t>Powers AI Agents · LangGraph · AutoGen · Tool-calling LLMs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553712" y="2816352"/>
            <a:ext cx="4334256" cy="2103120"/>
          </a:xfrm>
          <a:prstGeom prst="rect">
            <a:avLst/>
          </a:prstGeom>
          <a:solidFill>
            <a:srgbClr val="0A0A20"/>
          </a:solidFill>
          <a:ln w="12700">
            <a:solidFill>
              <a:srgbClr val="9B6D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553712" y="2816352"/>
            <a:ext cx="4334256" cy="73152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681728" y="2944368"/>
            <a:ext cx="1554480" cy="237744"/>
          </a:xfrm>
          <a:prstGeom prst="roundRect">
            <a:avLst>
              <a:gd name="adj" fmla="val 15385"/>
            </a:avLst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81728" y="294436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TREE OF THOUGHTS  ToT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4681728" y="3273552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Tree-of-Thoughts Prompting</a:t>
            </a:r>
            <a:endParaRPr lang="en-US" sz="1250" dirty="0"/>
          </a:p>
        </p:txBody>
      </p:sp>
      <p:sp>
        <p:nvSpPr>
          <p:cNvPr id="68" name="Shape 66"/>
          <p:cNvSpPr/>
          <p:nvPr/>
        </p:nvSpPr>
        <p:spPr>
          <a:xfrm>
            <a:off x="6217920" y="3584448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1A0A30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17920" y="35844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B6DFF"/>
                </a:solidFill>
              </a:rPr>
              <a:t>Problem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720840" y="3858768"/>
            <a:ext cx="-1764792" cy="292608"/>
          </a:xfrm>
          <a:prstGeom prst="line">
            <a:avLst/>
          </a:prstGeom>
          <a:noFill/>
          <a:ln w="10160">
            <a:solidFill>
              <a:srgbClr val="1E305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20840" y="3858768"/>
            <a:ext cx="-457200" cy="292608"/>
          </a:xfrm>
          <a:prstGeom prst="line">
            <a:avLst/>
          </a:prstGeom>
          <a:noFill/>
          <a:ln w="10160">
            <a:solidFill>
              <a:srgbClr val="1E305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720840" y="3858768"/>
            <a:ext cx="868680" cy="292608"/>
          </a:xfrm>
          <a:prstGeom prst="line">
            <a:avLst/>
          </a:prstGeom>
          <a:noFill/>
          <a:ln w="10160">
            <a:solidFill>
              <a:srgbClr val="1E305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754880" y="4169664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100820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54880" y="41696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8C0"/>
                </a:solidFill>
              </a:rPr>
              <a:t>Path A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4754880" y="44622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6B6B"/>
                </a:solidFill>
              </a:rPr>
              <a:t>✗ Dead end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144768" y="4169664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10082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144768" y="41696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A0"/>
                </a:solidFill>
              </a:rPr>
              <a:t>Path B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144768" y="44622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5A0"/>
                </a:solidFill>
              </a:rPr>
              <a:t>✓ Best!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7534656" y="4169664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100820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534656" y="41696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8C0"/>
                </a:solidFill>
              </a:rPr>
              <a:t>Path C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7534656" y="44622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090"/>
                </a:solidFill>
              </a:rPr>
              <a:t>✗ Sub-optimal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4681728" y="4663440"/>
            <a:ext cx="4078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A7090"/>
                </a:solidFill>
              </a:rPr>
              <a:t>Explores multiple reasoning branches in parallel · Uses BFS/DFS · Votes on best path  ·  +40% on hard planning tasks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80F1A"/>
          </a:solidFill>
          <a:ln w="12700">
            <a:solidFill>
              <a:srgbClr val="080F1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74320" y="48097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A7090"/>
                </a:solidFill>
              </a:rPr>
              <a:t>QUICK COMPARE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1600200" y="4828032"/>
            <a:ext cx="73152" cy="256032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728216" y="480974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B830"/>
                </a:solidFill>
              </a:rPr>
              <a:t>Chain-of-Thought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1728216" y="495604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8C0"/>
                </a:solidFill>
              </a:rPr>
              <a:t>Serial, explicit reasoning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4105656" y="4828032"/>
            <a:ext cx="73152" cy="2560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233672" y="480974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6B"/>
                </a:solidFill>
              </a:rPr>
              <a:t>ReAct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4233672" y="495604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8C0"/>
                </a:solidFill>
              </a:rPr>
              <a:t>Reason + external tool use loop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6611112" y="4828032"/>
            <a:ext cx="73152" cy="256032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739128" y="480974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6DFF"/>
                </a:solidFill>
              </a:rPr>
              <a:t>Tree-of-Thoughts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6739128" y="495604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8C0"/>
                </a:solidFill>
              </a:rPr>
              <a:t>Parallel exploration + best-path voting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2026-06-08T19:18:18Z</dcterms:created>
  <dcterms:modified xsi:type="dcterms:W3CDTF">2026-06-08T19:18:18Z</dcterms:modified>
</cp:coreProperties>
</file>