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14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  <Relationship Id="rId14" Type="http://schemas.openxmlformats.org/officeDocument/2006/relationships/slide" Target="slides/slide8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A4D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7040880" y="777240"/>
            <a:ext cx="822960" cy="228600"/>
          </a:xfrm>
          <a:prstGeom prst="line">
            <a:avLst/>
          </a:prstGeom>
          <a:noFill/>
          <a:ln w="12700">
            <a:solidFill>
              <a:srgbClr val="008B8B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1005840"/>
            <a:ext cx="640080" cy="731520"/>
          </a:xfrm>
          <a:prstGeom prst="line">
            <a:avLst/>
          </a:prstGeom>
          <a:noFill/>
          <a:ln w="12700">
            <a:solidFill>
              <a:srgbClr val="008B8B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777240"/>
            <a:ext cx="640080" cy="594360"/>
          </a:xfrm>
          <a:prstGeom prst="line">
            <a:avLst/>
          </a:prstGeom>
          <a:noFill/>
          <a:ln w="12700">
            <a:solidFill>
              <a:srgbClr val="008B8B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1371600"/>
            <a:ext cx="822960" cy="365760"/>
          </a:xfrm>
          <a:prstGeom prst="line">
            <a:avLst/>
          </a:prstGeom>
          <a:noFill/>
          <a:ln w="12700">
            <a:solidFill>
              <a:srgbClr val="008B8B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1737360"/>
            <a:ext cx="914400" cy="914"/>
          </a:xfrm>
          <a:prstGeom prst="line">
            <a:avLst/>
          </a:prstGeom>
          <a:noFill/>
          <a:ln w="12700">
            <a:solidFill>
              <a:srgbClr val="008B8B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371600"/>
            <a:ext cx="274320" cy="914400"/>
          </a:xfrm>
          <a:prstGeom prst="line">
            <a:avLst/>
          </a:prstGeom>
          <a:noFill/>
          <a:ln w="12700">
            <a:solidFill>
              <a:srgbClr val="008B8B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1737360"/>
            <a:ext cx="548640" cy="548640"/>
          </a:xfrm>
          <a:prstGeom prst="line">
            <a:avLst/>
          </a:prstGeom>
          <a:noFill/>
          <a:ln w="12700">
            <a:solidFill>
              <a:srgbClr val="008B8B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2286000"/>
            <a:ext cx="914400" cy="182880"/>
          </a:xfrm>
          <a:prstGeom prst="line">
            <a:avLst/>
          </a:prstGeom>
          <a:noFill/>
          <a:ln w="12700">
            <a:solidFill>
              <a:srgbClr val="008B8B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1737360"/>
            <a:ext cx="548640" cy="731520"/>
          </a:xfrm>
          <a:prstGeom prst="line">
            <a:avLst/>
          </a:prstGeom>
          <a:noFill/>
          <a:ln w="12700">
            <a:solidFill>
              <a:srgbClr val="008B8B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67728" y="932688"/>
            <a:ext cx="146304" cy="146304"/>
          </a:xfrm>
          <a:prstGeom prst="ellipse">
            <a:avLst/>
          </a:prstGeom>
          <a:solidFill>
            <a:srgbClr val="008B8B"/>
          </a:solidFill>
          <a:ln/>
        </p:spPr>
      </p:sp>
      <p:sp>
        <p:nvSpPr>
          <p:cNvPr id="13" name="Shape 11"/>
          <p:cNvSpPr/>
          <p:nvPr/>
        </p:nvSpPr>
        <p:spPr>
          <a:xfrm>
            <a:off x="7813548" y="726948"/>
            <a:ext cx="100584" cy="100584"/>
          </a:xfrm>
          <a:prstGeom prst="ellipse">
            <a:avLst/>
          </a:prstGeom>
          <a:solidFill>
            <a:srgbClr val="008B8B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444484" y="1312164"/>
            <a:ext cx="118872" cy="118872"/>
          </a:xfrm>
          <a:prstGeom prst="ellipse">
            <a:avLst/>
          </a:prstGeom>
          <a:solidFill>
            <a:srgbClr val="008B8B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639812" y="1696212"/>
            <a:ext cx="82296" cy="82296"/>
          </a:xfrm>
          <a:prstGeom prst="ellipse">
            <a:avLst/>
          </a:prstGeom>
          <a:solidFill>
            <a:srgbClr val="008B8B">
              <a:alpha val="8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16268" y="1687068"/>
            <a:ext cx="100584" cy="100584"/>
          </a:xfrm>
          <a:prstGeom prst="ellipse">
            <a:avLst/>
          </a:prstGeom>
          <a:solidFill>
            <a:srgbClr val="008B8B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170164" y="2226564"/>
            <a:ext cx="118872" cy="118872"/>
          </a:xfrm>
          <a:prstGeom prst="ellipse">
            <a:avLst/>
          </a:prstGeom>
          <a:solidFill>
            <a:srgbClr val="008B8B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274052" y="2427732"/>
            <a:ext cx="82296" cy="82296"/>
          </a:xfrm>
          <a:prstGeom prst="ellipse">
            <a:avLst/>
          </a:prstGeom>
          <a:solidFill>
            <a:srgbClr val="008B8B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1874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 KNOWLEDGE GRAPH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Two Core Tables to Connected Intelligence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48640" y="3154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one-time knowledge graph foundation, enriched once and reused across BFSI use cases — from fraud detection to next-best-action.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2011680" cy="0"/>
          </a:xfrm>
          <a:prstGeom prst="line">
            <a:avLst/>
          </a:prstGeom>
          <a:noFill/>
          <a:ln w="25400">
            <a:solidFill>
              <a:srgbClr val="008B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Foundational Knowledge Graphs for BFSI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Foundational C360 Knowledge Graph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entity in the graph — customer, account, business, card — resolves back to two anchor tables.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2940" y="150876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00336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154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customer_360_demographic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1540" y="21122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Card Members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23460" y="150876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00336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5206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customer_360_commercial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52060" y="21122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/ Business Card Members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2560320"/>
            <a:ext cx="0" cy="320040"/>
          </a:xfrm>
          <a:prstGeom prst="line">
            <a:avLst/>
          </a:prstGeom>
          <a:noFill/>
          <a:ln w="25400">
            <a:solidFill>
              <a:srgbClr val="008B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4489704" y="2834640"/>
            <a:ext cx="164592" cy="128016"/>
          </a:xfrm>
          <a:prstGeom prst="triangle">
            <a:avLst/>
          </a:prstGeom>
          <a:solidFill>
            <a:srgbClr val="008B8B"/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3017520"/>
            <a:ext cx="1645920" cy="502920"/>
          </a:xfrm>
          <a:prstGeom prst="ellipse">
            <a:avLst/>
          </a:prstGeom>
          <a:solidFill>
            <a:srgbClr val="E6F5F5"/>
          </a:solidFill>
          <a:ln w="19050">
            <a:solidFill>
              <a:srgbClr val="008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017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/ Account / Business — Anchor Entities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5780" y="397764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" y="40507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Nodes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" y="427024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Customer, Account, Business &amp; Card nodes seeded straight from the two base tables.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68980" y="397764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6140" y="40507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Resolution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06140" y="427024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single, de-duplicated identity backbone used to match every downstream source.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12180" y="397764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9340" y="40507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49340" y="427024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once — every future enrichment attaches back to this same foundation.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8508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 Knowledge Graph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48508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ENRICHMENT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 Once, Reuse Everywhere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one-time knowledge graph build powers many use cases — each new use case simply integrates additional data sources onto the same foundation.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03120" y="1481328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4813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customer_360_demographic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481328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003366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4813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customer_360_commercial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984248"/>
            <a:ext cx="0" cy="201168"/>
          </a:xfrm>
          <a:prstGeom prst="line">
            <a:avLst/>
          </a:prstGeom>
          <a:noFill/>
          <a:ln w="25400">
            <a:solidFill>
              <a:srgbClr val="008B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4507992" y="2148840"/>
            <a:ext cx="128016" cy="100584"/>
          </a:xfrm>
          <a:prstGeom prst="triangle">
            <a:avLst/>
          </a:prstGeom>
          <a:solidFill>
            <a:srgbClr val="008B8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331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INTEGRATION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" y="2578608"/>
            <a:ext cx="1536192" cy="566928"/>
          </a:xfrm>
          <a:prstGeom prst="roundRect">
            <a:avLst>
              <a:gd name="adj" fmla="val 9677"/>
            </a:avLst>
          </a:prstGeom>
          <a:solidFill>
            <a:srgbClr val="E6F5F5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2578608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57984" y="2578608"/>
            <a:ext cx="1536192" cy="566928"/>
          </a:xfrm>
          <a:prstGeom prst="roundRect">
            <a:avLst>
              <a:gd name="adj" fmla="val 9677"/>
            </a:avLst>
          </a:prstGeom>
          <a:solidFill>
            <a:srgbClr val="E6F5F5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2578608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03904" y="2578608"/>
            <a:ext cx="1536192" cy="566928"/>
          </a:xfrm>
          <a:prstGeom prst="roundRect">
            <a:avLst>
              <a:gd name="adj" fmla="val 9677"/>
            </a:avLst>
          </a:prstGeom>
          <a:solidFill>
            <a:srgbClr val="E6F5F5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9624" y="2578608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Event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9824" y="2578608"/>
            <a:ext cx="1536192" cy="566928"/>
          </a:xfrm>
          <a:prstGeom prst="roundRect">
            <a:avLst>
              <a:gd name="adj" fmla="val 9677"/>
            </a:avLst>
          </a:prstGeom>
          <a:solidFill>
            <a:srgbClr val="E6F5F5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95544" y="2578608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Fraud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95744" y="2578608"/>
            <a:ext cx="1536192" cy="566928"/>
          </a:xfrm>
          <a:prstGeom prst="roundRect">
            <a:avLst>
              <a:gd name="adj" fmla="val 9677"/>
            </a:avLst>
          </a:prstGeom>
          <a:solidFill>
            <a:srgbClr val="E6F5F5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41464" y="2578608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Points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28269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new integration expands what the graph can explain — the same pattern extends to every future use case.</a:t>
            </a:r>
            <a:endParaRPr lang="en-US" sz="950" dirty="0"/>
          </a:p>
        </p:txBody>
      </p:sp>
      <p:sp>
        <p:nvSpPr>
          <p:cNvPr id="80" name="Text 80"/>
          <p:cNvSpPr/>
          <p:nvPr/>
        </p:nvSpPr>
        <p:spPr>
          <a:xfrm>
            <a:off x="365760" y="36484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1000" dirty="0"/>
          </a:p>
        </p:txBody>
      </p:sp>
      <p:sp>
        <p:nvSpPr>
          <p:cNvPr id="81" name="Shape 81"/>
          <p:cNvSpPr/>
          <p:nvPr/>
        </p:nvSpPr>
        <p:spPr>
          <a:xfrm>
            <a:off x="365760" y="3888360"/>
            <a:ext cx="8412480" cy="685800"/>
          </a:xfrm>
          <a:prstGeom prst="roundRect">
            <a:avLst>
              <a:gd name="adj" fmla="val 6000"/>
            </a:avLst>
          </a:prstGeom>
          <a:solidFill>
            <a:srgbClr val="E6F5F5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82" name="Text 82"/>
          <p:cNvSpPr/>
          <p:nvPr/>
        </p:nvSpPr>
        <p:spPr>
          <a:xfrm>
            <a:off x="548640" y="38883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Customer Interaction Points to the foundation is exactly what powers “Preferred Time to Call.” </a:t>
            </a:r>
            <a:r>
              <a:rPr lang="en-US" sz="1000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Walked through step by step next.</a:t>
            </a:r>
          </a:p>
        </p:txBody>
      </p:sp>
      <p:sp>
        <p:nvSpPr>
          <p:cNvPr id="83" name="Text 83"/>
          <p:cNvSpPr/>
          <p:nvPr/>
        </p:nvSpPr>
        <p:spPr>
          <a:xfrm>
            <a:off x="365760" y="4620000"/>
            <a:ext cx="841248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anchor-plus-integration pattern powers every other use case in the portfolio (Slide 7).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5760" y="48508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 Knowledge Graph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12480" y="48508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USE CASE ILLUSTRATION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Time to Call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3E1D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7899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1078992"/>
            <a:ext cx="6720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the best time to contact a customer for the best chance of engagement?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841248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110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FOR INTEGRATION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249424"/>
            <a:ext cx="201168" cy="201168"/>
          </a:xfrm>
          <a:prstGeom prst="ellipse">
            <a:avLst/>
          </a:prstGeom>
          <a:solidFill>
            <a:srgbClr val="008B8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265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50976" y="2167128"/>
            <a:ext cx="3529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GSG Customer Interaction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560320"/>
            <a:ext cx="201168" cy="201168"/>
          </a:xfrm>
          <a:prstGeom prst="ellipse">
            <a:avLst/>
          </a:prstGeom>
          <a:solidFill>
            <a:srgbClr val="008B8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374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" y="2478024"/>
            <a:ext cx="3529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S360 Chat (Phone)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871216"/>
            <a:ext cx="201168" cy="201168"/>
          </a:xfrm>
          <a:prstGeom prst="ellipse">
            <a:avLst/>
          </a:prstGeom>
          <a:solidFill>
            <a:srgbClr val="008B8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483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50976" y="2788920"/>
            <a:ext cx="3529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UMDL Contact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46320" y="2249424"/>
            <a:ext cx="201168" cy="201168"/>
          </a:xfrm>
          <a:prstGeom prst="ellipse">
            <a:avLst/>
          </a:prstGeom>
          <a:solidFill>
            <a:srgbClr val="008B8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2265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57216" y="2167128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Genesys IVR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46320" y="2560320"/>
            <a:ext cx="201168" cy="201168"/>
          </a:xfrm>
          <a:prstGeom prst="ellipse">
            <a:avLst/>
          </a:prstGeom>
          <a:solidFill>
            <a:srgbClr val="008B8B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5374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57216" y="2478024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Genesys IVR Transactional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DCF2E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44728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F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7033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contact-time prediction, per customer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26280" y="3337560"/>
            <a:ext cx="4251960" cy="868680"/>
          </a:xfrm>
          <a:prstGeom prst="roundRect">
            <a:avLst>
              <a:gd name="adj" fmla="val 6316"/>
            </a:avLst>
          </a:prstGeom>
          <a:solidFill>
            <a:srgbClr val="0B2A4D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344728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37033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engagement rates &amp; reduced customer fatigue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65760" y="48508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 Knowledge Graph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8508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HOW ENRICHMENT HAPPENS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Base Entities to a Fatigue-Aware Contact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two-table foundation is extended with three additional layers of interaction and outreach data.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29260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48840" y="14173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0" y="14173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in the Graph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09928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099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C360 Entities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48840" y="17099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customer_360_demographic, customer_360_commercial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5394960" y="17099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customer; attach aggregated engagement / fatigue features.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365760" y="2167128"/>
            <a:ext cx="841248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671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Channels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48840" y="21671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GSG Customer Interaction, Genesys IVR (+ transactional), S360 Chat (Phone), UMDL Contact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5394960" y="21671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time-stamped interaction nodes across voice, chat and app/web channels.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365760" y="2624328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243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Outreach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48840" y="26243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UMDL contact / campaign event sources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5394960" y="26243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outbound marketing touches as additional journey-event nodes.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365760" y="3081528"/>
            <a:ext cx="841248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815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CX Metrics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48840" y="30815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chat volumes, handle times, satisfaction scores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5394960" y="30815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contact-hour and contact-day distributions; build fatigue scores.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0B2A4D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7947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IMPACT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399592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E6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past-due customer answered weekday 6–8 PM calls but ignored mornings; seven touches in seven days signalled high fatigue. The graph scheduled the next call for Tuesday 7 PM and suppressed promotional email — lifting contact and payment-promise rates without adding regulatory risk.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65760" y="48508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 Knowledge Graph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48508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— WHERE ELSE THIS PATTERN APPLIES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Portfolio of Possible Use Cases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card below reuses the same two-table foundation — only the integrated sources change.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1993392" cy="1575054"/>
          </a:xfrm>
          <a:prstGeom prst="roundRect">
            <a:avLst>
              <a:gd name="adj" fmla="val 4064"/>
            </a:avLst>
          </a:prstGeom>
          <a:solidFill>
            <a:srgbClr val="F4F6F8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60934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&amp; Financial Crime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3776" y="2103120"/>
            <a:ext cx="1737360" cy="8618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people, accounts, devices &amp; merchants to detect rings and mules earlier.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05456" y="1481328"/>
            <a:ext cx="1993392" cy="1575054"/>
          </a:xfrm>
          <a:prstGeom prst="roundRect">
            <a:avLst>
              <a:gd name="adj" fmla="val 4064"/>
            </a:avLst>
          </a:prstGeom>
          <a:solidFill>
            <a:srgbClr val="F4F6F8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60934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Risk &amp; Underwriting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33472" y="2103120"/>
            <a:ext cx="1737360" cy="8618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household, ownership &amp; corporate hierarchies to price risk more fairly.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45152" y="1481328"/>
            <a:ext cx="1993392" cy="1575054"/>
          </a:xfrm>
          <a:prstGeom prst="roundRect">
            <a:avLst>
              <a:gd name="adj" fmla="val 4064"/>
            </a:avLst>
          </a:prstGeom>
          <a:solidFill>
            <a:srgbClr val="F4F6F8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60934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Intent &amp; Next-Best-Action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73168" y="2103120"/>
            <a:ext cx="1737360" cy="8618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interactions, intents, journeys &amp; offers to predict what to do next.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84848" y="1481328"/>
            <a:ext cx="1993392" cy="1575054"/>
          </a:xfrm>
          <a:prstGeom prst="roundRect">
            <a:avLst>
              <a:gd name="adj" fmla="val 4064"/>
            </a:avLst>
          </a:prstGeom>
          <a:solidFill>
            <a:srgbClr val="F4F6F8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60934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Compliance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12864" y="2103120"/>
            <a:ext cx="1737360" cy="8618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any decision from policy to model to data to customer.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3202686"/>
            <a:ext cx="1993392" cy="1575054"/>
          </a:xfrm>
          <a:prstGeom prst="roundRect">
            <a:avLst>
              <a:gd name="adj" fmla="val 4064"/>
            </a:avLst>
          </a:prstGeom>
          <a:solidFill>
            <a:srgbClr val="0B2A4D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" y="3312414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008B8B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31241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93776" y="355015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Time to Call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" y="3824478"/>
            <a:ext cx="1737360" cy="8618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7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 best time/channel to contact — and when not to.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05456" y="3202686"/>
            <a:ext cx="1993392" cy="1575054"/>
          </a:xfrm>
          <a:prstGeom prst="roundRect">
            <a:avLst>
              <a:gd name="adj" fmla="val 4064"/>
            </a:avLst>
          </a:prstGeom>
          <a:solidFill>
            <a:srgbClr val="F4F6F8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333070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&amp; Synthetic Identity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33472" y="3824478"/>
            <a:ext cx="1737360" cy="8618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phones, devices, IPs &amp; addresses to catch synthetic IDs and ATO.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45152" y="3202686"/>
            <a:ext cx="1993392" cy="1575054"/>
          </a:xfrm>
          <a:prstGeom prst="roundRect">
            <a:avLst>
              <a:gd name="adj" fmla="val 4064"/>
            </a:avLst>
          </a:prstGeom>
          <a:solidFill>
            <a:srgbClr val="F4F6F8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33070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&amp; RT Journey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73168" y="3824478"/>
            <a:ext cx="1737360" cy="8618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full household/corporate network and live in-flight journey state.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84848" y="3202686"/>
            <a:ext cx="1993392" cy="1575054"/>
          </a:xfrm>
          <a:prstGeom prst="roundRect">
            <a:avLst>
              <a:gd name="adj" fmla="val 4064"/>
            </a:avLst>
          </a:prstGeom>
          <a:solidFill>
            <a:srgbClr val="E6F5F5"/>
          </a:solidFill>
          <a:ln w="12700">
            <a:solidFill>
              <a:srgbClr val="008B8B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912864" y="333070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Use Case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12864" y="3824478"/>
            <a:ext cx="1737360" cy="8618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foundation, same pattern — any new signal integrates the same way.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" y="48508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 Knowledge Graph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12480" y="48508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Tables to Connected Intelligence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51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base tables. One enrichment pattern. A growing set of use cases.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627632"/>
            <a:ext cx="146304" cy="146304"/>
          </a:xfrm>
          <a:prstGeom prst="ellipse">
            <a:avLst/>
          </a:prstGeom>
          <a:solidFill>
            <a:srgbClr val="008B8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4533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on customer_360_demographic and customer_360_commercial as the base entities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084832"/>
            <a:ext cx="146304" cy="146304"/>
          </a:xfrm>
          <a:prstGeom prst="ellipse">
            <a:avLst/>
          </a:prstGeom>
          <a:solidFill>
            <a:srgbClr val="008B8B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00253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Systematically integrate additional sources, one enrichment layer per use case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42032"/>
            <a:ext cx="146304" cy="146304"/>
          </a:xfrm>
          <a:prstGeom prst="ellipse">
            <a:avLst/>
          </a:prstGeom>
          <a:solidFill>
            <a:srgbClr val="008B8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45973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each use case around a concrete example and a measurable impact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99232"/>
            <a:ext cx="146304" cy="146304"/>
          </a:xfrm>
          <a:prstGeom prst="ellipse">
            <a:avLst/>
          </a:prstGeom>
          <a:solidFill>
            <a:srgbClr val="008B8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91693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 graph capabilities already proven in production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456432"/>
            <a:ext cx="146304" cy="146304"/>
          </a:xfrm>
          <a:prstGeom prst="ellipse">
            <a:avLst/>
          </a:prstGeom>
          <a:solidFill>
            <a:srgbClr val="008B8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37413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the foundational layer for next-generation AI agents and decision systems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13385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97764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approach builds on capabilities already in production — fraud clustering, C360 linkages, data lineage and real-time journeys — rather than starting from scratch.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508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 Knowledge Graph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0" y="48508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DATA FOUNDATION</a:t>
            </a:r>
            <a:endParaRPr lang="en-US" sz="1200" dirty="0"/>
          </a:p>
        </p:txBody>
      </p:sp>
      <p:sp>
        <p:nvSpPr>
          <p:cNvPr id="90" name="Shape 90"/>
          <p:cNvSpPr/>
          <p:nvPr/>
        </p:nvSpPr>
        <p:spPr>
          <a:xfrm>
            <a:off x="6858000" y="27432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C46A1E"/>
          </a:solidFill>
          <a:ln>
            <a:noFill/>
          </a:ln>
        </p:spPr>
      </p:sp>
      <p:sp>
        <p:nvSpPr>
          <p:cNvPr id="91" name="Text 91"/>
          <p:cNvSpPr/>
          <p:nvPr/>
        </p:nvSpPr>
        <p:spPr>
          <a:xfrm>
            <a:off x="6858000" y="2743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DATA PENDING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C360 Table Schema &amp; Knowledge Graph Mapping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column in both base tables will be categorized and mapped to a KG node or property.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2940" y="150876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00336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154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customer_360_demographic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1540" y="21122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 cols → 2,730 KG elements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23460" y="150876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00336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5206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customer_360_commercial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52060" y="21122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 cols → 2,300 KG elements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2560320"/>
            <a:ext cx="0" cy="320040"/>
          </a:xfrm>
          <a:prstGeom prst="line">
            <a:avLst/>
          </a:prstGeom>
          <a:noFill/>
          <a:ln w="25400">
            <a:solidFill>
              <a:srgbClr val="008B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4489704" y="2834640"/>
            <a:ext cx="164592" cy="128016"/>
          </a:xfrm>
          <a:prstGeom prst="triangle">
            <a:avLst/>
          </a:prstGeom>
          <a:solidFill>
            <a:srgbClr val="008B8B"/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3017520"/>
            <a:ext cx="1645920" cy="502920"/>
          </a:xfrm>
          <a:prstGeom prst="ellipse">
            <a:avLst/>
          </a:prstGeom>
          <a:solidFill>
            <a:srgbClr val="E6F5F5"/>
          </a:solidFill>
          <a:ln w="19050">
            <a:solidFill>
              <a:srgbClr val="008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017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Identifiers &amp; Full Schema Mapping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5780" y="397764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" y="40507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Identifiers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" y="427024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per table (e.g., customer_id, account_id) — to be confirmed.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68980" y="397764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6140" y="40507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Categories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06140" y="427024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breakdown (Identity, Contact, Risk, Behavioral, etc.) — pending final list.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12180" y="397764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9340" y="40507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Visualization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49340" y="427024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the live knowledge graph visualization — to be added here.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8508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 Knowledge Graph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48508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2026-07-17T17:30:00Z</dcterms:created>
  <dcterms:modified xsi:type="dcterms:W3CDTF">2026-07-17T17:30:00Z</dcterms:modified>
</cp:coreProperties>
</file>