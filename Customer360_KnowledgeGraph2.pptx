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120640" cy="512064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2331720"/>
            <a:ext cx="1554480" cy="1554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8205" y="2735885"/>
            <a:ext cx="746150" cy="746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 ·  CUSTOMER 360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Identity Resolution for New Credit Card Applications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Graph approach to relationship-aware Customer 360 matching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5029200"/>
            <a:ext cx="2926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·  Root Causes  ·  Proposed Solution  ·  Evaluation Plan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Customer 360 Identity Resolution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2743200"/>
          </a:xfrm>
          <a:prstGeom prst="roundRect">
            <a:avLst>
              <a:gd name="adj" fmla="val 2667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3035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maintains a comprehensive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repository containing existing customer identities across consumer and commercial businesses.</a:t>
            </a:r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 new credit card application is received, the system must correctly determine who the applicant really is — and how they relate to anyone already on file.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66560" y="1554480"/>
            <a:ext cx="48463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31152" y="171907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8553" y="1866473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62672" y="1554480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completely new customer?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2615184"/>
            <a:ext cx="48463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31152" y="2779776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553" y="292717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62672" y="261518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an existing customer?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766560" y="3675888"/>
            <a:ext cx="48463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31152" y="38404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553" y="39878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62672" y="3675888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related to an existing customer through family, business, or organizational ties?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19" name="Text 14"/>
          <p:cNvSpPr/>
          <p:nvPr/>
        </p:nvSpPr>
        <p:spPr>
          <a:xfrm>
            <a:off x="86868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THIS DECISION DIRECTLY IMPACTS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1399032" y="5074920"/>
            <a:ext cx="512064" cy="512064"/>
          </a:xfrm>
          <a:prstGeom prst="ellipse">
            <a:avLst/>
          </a:prstGeom>
          <a:solidFill>
            <a:srgbClr val="3A458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169" y="5208057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5650992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611880" y="5074920"/>
            <a:ext cx="512064" cy="512064"/>
          </a:xfrm>
          <a:prstGeom prst="ellipse">
            <a:avLst/>
          </a:prstGeom>
          <a:solidFill>
            <a:srgbClr val="3A458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5017" y="5208057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852928" y="5650992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824728" y="5074920"/>
            <a:ext cx="512064" cy="512064"/>
          </a:xfrm>
          <a:prstGeom prst="ellipse">
            <a:avLst/>
          </a:prstGeom>
          <a:solidFill>
            <a:srgbClr val="3A4585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865" y="5208057"/>
            <a:ext cx="245791" cy="24579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65776" y="5650992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8037576" y="5074920"/>
            <a:ext cx="512064" cy="512064"/>
          </a:xfrm>
          <a:prstGeom prst="ellipse">
            <a:avLst/>
          </a:prstGeom>
          <a:solidFill>
            <a:srgbClr val="3A4585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713" y="5208057"/>
            <a:ext cx="245791" cy="24579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278624" y="5650992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10250424" y="5074920"/>
            <a:ext cx="512064" cy="512064"/>
          </a:xfrm>
          <a:prstGeom prst="ellipse">
            <a:avLst/>
          </a:prstGeom>
          <a:solidFill>
            <a:srgbClr val="3A4585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3561" y="5208057"/>
            <a:ext cx="245791" cy="245791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491472" y="5650992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Customer 360 Matching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Credit Card Application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651760" y="2258568"/>
            <a:ext cx="0" cy="201168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45973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45973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Search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651760" y="3118104"/>
            <a:ext cx="0" cy="201168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31927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AF0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1927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Identity Matching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600200" y="4087368"/>
            <a:ext cx="105156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51760" y="4087368"/>
            <a:ext cx="105156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270248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2702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4270248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EAF0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88920" y="42702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1572768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MATCHING RELIES 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66360" y="19202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6212" y="2020092"/>
            <a:ext cx="184343" cy="18434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641848" y="1920240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similarity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978140" y="19202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992" y="2020092"/>
            <a:ext cx="184343" cy="18434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453628" y="1920240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166360" y="248716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212" y="2587020"/>
            <a:ext cx="184343" cy="18434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641848" y="2487168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978140" y="248716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992" y="2587020"/>
            <a:ext cx="184343" cy="18434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453628" y="2487168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National ID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166360" y="305409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212" y="3153948"/>
            <a:ext cx="184343" cy="18434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641848" y="3054096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78140" y="305409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992" y="3153948"/>
            <a:ext cx="184343" cy="184343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3628" y="3054096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5166360" y="362102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6212" y="3720876"/>
            <a:ext cx="184343" cy="18434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641848" y="3621024"/>
            <a:ext cx="221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demographic attributes</a:t>
            </a:r>
            <a:endParaRPr lang="en-US" sz="1250" dirty="0"/>
          </a:p>
        </p:txBody>
      </p:sp>
      <p:sp>
        <p:nvSpPr>
          <p:cNvPr id="40" name="Shape 31"/>
          <p:cNvSpPr/>
          <p:nvPr/>
        </p:nvSpPr>
        <p:spPr>
          <a:xfrm>
            <a:off x="5166360" y="4325112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FDF1DF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5349240" y="45537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8112" y="4672584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943600" y="438912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decisions rely heavily on attribute similarity with limited understanding of relationships.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CHALLENGES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Major Issues With Rule-Based Matching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0766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02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Over-Linking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individuals are incorrectly merged into one customer.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3611880"/>
            <a:ext cx="4709160" cy="0"/>
          </a:xfrm>
          <a:prstGeom prst="line">
            <a:avLst/>
          </a:prstGeom>
          <a:noFill/>
          <a:ln w="9525">
            <a:solidFill>
              <a:srgbClr val="B3261E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68680" y="37490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4041648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violations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customer profile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DF1D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1874520"/>
            <a:ext cx="777240" cy="77724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762" y="2076602"/>
            <a:ext cx="373075" cy="3730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19202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Under-Linking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583680" y="27889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individual receives multiple customer identities.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583680" y="3611880"/>
            <a:ext cx="4709160" cy="0"/>
          </a:xfrm>
          <a:prstGeom prst="line">
            <a:avLst/>
          </a:prstGeom>
          <a:noFill/>
          <a:ln w="9525">
            <a:solidFill>
              <a:srgbClr val="B45309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6583680" y="37490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583680" y="4041648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customers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exposure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customer experience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credit decisions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OVER-LINKING · EXAMPLES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Different People Get Merged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64792"/>
            <a:ext cx="23088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23260" y="1764792"/>
            <a:ext cx="24003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039112"/>
            <a:ext cx="23088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Robert Downey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23260" y="2039112"/>
            <a:ext cx="24003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Robert Downey Jr.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03220" y="2240280"/>
            <a:ext cx="365760" cy="0"/>
          </a:xfrm>
          <a:prstGeom prst="line">
            <a:avLst/>
          </a:prstGeom>
          <a:noFill/>
          <a:ln w="22225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560320"/>
            <a:ext cx="4800600" cy="0"/>
          </a:xfrm>
          <a:prstGeom prst="line">
            <a:avLst/>
          </a:prstGeom>
          <a:noFill/>
          <a:ln w="9525">
            <a:solidFill>
              <a:srgbClr val="E1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51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names + same address → rule engine may incorrectly merge both identities.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764792"/>
            <a:ext cx="23088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38260" y="1764792"/>
            <a:ext cx="24003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37960" y="2039112"/>
            <a:ext cx="23088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Ankit Yadav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38260" y="2039112"/>
            <a:ext cx="24003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Ankita Yadav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18220" y="2240280"/>
            <a:ext cx="365760" cy="0"/>
          </a:xfrm>
          <a:prstGeom prst="line">
            <a:avLst/>
          </a:prstGeom>
          <a:noFill/>
          <a:ln w="22225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37960" y="2560320"/>
            <a:ext cx="4800600" cy="0"/>
          </a:xfrm>
          <a:prstGeom prst="line">
            <a:avLst/>
          </a:prstGeom>
          <a:noFill/>
          <a:ln w="9525">
            <a:solidFill>
              <a:srgbClr val="E1E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651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string similarity → incorrect identity linkage.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4211726"/>
            <a:ext cx="263347" cy="26334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5448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554480" y="443484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4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customer's information exposed to another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4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4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concerns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UNDER-LINKING ·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Person, Multiple Customer IDs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TODAY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applies for a card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2560320"/>
            <a:ext cx="453542" cy="3200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01338" y="2560320"/>
            <a:ext cx="453542" cy="3200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880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DF1D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ID 101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83280" y="2880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DF1D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ID 248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160020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1965960"/>
            <a:ext cx="5166360" cy="594360"/>
          </a:xfrm>
          <a:prstGeom prst="roundRect">
            <a:avLst>
              <a:gd name="adj" fmla="val 12308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96596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29700" y="2560320"/>
            <a:ext cx="0" cy="3200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58100" y="288036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55380" y="30358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8026" y="3178454"/>
            <a:ext cx="263347" cy="26334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65810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Customer ID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548640" y="45720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DF1D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22960" y="4800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4931359"/>
            <a:ext cx="241402" cy="24140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50876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1508760" y="50292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customer records   •   Fraud risk   •   Incorrect credit exposure   •   Poor servicing experience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CASES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Scenarios That Challenge Rule-Based Matching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EAF0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93926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Father &amp; Son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address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names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SSN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3649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they be linked?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01368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692" y="1939260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7830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Twins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44652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date of birth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address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national ID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46520" y="33649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similarity → different individuals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DF1D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133088"/>
            <a:ext cx="530352" cy="530352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4270980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1148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+ Corporate Cards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2960" y="48006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individual holds a personal card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a corporate card tied to a business obligor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" y="56967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connect identities across Consumer &amp; Commercial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72200" y="39319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0" y="4133088"/>
            <a:ext cx="530352" cy="530352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692" y="4270980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41148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Companies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6446520" y="48006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obligor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Company A, B, and C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46520" y="56967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traversal across multiple business entities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Matching Falls Short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rule engine primarily compares flat attributes: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031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24912" y="21031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24912" y="21031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01184" y="21031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01184" y="21031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77456" y="21031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77456" y="21031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253728" y="21031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53728" y="21031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0881360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CAPABILITY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89888" y="390448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005" y="4018605"/>
            <a:ext cx="210678" cy="21067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43434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understanding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07208" y="379476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48456" y="390448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573" y="4018605"/>
            <a:ext cx="210678" cy="21067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807208" y="43434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connections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065776" y="379476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907024" y="390448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141" y="4018605"/>
            <a:ext cx="210678" cy="21067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065776" y="43434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reasoning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324344" y="379476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165592" y="390448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709" y="4018605"/>
            <a:ext cx="210678" cy="21067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24344" y="43434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hierarchy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9582912" y="379476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424160" y="390448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277" y="4018605"/>
            <a:ext cx="210678" cy="21067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582912" y="43434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relationships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48640" y="4983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38" name="Shape 31"/>
          <p:cNvSpPr/>
          <p:nvPr/>
        </p:nvSpPr>
        <p:spPr>
          <a:xfrm>
            <a:off x="804672" y="5193792"/>
            <a:ext cx="548640" cy="548640"/>
          </a:xfrm>
          <a:prstGeom prst="ellipse">
            <a:avLst/>
          </a:prstGeom>
          <a:solidFill>
            <a:srgbClr val="3A4585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5336438"/>
            <a:ext cx="263347" cy="26334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554480" y="498348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and false negatives increase as data complexity grows.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360 + Knowledge Graph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only comparing attributes, represent customers and their relationships as a connected graph.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691640" cy="1691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556662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67151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40280" y="3131820"/>
            <a:ext cx="65151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2240280" y="2628900"/>
            <a:ext cx="6515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OWNS_CARD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91790" y="2286000"/>
            <a:ext cx="1691640" cy="1691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115" y="2556662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1790" y="3267151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83430" y="3131820"/>
            <a:ext cx="65151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4583430" y="2628900"/>
            <a:ext cx="6515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234940" y="2286000"/>
            <a:ext cx="1691640" cy="1691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2556662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4940" y="3267151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926580" y="3131820"/>
            <a:ext cx="65151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Text 14"/>
          <p:cNvSpPr/>
          <p:nvPr/>
        </p:nvSpPr>
        <p:spPr>
          <a:xfrm>
            <a:off x="6926580" y="2628900"/>
            <a:ext cx="6515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578090" y="2286000"/>
            <a:ext cx="1691640" cy="1691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415" y="2556662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78090" y="3267151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9269730" y="3131820"/>
            <a:ext cx="65151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Text 18"/>
          <p:cNvSpPr/>
          <p:nvPr/>
        </p:nvSpPr>
        <p:spPr>
          <a:xfrm>
            <a:off x="9269730" y="2628900"/>
            <a:ext cx="6515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HAS_OBLIGOR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921240" y="2286000"/>
            <a:ext cx="1691640" cy="1691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565" y="2556662"/>
            <a:ext cx="608990" cy="6089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21240" y="3267151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Obligor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864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RELATIONSHIP TYPES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4572000"/>
            <a:ext cx="1152144" cy="43891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48640" y="4572000"/>
            <a:ext cx="1152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LIVES_AT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1883664" y="4572000"/>
            <a:ext cx="1248156" cy="43891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883664" y="4572000"/>
            <a:ext cx="1248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HAS_PHONE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3314700" y="4572000"/>
            <a:ext cx="1248156" cy="43891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314700" y="4572000"/>
            <a:ext cx="1248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HAS_EMAIL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4745736" y="4572000"/>
            <a:ext cx="1248156" cy="43891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745736" y="4572000"/>
            <a:ext cx="1248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FAMILY_OF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6176772" y="4572000"/>
            <a:ext cx="1248156" cy="43891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176772" y="4572000"/>
            <a:ext cx="1248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WORKS_FOR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7607808" y="4572000"/>
            <a:ext cx="1440180" cy="43891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607808" y="4572000"/>
            <a:ext cx="14401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SAME_GOV_ID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9230868" y="4572000"/>
            <a:ext cx="1440180" cy="43891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9230868" y="4572000"/>
            <a:ext cx="14401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HAS_PRODUCT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Resolution Using the Knowledge Graph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3F6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Credit Card Application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06040" y="2221992"/>
            <a:ext cx="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40487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3F6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404872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Identity Attributes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06040" y="3026664"/>
            <a:ext cx="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20954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3F6FD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0954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Customer 360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06040" y="3831336"/>
            <a:ext cx="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401421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014216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Traversal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4325112"/>
            <a:ext cx="3200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166360" y="1572768"/>
            <a:ext cx="6446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EVALUATES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66360" y="1938528"/>
            <a:ext cx="6446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938528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292840" y="208483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2395728"/>
            <a:ext cx="0" cy="128016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2523744"/>
            <a:ext cx="6446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523744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1292840" y="267004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5303520" y="2980944"/>
            <a:ext cx="0" cy="128016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66360" y="3108960"/>
            <a:ext cx="6446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108960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292840" y="325526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0" y="3566160"/>
            <a:ext cx="0" cy="128016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66360" y="3694176"/>
            <a:ext cx="6446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3694176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Relationships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1292840" y="384048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Shape 30"/>
          <p:cNvSpPr/>
          <p:nvPr/>
        </p:nvSpPr>
        <p:spPr>
          <a:xfrm>
            <a:off x="5303520" y="4151376"/>
            <a:ext cx="0" cy="128016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166360" y="4279392"/>
            <a:ext cx="6446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4279392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Obligor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1292840" y="442569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5303520" y="4736592"/>
            <a:ext cx="0" cy="128016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166360" y="4864608"/>
            <a:ext cx="6446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4864608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1292840" y="501091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Shape 38"/>
          <p:cNvSpPr/>
          <p:nvPr/>
        </p:nvSpPr>
        <p:spPr>
          <a:xfrm>
            <a:off x="2606040" y="4773168"/>
            <a:ext cx="0" cy="3200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48640" y="513892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51389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Match Confidence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700784" y="5641848"/>
            <a:ext cx="905256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606040" y="5641848"/>
            <a:ext cx="905256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48640" y="5824728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" y="58247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Existing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697480" y="5824728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AF0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697480" y="58247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Customer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Paths Instead of Opaque Match Scores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SAYING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1F2F5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trike="sngStrike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Score = 91%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(opaque, hard to audit)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EXPLAINS WHY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Government ID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personal card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card owned by same individual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through Business → Obligor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1600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GRAPH PATH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0" y="196596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196596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0" y="2624328"/>
            <a:ext cx="0" cy="164592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54964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address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278892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78892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12480" y="3447288"/>
            <a:ext cx="0" cy="164592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549640" y="34290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361188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361188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Corporate Card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12480" y="4270248"/>
            <a:ext cx="0" cy="164592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549640" y="42519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obligor 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12080" y="443484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443484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0" y="5093208"/>
            <a:ext cx="0" cy="164592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212080" y="525780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40680" y="525780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Knowledge Graph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187452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4210" y="20884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Identity Resolution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Father–Son relationships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Twins with shared attributes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address handling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+ Corporate cards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business entities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relationships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8745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50" y="20884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768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Risks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42900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over-linking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under-linking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fraud detection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credit decisions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experience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protection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0" y="1874520"/>
            <a:ext cx="822960" cy="82296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290" y="20884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66760" y="342900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linkage explained through graph paths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opaque matching scores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transparency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▪"/>
            </a:pPr>
            <a:r>
              <a:rPr lang="en-US" sz="1300" dirty="0">
                <a:solidFill>
                  <a:srgbClr val="27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auditability for compliance teams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Complementary, Not a Replacement,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AF0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Graph is not intended to replace the existing rule engine immediately — it runs alongside it for evaluation.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17720" y="242316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3F6FD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2423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Credit Card Application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971800"/>
            <a:ext cx="2697480" cy="3657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2971800"/>
            <a:ext cx="2697480" cy="3657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28800" y="333756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EAF0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0" y="33375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Rule Engine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333756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33375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3931920"/>
            <a:ext cx="2697480" cy="3200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80760" y="3931920"/>
            <a:ext cx="2697480" cy="3200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17720" y="425196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4251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4800600"/>
            <a:ext cx="0" cy="914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5780" y="51206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11580" y="5193792"/>
            <a:ext cx="0" cy="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5193792"/>
            <a:ext cx="914400" cy="914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25780" y="5120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400300" y="51206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086100" y="5193792"/>
            <a:ext cx="0" cy="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5193792"/>
            <a:ext cx="914400" cy="9144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400300" y="5120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274820" y="51206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960620" y="5193792"/>
            <a:ext cx="0" cy="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5193792"/>
            <a:ext cx="914400" cy="9144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274820" y="5120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Over-Linking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149340" y="51206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835140" y="5193792"/>
            <a:ext cx="0" cy="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5193792"/>
            <a:ext cx="914400" cy="9144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149340" y="5120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Under-Linking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8023860" y="51206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8709660" y="5193792"/>
            <a:ext cx="0" cy="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660" y="5193792"/>
            <a:ext cx="914400" cy="9144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023860" y="5120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Cases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9898380" y="51206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E1F5F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584180" y="5193792"/>
            <a:ext cx="0" cy="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4180" y="5193792"/>
            <a:ext cx="914400" cy="9144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898380" y="5120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evaluation on difficult scenarios where the current rule-based approach struggles.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vs. With Knowledge Graph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KNOWLEDGE 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matching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F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Relationship-aware matching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explainability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F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graph paths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false positives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F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over-linking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false negatives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F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under-linking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and Commercial disconnected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F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Customer 360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3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corner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F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 relationship traversal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572000" cy="457200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360 + Knowledge Graph = Smarter Identity Resolution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3A458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2061058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1109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existing Customer 360 for every new credit card application.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365760" cy="365760"/>
          </a:xfrm>
          <a:prstGeom prst="ellipse">
            <a:avLst/>
          </a:prstGeom>
          <a:solidFill>
            <a:srgbClr val="3A458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2627986"/>
            <a:ext cx="175565" cy="175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4780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relationships across people, cards, accounts, businesses, and obligors.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099816"/>
            <a:ext cx="365760" cy="365760"/>
          </a:xfrm>
          <a:prstGeom prst="ellipse">
            <a:avLst/>
          </a:prstGeom>
          <a:solidFill>
            <a:srgbClr val="3A458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3194914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04495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graph evidence alongside existing rules to make more accurate and explainable identity decisions.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666744"/>
            <a:ext cx="365760" cy="365760"/>
          </a:xfrm>
          <a:prstGeom prst="ellipse">
            <a:avLst/>
          </a:prstGeom>
          <a:solidFill>
            <a:srgbClr val="3A458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8" y="3761842"/>
            <a:ext cx="175565" cy="1755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6118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Knowledge Graph against the current rule-based engine, particularly for challenging corner cases, before considering broader adoption.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27317A"/>
          </a:solidFill>
          <a:ln/>
        </p:spPr>
      </p:sp>
      <p:sp>
        <p:nvSpPr>
          <p:cNvPr id="18" name="Text 12"/>
          <p:cNvSpPr/>
          <p:nvPr/>
        </p:nvSpPr>
        <p:spPr>
          <a:xfrm>
            <a:off x="868680" y="4681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68680" y="49834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complementary capability that enhances Customer 360 by improving identity resolution accuracy, reducing business risk, and providing transparent, auditable linkage decisions.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Customer 360 Identity Resolution</dc:title>
  <dc:subject>PptxGenJS Presentation</dc:subject>
  <dc:creator>American Express</dc:creator>
  <cp:lastModifiedBy>American Express</cp:lastModifiedBy>
  <cp:revision>1</cp:revision>
  <dcterms:created xsi:type="dcterms:W3CDTF">2026-07-06T18:04:06Z</dcterms:created>
  <dcterms:modified xsi:type="dcterms:W3CDTF">2026-07-06T18:04:06Z</dcterms:modified>
</cp:coreProperties>
</file>