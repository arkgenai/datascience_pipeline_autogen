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sp>
        <p:nvSpPr>
          <p:cNvPr id="3" name="Text 1"/>
          <p:cNvSpPr/>
          <p:nvPr/>
        </p:nvSpPr>
        <p:spPr>
          <a:xfrm>
            <a:off x="411480" y="1097280"/>
            <a:ext cx="8321040" cy="91440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5 Novel Patent Ideas</a:t>
            </a:r>
            <a:endParaRPr lang="en-US" sz="4200" dirty="0"/>
          </a:p>
        </p:txBody>
      </p:sp>
      <p:sp>
        <p:nvSpPr>
          <p:cNvPr id="4" name="Text 2"/>
          <p:cNvSpPr/>
          <p:nvPr/>
        </p:nvSpPr>
        <p:spPr>
          <a:xfrm>
            <a:off x="411480" y="2057400"/>
            <a:ext cx="8321040" cy="640080"/>
          </a:xfrm>
          <a:prstGeom prst="rect">
            <a:avLst/>
          </a:prstGeom>
          <a:noFill/>
          <a:ln/>
        </p:spPr>
        <p:txBody>
          <a:bodyPr wrap="square" rtlCol="0" anchor="ctr"/>
          <a:lstStyle/>
          <a:p>
            <a:pPr indent="0" marL="0">
              <a:buNone/>
            </a:pPr>
            <a:r>
              <a:rPr lang="en-US" sz="2200" dirty="0">
                <a:solidFill>
                  <a:srgbClr val="90E0EF"/>
                </a:solidFill>
                <a:latin typeface="Calibri" pitchFamily="34" charset="0"/>
                <a:ea typeface="Calibri" pitchFamily="34" charset="-122"/>
                <a:cs typeface="Calibri" pitchFamily="34" charset="-120"/>
              </a:rPr>
              <a:t>Reliable Autonomous Multi-Agent Planning &amp; Orchestration</a:t>
            </a:r>
            <a:endParaRPr lang="en-US" sz="2200" dirty="0"/>
          </a:p>
        </p:txBody>
      </p:sp>
      <p:sp>
        <p:nvSpPr>
          <p:cNvPr id="5" name="Shape 3"/>
          <p:cNvSpPr/>
          <p:nvPr/>
        </p:nvSpPr>
        <p:spPr>
          <a:xfrm>
            <a:off x="411480" y="2834640"/>
            <a:ext cx="8321040" cy="0"/>
          </a:xfrm>
          <a:prstGeom prst="line">
            <a:avLst/>
          </a:prstGeom>
          <a:noFill/>
          <a:ln w="19050">
            <a:solidFill>
              <a:srgbClr val="00B4D8"/>
            </a:solidFill>
            <a:prstDash val="solid"/>
          </a:ln>
        </p:spPr>
      </p:sp>
      <p:sp>
        <p:nvSpPr>
          <p:cNvPr id="6" name="Text 4"/>
          <p:cNvSpPr/>
          <p:nvPr/>
        </p:nvSpPr>
        <p:spPr>
          <a:xfrm>
            <a:off x="411480" y="2971800"/>
            <a:ext cx="8321040" cy="365760"/>
          </a:xfrm>
          <a:prstGeom prst="rect">
            <a:avLst/>
          </a:prstGeom>
          <a:noFill/>
          <a:ln/>
        </p:spPr>
        <p:txBody>
          <a:bodyPr wrap="square" rtlCol="0" anchor="ctr"/>
          <a:lstStyle/>
          <a:p>
            <a:pPr indent="0" marL="0">
              <a:buNone/>
            </a:pPr>
            <a:r>
              <a:rPr lang="en-US" sz="1300" dirty="0">
                <a:solidFill>
                  <a:srgbClr val="8EAFC2"/>
                </a:solidFill>
                <a:latin typeface="Calibri" pitchFamily="34" charset="0"/>
                <a:ea typeface="Calibri" pitchFamily="34" charset="-122"/>
                <a:cs typeface="Calibri" pitchFamily="34" charset="-120"/>
              </a:rPr>
              <a:t>Low prior-art overlap  ·  USPTO-ready claims  ·  Cross-domain innovation</a:t>
            </a:r>
            <a:endParaRPr lang="en-US" sz="1300" dirty="0"/>
          </a:p>
        </p:txBody>
      </p:sp>
      <p:sp>
        <p:nvSpPr>
          <p:cNvPr id="7" name="Shape 5"/>
          <p:cNvSpPr/>
          <p:nvPr/>
        </p:nvSpPr>
        <p:spPr>
          <a:xfrm>
            <a:off x="411480" y="3520440"/>
            <a:ext cx="2560320" cy="822960"/>
          </a:xfrm>
          <a:prstGeom prst="rect">
            <a:avLst/>
          </a:prstGeom>
          <a:solidFill>
            <a:srgbClr val="1A3A52"/>
          </a:solidFill>
          <a:ln w="12700">
            <a:solidFill>
              <a:srgbClr val="00B4D8"/>
            </a:solidFill>
            <a:prstDash val="solid"/>
          </a:ln>
        </p:spPr>
      </p:sp>
      <p:sp>
        <p:nvSpPr>
          <p:cNvPr id="8" name="Text 6"/>
          <p:cNvSpPr/>
          <p:nvPr/>
        </p:nvSpPr>
        <p:spPr>
          <a:xfrm>
            <a:off x="411480" y="3566160"/>
            <a:ext cx="2560320" cy="256032"/>
          </a:xfrm>
          <a:prstGeom prst="rect">
            <a:avLst/>
          </a:prstGeom>
          <a:noFill/>
          <a:ln/>
        </p:spPr>
        <p:txBody>
          <a:bodyPr wrap="square" lIns="0" tIns="0" rIns="0" bIns="0" rtlCol="0" anchor="ctr"/>
          <a:lstStyle/>
          <a:p>
            <a:pPr algn="ctr" indent="0" marL="0">
              <a:buNone/>
            </a:pPr>
            <a:r>
              <a:rPr lang="en-US" sz="900" dirty="0">
                <a:solidFill>
                  <a:srgbClr val="90E0EF"/>
                </a:solidFill>
              </a:rPr>
              <a:t>Est. Acceptance</a:t>
            </a:r>
            <a:endParaRPr lang="en-US" sz="900" dirty="0"/>
          </a:p>
        </p:txBody>
      </p:sp>
      <p:sp>
        <p:nvSpPr>
          <p:cNvPr id="9" name="Text 7"/>
          <p:cNvSpPr/>
          <p:nvPr/>
        </p:nvSpPr>
        <p:spPr>
          <a:xfrm>
            <a:off x="411480" y="3840480"/>
            <a:ext cx="2560320" cy="411480"/>
          </a:xfrm>
          <a:prstGeom prst="rect">
            <a:avLst/>
          </a:prstGeom>
          <a:noFill/>
          <a:ln/>
        </p:spPr>
        <p:txBody>
          <a:bodyPr wrap="square" lIns="0" tIns="0" rIns="0" bIns="0" rtlCol="0" anchor="ctr"/>
          <a:lstStyle/>
          <a:p>
            <a:pPr algn="ctr" indent="0" marL="0">
              <a:buNone/>
            </a:pPr>
            <a:r>
              <a:rPr lang="en-US" sz="2000" b="1" dirty="0">
                <a:solidFill>
                  <a:srgbClr val="FFFFFF"/>
                </a:solidFill>
              </a:rPr>
              <a:t>63–74%</a:t>
            </a:r>
            <a:endParaRPr lang="en-US" sz="2000" dirty="0"/>
          </a:p>
        </p:txBody>
      </p:sp>
      <p:sp>
        <p:nvSpPr>
          <p:cNvPr id="10" name="Shape 8"/>
          <p:cNvSpPr/>
          <p:nvPr/>
        </p:nvSpPr>
        <p:spPr>
          <a:xfrm>
            <a:off x="3291840" y="3520440"/>
            <a:ext cx="2560320" cy="822960"/>
          </a:xfrm>
          <a:prstGeom prst="rect">
            <a:avLst/>
          </a:prstGeom>
          <a:solidFill>
            <a:srgbClr val="1A3A52"/>
          </a:solidFill>
          <a:ln w="12700">
            <a:solidFill>
              <a:srgbClr val="00B4D8"/>
            </a:solidFill>
            <a:prstDash val="solid"/>
          </a:ln>
        </p:spPr>
      </p:sp>
      <p:sp>
        <p:nvSpPr>
          <p:cNvPr id="11" name="Text 9"/>
          <p:cNvSpPr/>
          <p:nvPr/>
        </p:nvSpPr>
        <p:spPr>
          <a:xfrm>
            <a:off x="3291840" y="3566160"/>
            <a:ext cx="2560320" cy="256032"/>
          </a:xfrm>
          <a:prstGeom prst="rect">
            <a:avLst/>
          </a:prstGeom>
          <a:noFill/>
          <a:ln/>
        </p:spPr>
        <p:txBody>
          <a:bodyPr wrap="square" lIns="0" tIns="0" rIns="0" bIns="0" rtlCol="0" anchor="ctr"/>
          <a:lstStyle/>
          <a:p>
            <a:pPr algn="ctr" indent="0" marL="0">
              <a:buNone/>
            </a:pPr>
            <a:r>
              <a:rPr lang="en-US" sz="900" dirty="0">
                <a:solidFill>
                  <a:srgbClr val="90E0EF"/>
                </a:solidFill>
              </a:rPr>
              <a:t>Est. Overlap</a:t>
            </a:r>
            <a:endParaRPr lang="en-US" sz="900" dirty="0"/>
          </a:p>
        </p:txBody>
      </p:sp>
      <p:sp>
        <p:nvSpPr>
          <p:cNvPr id="12" name="Text 10"/>
          <p:cNvSpPr/>
          <p:nvPr/>
        </p:nvSpPr>
        <p:spPr>
          <a:xfrm>
            <a:off x="3291840" y="3840480"/>
            <a:ext cx="2560320" cy="411480"/>
          </a:xfrm>
          <a:prstGeom prst="rect">
            <a:avLst/>
          </a:prstGeom>
          <a:noFill/>
          <a:ln/>
        </p:spPr>
        <p:txBody>
          <a:bodyPr wrap="square" lIns="0" tIns="0" rIns="0" bIns="0" rtlCol="0" anchor="ctr"/>
          <a:lstStyle/>
          <a:p>
            <a:pPr algn="ctr" indent="0" marL="0">
              <a:buNone/>
            </a:pPr>
            <a:r>
              <a:rPr lang="en-US" sz="2000" b="1" dirty="0">
                <a:solidFill>
                  <a:srgbClr val="FFFFFF"/>
                </a:solidFill>
              </a:rPr>
              <a:t>16–27%</a:t>
            </a:r>
            <a:endParaRPr lang="en-US" sz="2000" dirty="0"/>
          </a:p>
        </p:txBody>
      </p:sp>
      <p:sp>
        <p:nvSpPr>
          <p:cNvPr id="13" name="Shape 11"/>
          <p:cNvSpPr/>
          <p:nvPr/>
        </p:nvSpPr>
        <p:spPr>
          <a:xfrm>
            <a:off x="6172200" y="3520440"/>
            <a:ext cx="2560320" cy="822960"/>
          </a:xfrm>
          <a:prstGeom prst="rect">
            <a:avLst/>
          </a:prstGeom>
          <a:solidFill>
            <a:srgbClr val="1A3A52"/>
          </a:solidFill>
          <a:ln w="12700">
            <a:solidFill>
              <a:srgbClr val="00B4D8"/>
            </a:solidFill>
            <a:prstDash val="solid"/>
          </a:ln>
        </p:spPr>
      </p:sp>
      <p:sp>
        <p:nvSpPr>
          <p:cNvPr id="14" name="Text 12"/>
          <p:cNvSpPr/>
          <p:nvPr/>
        </p:nvSpPr>
        <p:spPr>
          <a:xfrm>
            <a:off x="6172200" y="3566160"/>
            <a:ext cx="2560320" cy="256032"/>
          </a:xfrm>
          <a:prstGeom prst="rect">
            <a:avLst/>
          </a:prstGeom>
          <a:noFill/>
          <a:ln/>
        </p:spPr>
        <p:txBody>
          <a:bodyPr wrap="square" lIns="0" tIns="0" rIns="0" bIns="0" rtlCol="0" anchor="ctr"/>
          <a:lstStyle/>
          <a:p>
            <a:pPr algn="ctr" indent="0" marL="0">
              <a:buNone/>
            </a:pPr>
            <a:r>
              <a:rPr lang="en-US" sz="900" dirty="0">
                <a:solidFill>
                  <a:srgbClr val="90E0EF"/>
                </a:solidFill>
              </a:rPr>
              <a:t>Est. Novelty</a:t>
            </a:r>
            <a:endParaRPr lang="en-US" sz="900" dirty="0"/>
          </a:p>
        </p:txBody>
      </p:sp>
      <p:sp>
        <p:nvSpPr>
          <p:cNvPr id="15" name="Text 13"/>
          <p:cNvSpPr/>
          <p:nvPr/>
        </p:nvSpPr>
        <p:spPr>
          <a:xfrm>
            <a:off x="6172200" y="3840480"/>
            <a:ext cx="2560320" cy="411480"/>
          </a:xfrm>
          <a:prstGeom prst="rect">
            <a:avLst/>
          </a:prstGeom>
          <a:noFill/>
          <a:ln/>
        </p:spPr>
        <p:txBody>
          <a:bodyPr wrap="square" lIns="0" tIns="0" rIns="0" bIns="0" rtlCol="0" anchor="ctr"/>
          <a:lstStyle/>
          <a:p>
            <a:pPr algn="ctr" indent="0" marL="0">
              <a:buNone/>
            </a:pPr>
            <a:r>
              <a:rPr lang="en-US" sz="2000" b="1" dirty="0">
                <a:solidFill>
                  <a:srgbClr val="FFFFFF"/>
                </a:solidFill>
              </a:rPr>
              <a:t>73–84%</a:t>
            </a:r>
            <a:endParaRPr lang="en-US" sz="2000" dirty="0"/>
          </a:p>
        </p:txBody>
      </p:sp>
      <p:sp>
        <p:nvSpPr>
          <p:cNvPr id="16" name="Text 14"/>
          <p:cNvSpPr/>
          <p:nvPr/>
        </p:nvSpPr>
        <p:spPr>
          <a:xfrm>
            <a:off x="411480" y="4754880"/>
            <a:ext cx="8321040" cy="256032"/>
          </a:xfrm>
          <a:prstGeom prst="rect">
            <a:avLst/>
          </a:prstGeom>
          <a:noFill/>
          <a:ln/>
        </p:spPr>
        <p:txBody>
          <a:bodyPr wrap="square" lIns="0" tIns="0" rIns="0" bIns="0" rtlCol="0" anchor="ctr"/>
          <a:lstStyle/>
          <a:p>
            <a:pPr algn="r" indent="0" marL="0">
              <a:buNone/>
            </a:pPr>
            <a:r>
              <a:rPr lang="en-US" sz="1000" dirty="0">
                <a:solidFill>
                  <a:srgbClr val="8EAFC2"/>
                </a:solidFill>
              </a:rPr>
              <a:t>GenAI Industry — May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w="12700">
            <a:solidFill>
              <a:srgbClr val="0D1B2A"/>
            </a:solidFill>
            <a:prstDash val="solid"/>
          </a:ln>
        </p:spPr>
      </p:sp>
      <p:sp>
        <p:nvSpPr>
          <p:cNvPr id="3" name="Shape 1"/>
          <p:cNvSpPr/>
          <p:nvPr/>
        </p:nvSpPr>
        <p:spPr>
          <a:xfrm>
            <a:off x="0" y="594360"/>
            <a:ext cx="9144000" cy="73152"/>
          </a:xfrm>
          <a:prstGeom prst="rect">
            <a:avLst/>
          </a:prstGeom>
          <a:solidFill>
            <a:srgbClr val="00B4D8"/>
          </a:solidFill>
          <a:ln w="12700">
            <a:solidFill>
              <a:srgbClr val="00B4D8"/>
            </a:solidFill>
            <a:prstDash val="solid"/>
          </a:ln>
        </p:spPr>
      </p:sp>
      <p:sp>
        <p:nvSpPr>
          <p:cNvPr id="4" name="Shape 2"/>
          <p:cNvSpPr/>
          <p:nvPr/>
        </p:nvSpPr>
        <p:spPr>
          <a:xfrm>
            <a:off x="274320" y="91440"/>
            <a:ext cx="1188720" cy="411480"/>
          </a:xfrm>
          <a:prstGeom prst="roundRect">
            <a:avLst>
              <a:gd name="adj" fmla="val 13333"/>
            </a:avLst>
          </a:prstGeom>
          <a:solidFill>
            <a:srgbClr val="00B4D8"/>
          </a:solidFill>
          <a:ln w="12700">
            <a:solidFill>
              <a:srgbClr val="00B4D8"/>
            </a:solidFill>
            <a:prstDash val="solid"/>
          </a:ln>
        </p:spPr>
      </p:sp>
      <p:sp>
        <p:nvSpPr>
          <p:cNvPr id="5" name="Text 3"/>
          <p:cNvSpPr/>
          <p:nvPr/>
        </p:nvSpPr>
        <p:spPr>
          <a:xfrm>
            <a:off x="274320" y="91440"/>
            <a:ext cx="1188720" cy="411480"/>
          </a:xfrm>
          <a:prstGeom prst="rect">
            <a:avLst/>
          </a:prstGeom>
          <a:noFill/>
          <a:ln/>
        </p:spPr>
        <p:txBody>
          <a:bodyPr wrap="square" lIns="0" tIns="0" rIns="0" bIns="0" rtlCol="0" anchor="ctr"/>
          <a:lstStyle/>
          <a:p>
            <a:pPr algn="ctr" indent="0" marL="0">
              <a:buNone/>
            </a:pPr>
            <a:r>
              <a:rPr lang="en-US" sz="1000" b="1" dirty="0">
                <a:solidFill>
                  <a:srgbClr val="0D1B2A"/>
                </a:solidFill>
              </a:rPr>
              <a:t>Patent Idea #1</a:t>
            </a:r>
            <a:endParaRPr lang="en-US" sz="1000" dirty="0"/>
          </a:p>
        </p:txBody>
      </p:sp>
      <p:sp>
        <p:nvSpPr>
          <p:cNvPr id="6" name="Text 4"/>
          <p:cNvSpPr/>
          <p:nvPr/>
        </p:nvSpPr>
        <p:spPr>
          <a:xfrm>
            <a:off x="1600200" y="73152"/>
            <a:ext cx="7315200" cy="301752"/>
          </a:xfrm>
          <a:prstGeom prst="rect">
            <a:avLst/>
          </a:prstGeom>
          <a:noFill/>
          <a:ln/>
        </p:spPr>
        <p:txBody>
          <a:bodyPr wrap="square" lIns="0" tIns="0" rIns="0" bIns="0" rtlCol="0" anchor="ctr"/>
          <a:lstStyle/>
          <a:p>
            <a:pPr indent="0" marL="0">
              <a:buNone/>
            </a:pPr>
            <a:r>
              <a:rPr lang="en-US" sz="1500" b="1" dirty="0">
                <a:solidFill>
                  <a:srgbClr val="FFFFFF"/>
                </a:solidFill>
              </a:rPr>
              <a:t>Counterfactual Rollback Planning via Do-Calculus Execution Trees</a:t>
            </a:r>
            <a:endParaRPr lang="en-US" sz="1500" dirty="0"/>
          </a:p>
        </p:txBody>
      </p:sp>
      <p:sp>
        <p:nvSpPr>
          <p:cNvPr id="7" name="Text 5"/>
          <p:cNvSpPr/>
          <p:nvPr/>
        </p:nvSpPr>
        <p:spPr>
          <a:xfrm>
            <a:off x="1600200" y="365760"/>
            <a:ext cx="7315200" cy="201168"/>
          </a:xfrm>
          <a:prstGeom prst="rect">
            <a:avLst/>
          </a:prstGeom>
          <a:noFill/>
          <a:ln/>
        </p:spPr>
        <p:txBody>
          <a:bodyPr wrap="square" lIns="0" tIns="0" rIns="0" bIns="0" rtlCol="0" anchor="t"/>
          <a:lstStyle/>
          <a:p>
            <a:pPr indent="0" marL="0">
              <a:buNone/>
            </a:pPr>
            <a:r>
              <a:rPr lang="en-US" sz="900" dirty="0">
                <a:solidFill>
                  <a:srgbClr val="90E0EF"/>
                </a:solidFill>
              </a:rPr>
              <a:t>Pre-computed causal-inverse rollback paths for multi-agent orchestration</a:t>
            </a:r>
            <a:endParaRPr lang="en-US" sz="900" dirty="0"/>
          </a:p>
        </p:txBody>
      </p:sp>
      <p:sp>
        <p:nvSpPr>
          <p:cNvPr id="8" name="Shape 6"/>
          <p:cNvSpPr/>
          <p:nvPr/>
        </p:nvSpPr>
        <p:spPr>
          <a:xfrm>
            <a:off x="27432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7432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ACCEPTANCE</a:t>
            </a:r>
            <a:endParaRPr lang="en-US" sz="800" dirty="0"/>
          </a:p>
        </p:txBody>
      </p:sp>
      <p:sp>
        <p:nvSpPr>
          <p:cNvPr id="10" name="Text 8"/>
          <p:cNvSpPr/>
          <p:nvPr/>
        </p:nvSpPr>
        <p:spPr>
          <a:xfrm>
            <a:off x="27432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71%</a:t>
            </a:r>
            <a:endParaRPr lang="en-US" sz="2000" dirty="0"/>
          </a:p>
        </p:txBody>
      </p:sp>
      <p:sp>
        <p:nvSpPr>
          <p:cNvPr id="11" name="Shape 9"/>
          <p:cNvSpPr/>
          <p:nvPr/>
        </p:nvSpPr>
        <p:spPr>
          <a:xfrm>
            <a:off x="182880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182880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OVERLAP</a:t>
            </a:r>
            <a:endParaRPr lang="en-US" sz="800" dirty="0"/>
          </a:p>
        </p:txBody>
      </p:sp>
      <p:sp>
        <p:nvSpPr>
          <p:cNvPr id="13" name="Text 11"/>
          <p:cNvSpPr/>
          <p:nvPr/>
        </p:nvSpPr>
        <p:spPr>
          <a:xfrm>
            <a:off x="182880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18%</a:t>
            </a:r>
            <a:endParaRPr lang="en-US" sz="2000" dirty="0"/>
          </a:p>
        </p:txBody>
      </p:sp>
      <p:sp>
        <p:nvSpPr>
          <p:cNvPr id="14" name="Shape 12"/>
          <p:cNvSpPr/>
          <p:nvPr/>
        </p:nvSpPr>
        <p:spPr>
          <a:xfrm>
            <a:off x="338328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338328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NOVELTY</a:t>
            </a:r>
            <a:endParaRPr lang="en-US" sz="800" dirty="0"/>
          </a:p>
        </p:txBody>
      </p:sp>
      <p:sp>
        <p:nvSpPr>
          <p:cNvPr id="16" name="Text 14"/>
          <p:cNvSpPr/>
          <p:nvPr/>
        </p:nvSpPr>
        <p:spPr>
          <a:xfrm>
            <a:off x="338328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82%</a:t>
            </a:r>
            <a:endParaRPr lang="en-US" sz="2000" dirty="0"/>
          </a:p>
        </p:txBody>
      </p:sp>
      <p:sp>
        <p:nvSpPr>
          <p:cNvPr id="17" name="Shape 15"/>
          <p:cNvSpPr/>
          <p:nvPr/>
        </p:nvSpPr>
        <p:spPr>
          <a:xfrm>
            <a:off x="256032" y="1600200"/>
            <a:ext cx="4160520" cy="132588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56032" y="1600200"/>
            <a:ext cx="54864" cy="1325880"/>
          </a:xfrm>
          <a:prstGeom prst="rect">
            <a:avLst/>
          </a:prstGeom>
          <a:solidFill>
            <a:srgbClr val="00B4D8"/>
          </a:solidFill>
          <a:ln w="12700">
            <a:solidFill>
              <a:srgbClr val="00B4D8"/>
            </a:solidFill>
            <a:prstDash val="solid"/>
          </a:ln>
        </p:spPr>
      </p:sp>
      <p:sp>
        <p:nvSpPr>
          <p:cNvPr id="19" name="Shape 17"/>
          <p:cNvSpPr/>
          <p:nvPr/>
        </p:nvSpPr>
        <p:spPr>
          <a:xfrm>
            <a:off x="384048" y="1664208"/>
            <a:ext cx="45720" cy="201168"/>
          </a:xfrm>
          <a:prstGeom prst="rect">
            <a:avLst/>
          </a:prstGeom>
          <a:solidFill>
            <a:srgbClr val="00B4D8"/>
          </a:solidFill>
          <a:ln w="12700">
            <a:solidFill>
              <a:srgbClr val="00B4D8"/>
            </a:solidFill>
            <a:prstDash val="solid"/>
          </a:ln>
        </p:spPr>
      </p:sp>
      <p:sp>
        <p:nvSpPr>
          <p:cNvPr id="20" name="Text 18"/>
          <p:cNvSpPr/>
          <p:nvPr/>
        </p:nvSpPr>
        <p:spPr>
          <a:xfrm>
            <a:off x="475488" y="165506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PROBLEM SOLVED</a:t>
            </a:r>
            <a:endParaRPr lang="en-US" sz="1000" dirty="0"/>
          </a:p>
        </p:txBody>
      </p:sp>
      <p:sp>
        <p:nvSpPr>
          <p:cNvPr id="21" name="Text 19"/>
          <p:cNvSpPr/>
          <p:nvPr/>
        </p:nvSpPr>
        <p:spPr>
          <a:xfrm>
            <a:off x="347472" y="1920240"/>
            <a:ext cx="3977640" cy="914400"/>
          </a:xfrm>
          <a:prstGeom prst="rect">
            <a:avLst/>
          </a:prstGeom>
          <a:noFill/>
          <a:ln/>
        </p:spPr>
        <p:txBody>
          <a:bodyPr wrap="square" lIns="0" tIns="0" rIns="0" bIns="0" rtlCol="0" anchor="ctr"/>
          <a:lstStyle/>
          <a:p>
            <a:pPr indent="0" marL="0">
              <a:lnSpc>
                <a:spcPct val="130000"/>
              </a:lnSpc>
              <a:buNone/>
            </a:pPr>
            <a:r>
              <a:rPr lang="en-US" sz="950" dirty="0">
                <a:solidFill>
                  <a:srgbClr val="2C4A5E"/>
                </a:solidFill>
              </a:rPr>
              <a:t>Agents cannot reliably recover from failures mid-execution. Current rollback is either heuristic (retry loops) or absent. No system pre-computes causal rollback before a plan begins, meaning failures cascade unpredictably.</a:t>
            </a:r>
            <a:endParaRPr lang="en-US" sz="950" dirty="0"/>
          </a:p>
        </p:txBody>
      </p:sp>
      <p:sp>
        <p:nvSpPr>
          <p:cNvPr id="22" name="Shape 20"/>
          <p:cNvSpPr/>
          <p:nvPr/>
        </p:nvSpPr>
        <p:spPr>
          <a:xfrm>
            <a:off x="256032" y="2999232"/>
            <a:ext cx="4160520" cy="1938528"/>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56032" y="2999232"/>
            <a:ext cx="54864" cy="1938528"/>
          </a:xfrm>
          <a:prstGeom prst="rect">
            <a:avLst/>
          </a:prstGeom>
          <a:solidFill>
            <a:srgbClr val="0D1B2A"/>
          </a:solidFill>
          <a:ln w="12700">
            <a:solidFill>
              <a:srgbClr val="0D1B2A"/>
            </a:solidFill>
            <a:prstDash val="solid"/>
          </a:ln>
        </p:spPr>
      </p:sp>
      <p:sp>
        <p:nvSpPr>
          <p:cNvPr id="24" name="Shape 22"/>
          <p:cNvSpPr/>
          <p:nvPr/>
        </p:nvSpPr>
        <p:spPr>
          <a:xfrm>
            <a:off x="384048" y="3054096"/>
            <a:ext cx="45720" cy="201168"/>
          </a:xfrm>
          <a:prstGeom prst="rect">
            <a:avLst/>
          </a:prstGeom>
          <a:solidFill>
            <a:srgbClr val="00B4D8"/>
          </a:solidFill>
          <a:ln w="12700">
            <a:solidFill>
              <a:srgbClr val="00B4D8"/>
            </a:solidFill>
            <a:prstDash val="solid"/>
          </a:ln>
        </p:spPr>
      </p:sp>
      <p:sp>
        <p:nvSpPr>
          <p:cNvPr id="25" name="Text 23"/>
          <p:cNvSpPr/>
          <p:nvPr/>
        </p:nvSpPr>
        <p:spPr>
          <a:xfrm>
            <a:off x="475488" y="3044952"/>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NOVEL APPROACH</a:t>
            </a:r>
            <a:endParaRPr lang="en-US" sz="1000" dirty="0"/>
          </a:p>
        </p:txBody>
      </p:sp>
      <p:sp>
        <p:nvSpPr>
          <p:cNvPr id="26" name="Text 24"/>
          <p:cNvSpPr/>
          <p:nvPr/>
        </p:nvSpPr>
        <p:spPr>
          <a:xfrm>
            <a:off x="384048" y="3310128"/>
            <a:ext cx="3931920" cy="1536192"/>
          </a:xfrm>
          <a:prstGeom prst="rect">
            <a:avLst/>
          </a:prstGeom>
          <a:noFill/>
          <a:ln/>
        </p:spPr>
        <p:txBody>
          <a:bodyPr wrap="square" lIns="0" tIns="0" rIns="0" bIns="0" rtlCol="0" anchor="ctr"/>
          <a:lstStyle/>
          <a:p>
            <a:pPr marL="342900" indent="-342900">
              <a:lnSpc>
                <a:spcPct val="125000"/>
              </a:lnSpc>
              <a:buSzPct val="100000"/>
              <a:buFont typeface="+mj-lt"/>
              <a:buAutoNum type="arabicPeriod" startAt="1"/>
            </a:pPr>
            <a:r>
              <a:rPr lang="en-US" sz="850" dirty="0">
                <a:solidFill>
                  <a:srgbClr val="0D1B2A"/>
                </a:solidFill>
              </a:rPr>
              <a:t>Causal execution tree: Before execution, build a do-calculus intervention tree using Pearl's causal model derived from prior agent traces</a:t>
            </a:r>
            <a:endParaRPr lang="en-US" sz="850" dirty="0"/>
          </a:p>
          <a:p>
            <a:pPr marL="342900" indent="-342900">
              <a:lnSpc>
                <a:spcPct val="125000"/>
              </a:lnSpc>
              <a:buSzPct val="100000"/>
              <a:buFont typeface="+mj-lt"/>
              <a:buAutoNum type="arabicPeriod" startAt="1"/>
            </a:pPr>
            <a:r>
              <a:rPr lang="en-US" sz="850" dirty="0">
                <a:solidFill>
                  <a:srgbClr val="0D1B2A"/>
                </a:solidFill>
              </a:rPr>
              <a:t>Counterfactual scoring: Each decision node evaluated via P(success | do(action A)) vs P(success | do(action B)) — highest wins</a:t>
            </a:r>
            <a:endParaRPr lang="en-US" sz="850" dirty="0"/>
          </a:p>
          <a:p>
            <a:pPr marL="342900" indent="-342900">
              <a:lnSpc>
                <a:spcPct val="125000"/>
              </a:lnSpc>
              <a:buSzPct val="100000"/>
              <a:buFont typeface="+mj-lt"/>
              <a:buAutoNum type="arabicPeriod" startAt="1"/>
            </a:pPr>
            <a:r>
              <a:rPr lang="en-US" sz="850" dirty="0">
                <a:solidFill>
                  <a:srgbClr val="0D1B2A"/>
                </a:solidFill>
              </a:rPr>
              <a:t>Rollback pre-computation: Causal-inverse paths computed for each forward action step before execution begins</a:t>
            </a:r>
            <a:endParaRPr lang="en-US" sz="850" dirty="0"/>
          </a:p>
          <a:p>
            <a:pPr marL="342900" indent="-342900">
              <a:lnSpc>
                <a:spcPct val="125000"/>
              </a:lnSpc>
              <a:buSzPct val="100000"/>
              <a:buFont typeface="+mj-lt"/>
              <a:buAutoNum type="arabicPeriod" startAt="1"/>
            </a:pPr>
            <a:r>
              <a:rPr lang="en-US" sz="850" dirty="0">
                <a:solidFill>
                  <a:srgbClr val="0D1B2A"/>
                </a:solidFill>
              </a:rPr>
              <a:t>Agent assignment by causal score: Agents assigned to tasks based on counterfactual success probability, not static capability declarations</a:t>
            </a:r>
            <a:endParaRPr lang="en-US" sz="850" dirty="0"/>
          </a:p>
        </p:txBody>
      </p:sp>
      <p:sp>
        <p:nvSpPr>
          <p:cNvPr id="27" name="Shape 25"/>
          <p:cNvSpPr/>
          <p:nvPr/>
        </p:nvSpPr>
        <p:spPr>
          <a:xfrm>
            <a:off x="4727448" y="795528"/>
            <a:ext cx="4160520" cy="237744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4727448" y="795528"/>
            <a:ext cx="54864" cy="2377440"/>
          </a:xfrm>
          <a:prstGeom prst="rect">
            <a:avLst/>
          </a:prstGeom>
          <a:solidFill>
            <a:srgbClr val="00B4D8"/>
          </a:solidFill>
          <a:ln w="12700">
            <a:solidFill>
              <a:srgbClr val="00B4D8"/>
            </a:solidFill>
            <a:prstDash val="solid"/>
          </a:ln>
        </p:spPr>
      </p:sp>
      <p:sp>
        <p:nvSpPr>
          <p:cNvPr id="29" name="Shape 27"/>
          <p:cNvSpPr/>
          <p:nvPr/>
        </p:nvSpPr>
        <p:spPr>
          <a:xfrm>
            <a:off x="4855464" y="850392"/>
            <a:ext cx="45720" cy="201168"/>
          </a:xfrm>
          <a:prstGeom prst="rect">
            <a:avLst/>
          </a:prstGeom>
          <a:solidFill>
            <a:srgbClr val="00B4D8"/>
          </a:solidFill>
          <a:ln w="12700">
            <a:solidFill>
              <a:srgbClr val="00B4D8"/>
            </a:solidFill>
            <a:prstDash val="solid"/>
          </a:ln>
        </p:spPr>
      </p:sp>
      <p:sp>
        <p:nvSpPr>
          <p:cNvPr id="30" name="Text 28"/>
          <p:cNvSpPr/>
          <p:nvPr/>
        </p:nvSpPr>
        <p:spPr>
          <a:xfrm>
            <a:off x="4946904" y="841248"/>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KEY CLAIMS</a:t>
            </a:r>
            <a:endParaRPr lang="en-US" sz="1000" dirty="0"/>
          </a:p>
        </p:txBody>
      </p:sp>
      <p:sp>
        <p:nvSpPr>
          <p:cNvPr id="31" name="Text 29"/>
          <p:cNvSpPr/>
          <p:nvPr/>
        </p:nvSpPr>
        <p:spPr>
          <a:xfrm>
            <a:off x="4846320" y="1078992"/>
            <a:ext cx="3931920" cy="1965960"/>
          </a:xfrm>
          <a:prstGeom prst="rect">
            <a:avLst/>
          </a:prstGeom>
          <a:noFill/>
          <a:ln/>
        </p:spPr>
        <p:txBody>
          <a:bodyPr wrap="square" lIns="0" tIns="0" rIns="0" bIns="0" rtlCol="0" anchor="ctr"/>
          <a:lstStyle/>
          <a:p>
            <a:pPr marL="342900" indent="-342900">
              <a:lnSpc>
                <a:spcPct val="125000"/>
              </a:lnSpc>
              <a:buSzPct val="100000"/>
              <a:buChar char="•"/>
            </a:pPr>
            <a:r>
              <a:rPr lang="en-US" sz="900" dirty="0">
                <a:solidFill>
                  <a:srgbClr val="0D1B2A"/>
                </a:solidFill>
              </a:rPr>
              <a:t>Method for generating counterfactual execution plans using do-calculus causal model derived from agent trajectory logs</a:t>
            </a:r>
            <a:endParaRPr lang="en-US" sz="900" dirty="0"/>
          </a:p>
          <a:p>
            <a:pPr marL="342900" indent="-342900">
              <a:lnSpc>
                <a:spcPct val="125000"/>
              </a:lnSpc>
              <a:buSzPct val="100000"/>
              <a:buChar char="•"/>
            </a:pPr>
            <a:r>
              <a:rPr lang="en-US" sz="900" dirty="0">
                <a:solidFill>
                  <a:srgbClr val="0D1B2A"/>
                </a:solidFill>
              </a:rPr>
              <a:t>System that pre-computes causal-inverse rollback paths before execution begins (not reactive recovery)</a:t>
            </a:r>
            <a:endParaRPr lang="en-US" sz="900" dirty="0"/>
          </a:p>
          <a:p>
            <a:pPr marL="342900" indent="-342900">
              <a:lnSpc>
                <a:spcPct val="125000"/>
              </a:lnSpc>
              <a:buSzPct val="100000"/>
              <a:buChar char="•"/>
            </a:pPr>
            <a:r>
              <a:rPr lang="en-US" sz="900" dirty="0">
                <a:solidFill>
                  <a:srgbClr val="0D1B2A"/>
                </a:solidFill>
              </a:rPr>
              <a:t>Multi-agent orchestrator selecting agent assignments via counterfactual outcome probabilities</a:t>
            </a:r>
            <a:endParaRPr lang="en-US" sz="900" dirty="0"/>
          </a:p>
          <a:p>
            <a:pPr marL="342900" indent="-342900">
              <a:lnSpc>
                <a:spcPct val="125000"/>
              </a:lnSpc>
              <a:buSzPct val="100000"/>
              <a:buChar char="•"/>
            </a:pPr>
            <a:r>
              <a:rPr lang="en-US" sz="900" dirty="0">
                <a:solidFill>
                  <a:srgbClr val="0D1B2A"/>
                </a:solidFill>
              </a:rPr>
              <a:t>Causal-graph-based failure isolation preventing cascade across agent boundaries</a:t>
            </a:r>
            <a:endParaRPr lang="en-US" sz="900" dirty="0"/>
          </a:p>
        </p:txBody>
      </p:sp>
      <p:sp>
        <p:nvSpPr>
          <p:cNvPr id="32" name="Shape 30"/>
          <p:cNvSpPr/>
          <p:nvPr/>
        </p:nvSpPr>
        <p:spPr>
          <a:xfrm>
            <a:off x="4727448" y="3255264"/>
            <a:ext cx="4160520" cy="166420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727448" y="3255264"/>
            <a:ext cx="54864" cy="1664208"/>
          </a:xfrm>
          <a:prstGeom prst="rect">
            <a:avLst/>
          </a:prstGeom>
          <a:solidFill>
            <a:srgbClr val="00B4D8"/>
          </a:solidFill>
          <a:ln w="12700">
            <a:solidFill>
              <a:srgbClr val="00B4D8"/>
            </a:solidFill>
            <a:prstDash val="solid"/>
          </a:ln>
        </p:spPr>
      </p:sp>
      <p:sp>
        <p:nvSpPr>
          <p:cNvPr id="34" name="Shape 32"/>
          <p:cNvSpPr/>
          <p:nvPr/>
        </p:nvSpPr>
        <p:spPr>
          <a:xfrm>
            <a:off x="4855464" y="3310128"/>
            <a:ext cx="45720" cy="201168"/>
          </a:xfrm>
          <a:prstGeom prst="rect">
            <a:avLst/>
          </a:prstGeom>
          <a:solidFill>
            <a:srgbClr val="00B4D8"/>
          </a:solidFill>
          <a:ln w="12700">
            <a:solidFill>
              <a:srgbClr val="00B4D8"/>
            </a:solidFill>
            <a:prstDash val="solid"/>
          </a:ln>
        </p:spPr>
      </p:sp>
      <p:sp>
        <p:nvSpPr>
          <p:cNvPr id="35" name="Text 33"/>
          <p:cNvSpPr/>
          <p:nvPr/>
        </p:nvSpPr>
        <p:spPr>
          <a:xfrm>
            <a:off x="4946904" y="330098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DIFFERENTIATION FROM EXISTING PATENTS</a:t>
            </a:r>
            <a:endParaRPr lang="en-US" sz="1000" dirty="0"/>
          </a:p>
        </p:txBody>
      </p:sp>
      <p:sp>
        <p:nvSpPr>
          <p:cNvPr id="36" name="Text 34"/>
          <p:cNvSpPr/>
          <p:nvPr/>
        </p:nvSpPr>
        <p:spPr>
          <a:xfrm>
            <a:off x="4846320" y="3538728"/>
            <a:ext cx="3931920" cy="1298448"/>
          </a:xfrm>
          <a:prstGeom prst="rect">
            <a:avLst/>
          </a:prstGeom>
          <a:noFill/>
          <a:ln/>
        </p:spPr>
        <p:txBody>
          <a:bodyPr wrap="square" lIns="0" tIns="0" rIns="0" bIns="0" rtlCol="0" anchor="ctr"/>
          <a:lstStyle/>
          <a:p>
            <a:pPr marL="342900" indent="-342900">
              <a:lnSpc>
                <a:spcPct val="130000"/>
              </a:lnSpc>
              <a:buSzPct val="100000"/>
              <a:buChar char="•"/>
            </a:pPr>
            <a:r>
              <a:rPr lang="en-US" sz="900" dirty="0">
                <a:solidFill>
                  <a:srgbClr val="F0F7FF"/>
                </a:solidFill>
              </a:rPr>
              <a:t>CausalPlan (arxiv:2508.13721): learns causal graphs but no do-calculus, no rollback pre-computation</a:t>
            </a:r>
            <a:endParaRPr lang="en-US" sz="900" dirty="0"/>
          </a:p>
          <a:p>
            <a:pPr marL="342900" indent="-342900">
              <a:lnSpc>
                <a:spcPct val="130000"/>
              </a:lnSpc>
              <a:buSzPct val="100000"/>
              <a:buChar char="•"/>
            </a:pPr>
            <a:r>
              <a:rPr lang="en-US" sz="900" dirty="0">
                <a:solidFill>
                  <a:srgbClr val="F0F7FF"/>
                </a:solidFill>
              </a:rPr>
              <a:t>CausalMACE: dependency management only, not counterfactual forward planning</a:t>
            </a:r>
            <a:endParaRPr lang="en-US" sz="900" dirty="0"/>
          </a:p>
          <a:p>
            <a:pPr marL="342900" indent="-342900">
              <a:lnSpc>
                <a:spcPct val="130000"/>
              </a:lnSpc>
              <a:buSzPct val="100000"/>
              <a:buChar char="•"/>
            </a:pPr>
            <a:r>
              <a:rPr lang="en-US" sz="900" dirty="0">
                <a:solidFill>
                  <a:srgbClr val="F0F7FF"/>
                </a:solidFill>
              </a:rPr>
              <a:t>No existing patent pre-computes causal-inverse rollback at planning time</a:t>
            </a:r>
            <a:endParaRPr lang="en-US" sz="900" dirty="0"/>
          </a:p>
        </p:txBody>
      </p:sp>
      <p:sp>
        <p:nvSpPr>
          <p:cNvPr id="37" name="Text 35"/>
          <p:cNvSpPr/>
          <p:nvPr/>
        </p:nvSpPr>
        <p:spPr>
          <a:xfrm>
            <a:off x="8503920" y="4892040"/>
            <a:ext cx="457200" cy="182880"/>
          </a:xfrm>
          <a:prstGeom prst="rect">
            <a:avLst/>
          </a:prstGeom>
          <a:noFill/>
          <a:ln/>
        </p:spPr>
        <p:txBody>
          <a:bodyPr wrap="square" lIns="0" tIns="0" rIns="0" bIns="0" rtlCol="0" anchor="ctr"/>
          <a:lstStyle/>
          <a:p>
            <a:pPr algn="r" indent="0" marL="0">
              <a:buNone/>
            </a:pPr>
            <a:r>
              <a:rPr lang="en-US" sz="800" dirty="0">
                <a:solidFill>
                  <a:srgbClr val="8EAFC2"/>
                </a:solidFill>
              </a:rPr>
              <a:t>1 / 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w="12700">
            <a:solidFill>
              <a:srgbClr val="0D1B2A"/>
            </a:solidFill>
            <a:prstDash val="solid"/>
          </a:ln>
        </p:spPr>
      </p:sp>
      <p:sp>
        <p:nvSpPr>
          <p:cNvPr id="3" name="Shape 1"/>
          <p:cNvSpPr/>
          <p:nvPr/>
        </p:nvSpPr>
        <p:spPr>
          <a:xfrm>
            <a:off x="0" y="594360"/>
            <a:ext cx="9144000" cy="73152"/>
          </a:xfrm>
          <a:prstGeom prst="rect">
            <a:avLst/>
          </a:prstGeom>
          <a:solidFill>
            <a:srgbClr val="00B4D8"/>
          </a:solidFill>
          <a:ln w="12700">
            <a:solidFill>
              <a:srgbClr val="00B4D8"/>
            </a:solidFill>
            <a:prstDash val="solid"/>
          </a:ln>
        </p:spPr>
      </p:sp>
      <p:sp>
        <p:nvSpPr>
          <p:cNvPr id="4" name="Shape 2"/>
          <p:cNvSpPr/>
          <p:nvPr/>
        </p:nvSpPr>
        <p:spPr>
          <a:xfrm>
            <a:off x="274320" y="91440"/>
            <a:ext cx="1188720" cy="411480"/>
          </a:xfrm>
          <a:prstGeom prst="roundRect">
            <a:avLst>
              <a:gd name="adj" fmla="val 13333"/>
            </a:avLst>
          </a:prstGeom>
          <a:solidFill>
            <a:srgbClr val="00B4D8"/>
          </a:solidFill>
          <a:ln w="12700">
            <a:solidFill>
              <a:srgbClr val="00B4D8"/>
            </a:solidFill>
            <a:prstDash val="solid"/>
          </a:ln>
        </p:spPr>
      </p:sp>
      <p:sp>
        <p:nvSpPr>
          <p:cNvPr id="5" name="Text 3"/>
          <p:cNvSpPr/>
          <p:nvPr/>
        </p:nvSpPr>
        <p:spPr>
          <a:xfrm>
            <a:off x="274320" y="91440"/>
            <a:ext cx="1188720" cy="411480"/>
          </a:xfrm>
          <a:prstGeom prst="rect">
            <a:avLst/>
          </a:prstGeom>
          <a:noFill/>
          <a:ln/>
        </p:spPr>
        <p:txBody>
          <a:bodyPr wrap="square" lIns="0" tIns="0" rIns="0" bIns="0" rtlCol="0" anchor="ctr"/>
          <a:lstStyle/>
          <a:p>
            <a:pPr algn="ctr" indent="0" marL="0">
              <a:buNone/>
            </a:pPr>
            <a:r>
              <a:rPr lang="en-US" sz="1000" b="1" dirty="0">
                <a:solidFill>
                  <a:srgbClr val="0D1B2A"/>
                </a:solidFill>
              </a:rPr>
              <a:t>Patent Idea #2</a:t>
            </a:r>
            <a:endParaRPr lang="en-US" sz="1000" dirty="0"/>
          </a:p>
        </p:txBody>
      </p:sp>
      <p:sp>
        <p:nvSpPr>
          <p:cNvPr id="6" name="Text 4"/>
          <p:cNvSpPr/>
          <p:nvPr/>
        </p:nvSpPr>
        <p:spPr>
          <a:xfrm>
            <a:off x="1600200" y="73152"/>
            <a:ext cx="7315200" cy="301752"/>
          </a:xfrm>
          <a:prstGeom prst="rect">
            <a:avLst/>
          </a:prstGeom>
          <a:noFill/>
          <a:ln/>
        </p:spPr>
        <p:txBody>
          <a:bodyPr wrap="square" lIns="0" tIns="0" rIns="0" bIns="0" rtlCol="0" anchor="ctr"/>
          <a:lstStyle/>
          <a:p>
            <a:pPr indent="0" marL="0">
              <a:buNone/>
            </a:pPr>
            <a:r>
              <a:rPr lang="en-US" sz="1500" b="1" dirty="0">
                <a:solidFill>
                  <a:srgbClr val="FFFFFF"/>
                </a:solidFill>
              </a:rPr>
              <a:t>Thermodynamic Compute Budget with EFE-Gated Tool Selection</a:t>
            </a:r>
            <a:endParaRPr lang="en-US" sz="1500" dirty="0"/>
          </a:p>
        </p:txBody>
      </p:sp>
      <p:sp>
        <p:nvSpPr>
          <p:cNvPr id="7" name="Text 5"/>
          <p:cNvSpPr/>
          <p:nvPr/>
        </p:nvSpPr>
        <p:spPr>
          <a:xfrm>
            <a:off x="1600200" y="365760"/>
            <a:ext cx="7315200" cy="201168"/>
          </a:xfrm>
          <a:prstGeom prst="rect">
            <a:avLst/>
          </a:prstGeom>
          <a:noFill/>
          <a:ln/>
        </p:spPr>
        <p:txBody>
          <a:bodyPr wrap="square" lIns="0" tIns="0" rIns="0" bIns="0" rtlCol="0" anchor="t"/>
          <a:lstStyle/>
          <a:p>
            <a:pPr indent="0" marL="0">
              <a:buNone/>
            </a:pPr>
            <a:r>
              <a:rPr lang="en-US" sz="900" dirty="0">
                <a:solidFill>
                  <a:srgbClr val="90E0EF"/>
                </a:solidFill>
              </a:rPr>
              <a:t>Expected Free Energy governs tool calls and dynamic role assignment across agents</a:t>
            </a:r>
            <a:endParaRPr lang="en-US" sz="900" dirty="0"/>
          </a:p>
        </p:txBody>
      </p:sp>
      <p:sp>
        <p:nvSpPr>
          <p:cNvPr id="8" name="Shape 6"/>
          <p:cNvSpPr/>
          <p:nvPr/>
        </p:nvSpPr>
        <p:spPr>
          <a:xfrm>
            <a:off x="27432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7432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ACCEPTANCE</a:t>
            </a:r>
            <a:endParaRPr lang="en-US" sz="800" dirty="0"/>
          </a:p>
        </p:txBody>
      </p:sp>
      <p:sp>
        <p:nvSpPr>
          <p:cNvPr id="10" name="Text 8"/>
          <p:cNvSpPr/>
          <p:nvPr/>
        </p:nvSpPr>
        <p:spPr>
          <a:xfrm>
            <a:off x="27432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68%</a:t>
            </a:r>
            <a:endParaRPr lang="en-US" sz="2000" dirty="0"/>
          </a:p>
        </p:txBody>
      </p:sp>
      <p:sp>
        <p:nvSpPr>
          <p:cNvPr id="11" name="Shape 9"/>
          <p:cNvSpPr/>
          <p:nvPr/>
        </p:nvSpPr>
        <p:spPr>
          <a:xfrm>
            <a:off x="182880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182880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OVERLAP</a:t>
            </a:r>
            <a:endParaRPr lang="en-US" sz="800" dirty="0"/>
          </a:p>
        </p:txBody>
      </p:sp>
      <p:sp>
        <p:nvSpPr>
          <p:cNvPr id="13" name="Text 11"/>
          <p:cNvSpPr/>
          <p:nvPr/>
        </p:nvSpPr>
        <p:spPr>
          <a:xfrm>
            <a:off x="182880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22%</a:t>
            </a:r>
            <a:endParaRPr lang="en-US" sz="2000" dirty="0"/>
          </a:p>
        </p:txBody>
      </p:sp>
      <p:sp>
        <p:nvSpPr>
          <p:cNvPr id="14" name="Shape 12"/>
          <p:cNvSpPr/>
          <p:nvPr/>
        </p:nvSpPr>
        <p:spPr>
          <a:xfrm>
            <a:off x="338328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338328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NOVELTY</a:t>
            </a:r>
            <a:endParaRPr lang="en-US" sz="800" dirty="0"/>
          </a:p>
        </p:txBody>
      </p:sp>
      <p:sp>
        <p:nvSpPr>
          <p:cNvPr id="16" name="Text 14"/>
          <p:cNvSpPr/>
          <p:nvPr/>
        </p:nvSpPr>
        <p:spPr>
          <a:xfrm>
            <a:off x="338328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78%</a:t>
            </a:r>
            <a:endParaRPr lang="en-US" sz="2000" dirty="0"/>
          </a:p>
        </p:txBody>
      </p:sp>
      <p:sp>
        <p:nvSpPr>
          <p:cNvPr id="17" name="Shape 15"/>
          <p:cNvSpPr/>
          <p:nvPr/>
        </p:nvSpPr>
        <p:spPr>
          <a:xfrm>
            <a:off x="256032" y="1600200"/>
            <a:ext cx="4160520" cy="132588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56032" y="1600200"/>
            <a:ext cx="54864" cy="1325880"/>
          </a:xfrm>
          <a:prstGeom prst="rect">
            <a:avLst/>
          </a:prstGeom>
          <a:solidFill>
            <a:srgbClr val="00B4D8"/>
          </a:solidFill>
          <a:ln w="12700">
            <a:solidFill>
              <a:srgbClr val="00B4D8"/>
            </a:solidFill>
            <a:prstDash val="solid"/>
          </a:ln>
        </p:spPr>
      </p:sp>
      <p:sp>
        <p:nvSpPr>
          <p:cNvPr id="19" name="Shape 17"/>
          <p:cNvSpPr/>
          <p:nvPr/>
        </p:nvSpPr>
        <p:spPr>
          <a:xfrm>
            <a:off x="384048" y="1664208"/>
            <a:ext cx="45720" cy="201168"/>
          </a:xfrm>
          <a:prstGeom prst="rect">
            <a:avLst/>
          </a:prstGeom>
          <a:solidFill>
            <a:srgbClr val="00B4D8"/>
          </a:solidFill>
          <a:ln w="12700">
            <a:solidFill>
              <a:srgbClr val="00B4D8"/>
            </a:solidFill>
            <a:prstDash val="solid"/>
          </a:ln>
        </p:spPr>
      </p:sp>
      <p:sp>
        <p:nvSpPr>
          <p:cNvPr id="20" name="Text 18"/>
          <p:cNvSpPr/>
          <p:nvPr/>
        </p:nvSpPr>
        <p:spPr>
          <a:xfrm>
            <a:off x="475488" y="165506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PROBLEM SOLVED</a:t>
            </a:r>
            <a:endParaRPr lang="en-US" sz="1000" dirty="0"/>
          </a:p>
        </p:txBody>
      </p:sp>
      <p:sp>
        <p:nvSpPr>
          <p:cNvPr id="21" name="Text 19"/>
          <p:cNvSpPr/>
          <p:nvPr/>
        </p:nvSpPr>
        <p:spPr>
          <a:xfrm>
            <a:off x="347472" y="1920240"/>
            <a:ext cx="3977640" cy="914400"/>
          </a:xfrm>
          <a:prstGeom prst="rect">
            <a:avLst/>
          </a:prstGeom>
          <a:noFill/>
          <a:ln/>
        </p:spPr>
        <p:txBody>
          <a:bodyPr wrap="square" lIns="0" tIns="0" rIns="0" bIns="0" rtlCol="0" anchor="ctr"/>
          <a:lstStyle/>
          <a:p>
            <a:pPr indent="0" marL="0">
              <a:lnSpc>
                <a:spcPct val="130000"/>
              </a:lnSpc>
              <a:buNone/>
            </a:pPr>
            <a:r>
              <a:rPr lang="en-US" sz="950" dirty="0">
                <a:solidFill>
                  <a:srgbClr val="2C4A5E"/>
                </a:solidFill>
              </a:rPr>
              <a:t>Agents call tools indiscriminately, wasting compute and context on low-value actions. No framework quantifies the epistemic value of a tool's output before calling it. Agent roles (explorer vs. exploiter) are statically assigned.</a:t>
            </a:r>
            <a:endParaRPr lang="en-US" sz="950" dirty="0"/>
          </a:p>
        </p:txBody>
      </p:sp>
      <p:sp>
        <p:nvSpPr>
          <p:cNvPr id="22" name="Shape 20"/>
          <p:cNvSpPr/>
          <p:nvPr/>
        </p:nvSpPr>
        <p:spPr>
          <a:xfrm>
            <a:off x="256032" y="2999232"/>
            <a:ext cx="4160520" cy="1938528"/>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56032" y="2999232"/>
            <a:ext cx="54864" cy="1938528"/>
          </a:xfrm>
          <a:prstGeom prst="rect">
            <a:avLst/>
          </a:prstGeom>
          <a:solidFill>
            <a:srgbClr val="0D1B2A"/>
          </a:solidFill>
          <a:ln w="12700">
            <a:solidFill>
              <a:srgbClr val="0D1B2A"/>
            </a:solidFill>
            <a:prstDash val="solid"/>
          </a:ln>
        </p:spPr>
      </p:sp>
      <p:sp>
        <p:nvSpPr>
          <p:cNvPr id="24" name="Shape 22"/>
          <p:cNvSpPr/>
          <p:nvPr/>
        </p:nvSpPr>
        <p:spPr>
          <a:xfrm>
            <a:off x="384048" y="3054096"/>
            <a:ext cx="45720" cy="201168"/>
          </a:xfrm>
          <a:prstGeom prst="rect">
            <a:avLst/>
          </a:prstGeom>
          <a:solidFill>
            <a:srgbClr val="00B4D8"/>
          </a:solidFill>
          <a:ln w="12700">
            <a:solidFill>
              <a:srgbClr val="00B4D8"/>
            </a:solidFill>
            <a:prstDash val="solid"/>
          </a:ln>
        </p:spPr>
      </p:sp>
      <p:sp>
        <p:nvSpPr>
          <p:cNvPr id="25" name="Text 23"/>
          <p:cNvSpPr/>
          <p:nvPr/>
        </p:nvSpPr>
        <p:spPr>
          <a:xfrm>
            <a:off x="475488" y="3044952"/>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NOVEL APPROACH</a:t>
            </a:r>
            <a:endParaRPr lang="en-US" sz="1000" dirty="0"/>
          </a:p>
        </p:txBody>
      </p:sp>
      <p:sp>
        <p:nvSpPr>
          <p:cNvPr id="26" name="Text 24"/>
          <p:cNvSpPr/>
          <p:nvPr/>
        </p:nvSpPr>
        <p:spPr>
          <a:xfrm>
            <a:off x="384048" y="3310128"/>
            <a:ext cx="3931920" cy="1536192"/>
          </a:xfrm>
          <a:prstGeom prst="rect">
            <a:avLst/>
          </a:prstGeom>
          <a:noFill/>
          <a:ln/>
        </p:spPr>
        <p:txBody>
          <a:bodyPr wrap="square" lIns="0" tIns="0" rIns="0" bIns="0" rtlCol="0" anchor="ctr"/>
          <a:lstStyle/>
          <a:p>
            <a:pPr marL="342900" indent="-342900">
              <a:lnSpc>
                <a:spcPct val="125000"/>
              </a:lnSpc>
              <a:buSzPct val="100000"/>
              <a:buFont typeface="+mj-lt"/>
              <a:buAutoNum type="arabicPeriod" startAt="1"/>
            </a:pPr>
            <a:r>
              <a:rPr lang="en-US" sz="850" dirty="0">
                <a:solidFill>
                  <a:srgbClr val="0D1B2A"/>
                </a:solidFill>
              </a:rPr>
              <a:t>Free energy reservoir: Each agent's compute budget modelled as a thermodynamic reservoir; Jarzynski equality bounds cost of state transitions</a:t>
            </a:r>
            <a:endParaRPr lang="en-US" sz="850" dirty="0"/>
          </a:p>
          <a:p>
            <a:pPr marL="342900" indent="-342900">
              <a:lnSpc>
                <a:spcPct val="125000"/>
              </a:lnSpc>
              <a:buSzPct val="100000"/>
              <a:buFont typeface="+mj-lt"/>
              <a:buAutoNum type="arabicPeriod" startAt="1"/>
            </a:pPr>
            <a:r>
              <a:rPr lang="en-US" sz="850" dirty="0">
                <a:solidFill>
                  <a:srgbClr val="0D1B2A"/>
                </a:solidFill>
              </a:rPr>
              <a:t>EFE-gated tool selection: Before any tool call, compute expected epistemic value of output vs. cost — block call if EFE falls below threshold</a:t>
            </a:r>
            <a:endParaRPr lang="en-US" sz="850" dirty="0"/>
          </a:p>
          <a:p>
            <a:pPr marL="342900" indent="-342900">
              <a:lnSpc>
                <a:spcPct val="125000"/>
              </a:lnSpc>
              <a:buSzPct val="100000"/>
              <a:buFont typeface="+mj-lt"/>
              <a:buAutoNum type="arabicPeriod" startAt="1"/>
            </a:pPr>
            <a:r>
              <a:rPr lang="en-US" sz="850" dirty="0">
                <a:solidFill>
                  <a:srgbClr val="0D1B2A"/>
                </a:solidFill>
              </a:rPr>
              <a:t>Dynamic role assignment: Multi-agent roles reassigned per cycle based on each agent's current EFE landscape, not static declarations</a:t>
            </a:r>
            <a:endParaRPr lang="en-US" sz="850" dirty="0"/>
          </a:p>
          <a:p>
            <a:pPr marL="342900" indent="-342900">
              <a:lnSpc>
                <a:spcPct val="125000"/>
              </a:lnSpc>
              <a:buSzPct val="100000"/>
              <a:buFont typeface="+mj-lt"/>
              <a:buAutoNum type="arabicPeriod" startAt="1"/>
            </a:pPr>
            <a:r>
              <a:rPr lang="en-US" sz="850" dirty="0">
                <a:solidFill>
                  <a:srgbClr val="0D1B2A"/>
                </a:solidFill>
              </a:rPr>
              <a:t>Bayesian belief propagation: Tool output distributions updated via POMDP belief propagation; token count approximates Jarzynski work</a:t>
            </a:r>
            <a:endParaRPr lang="en-US" sz="850" dirty="0"/>
          </a:p>
        </p:txBody>
      </p:sp>
      <p:sp>
        <p:nvSpPr>
          <p:cNvPr id="27" name="Shape 25"/>
          <p:cNvSpPr/>
          <p:nvPr/>
        </p:nvSpPr>
        <p:spPr>
          <a:xfrm>
            <a:off x="4727448" y="795528"/>
            <a:ext cx="4160520" cy="237744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4727448" y="795528"/>
            <a:ext cx="54864" cy="2377440"/>
          </a:xfrm>
          <a:prstGeom prst="rect">
            <a:avLst/>
          </a:prstGeom>
          <a:solidFill>
            <a:srgbClr val="00B4D8"/>
          </a:solidFill>
          <a:ln w="12700">
            <a:solidFill>
              <a:srgbClr val="00B4D8"/>
            </a:solidFill>
            <a:prstDash val="solid"/>
          </a:ln>
        </p:spPr>
      </p:sp>
      <p:sp>
        <p:nvSpPr>
          <p:cNvPr id="29" name="Shape 27"/>
          <p:cNvSpPr/>
          <p:nvPr/>
        </p:nvSpPr>
        <p:spPr>
          <a:xfrm>
            <a:off x="4855464" y="850392"/>
            <a:ext cx="45720" cy="201168"/>
          </a:xfrm>
          <a:prstGeom prst="rect">
            <a:avLst/>
          </a:prstGeom>
          <a:solidFill>
            <a:srgbClr val="00B4D8"/>
          </a:solidFill>
          <a:ln w="12700">
            <a:solidFill>
              <a:srgbClr val="00B4D8"/>
            </a:solidFill>
            <a:prstDash val="solid"/>
          </a:ln>
        </p:spPr>
      </p:sp>
      <p:sp>
        <p:nvSpPr>
          <p:cNvPr id="30" name="Text 28"/>
          <p:cNvSpPr/>
          <p:nvPr/>
        </p:nvSpPr>
        <p:spPr>
          <a:xfrm>
            <a:off x="4946904" y="841248"/>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KEY CLAIMS</a:t>
            </a:r>
            <a:endParaRPr lang="en-US" sz="1000" dirty="0"/>
          </a:p>
        </p:txBody>
      </p:sp>
      <p:sp>
        <p:nvSpPr>
          <p:cNvPr id="31" name="Text 29"/>
          <p:cNvSpPr/>
          <p:nvPr/>
        </p:nvSpPr>
        <p:spPr>
          <a:xfrm>
            <a:off x="4846320" y="1078992"/>
            <a:ext cx="3931920" cy="1965960"/>
          </a:xfrm>
          <a:prstGeom prst="rect">
            <a:avLst/>
          </a:prstGeom>
          <a:noFill/>
          <a:ln/>
        </p:spPr>
        <p:txBody>
          <a:bodyPr wrap="square" lIns="0" tIns="0" rIns="0" bIns="0" rtlCol="0" anchor="ctr"/>
          <a:lstStyle/>
          <a:p>
            <a:pPr marL="342900" indent="-342900">
              <a:lnSpc>
                <a:spcPct val="125000"/>
              </a:lnSpc>
              <a:buSzPct val="100000"/>
              <a:buChar char="•"/>
            </a:pPr>
            <a:r>
              <a:rPr lang="en-US" sz="900" dirty="0">
                <a:solidFill>
                  <a:srgbClr val="0D1B2A"/>
                </a:solidFill>
              </a:rPr>
              <a:t>System modelling agent compute budgets as thermodynamic free energy reservoirs with Jarzynski-bounded transitions</a:t>
            </a:r>
            <a:endParaRPr lang="en-US" sz="900" dirty="0"/>
          </a:p>
          <a:p>
            <a:pPr marL="342900" indent="-342900">
              <a:lnSpc>
                <a:spcPct val="125000"/>
              </a:lnSpc>
              <a:buSzPct val="100000"/>
              <a:buChar char="•"/>
            </a:pPr>
            <a:r>
              <a:rPr lang="en-US" sz="900" dirty="0">
                <a:solidFill>
                  <a:srgbClr val="0D1B2A"/>
                </a:solidFill>
              </a:rPr>
              <a:t>Method for EFE-gated tool selection — call is blocked when epistemic value falls below cost threshold</a:t>
            </a:r>
            <a:endParaRPr lang="en-US" sz="900" dirty="0"/>
          </a:p>
          <a:p>
            <a:pPr marL="342900" indent="-342900">
              <a:lnSpc>
                <a:spcPct val="125000"/>
              </a:lnSpc>
              <a:buSzPct val="100000"/>
              <a:buChar char="•"/>
            </a:pPr>
            <a:r>
              <a:rPr lang="en-US" sz="900" dirty="0">
                <a:solidFill>
                  <a:srgbClr val="0D1B2A"/>
                </a:solidFill>
              </a:rPr>
              <a:t>Dynamic multi-agent role assignment algorithm using per-agent EFE landscapes rather than static capability declarations</a:t>
            </a:r>
            <a:endParaRPr lang="en-US" sz="900" dirty="0"/>
          </a:p>
          <a:p>
            <a:pPr marL="342900" indent="-342900">
              <a:lnSpc>
                <a:spcPct val="125000"/>
              </a:lnSpc>
              <a:buSzPct val="100000"/>
              <a:buChar char="•"/>
            </a:pPr>
            <a:r>
              <a:rPr lang="en-US" sz="900" dirty="0">
                <a:solidFill>
                  <a:srgbClr val="0D1B2A"/>
                </a:solidFill>
              </a:rPr>
              <a:t>Unified exploration/exploitation objective removing need for separate reward engineering</a:t>
            </a:r>
            <a:endParaRPr lang="en-US" sz="900" dirty="0"/>
          </a:p>
        </p:txBody>
      </p:sp>
      <p:sp>
        <p:nvSpPr>
          <p:cNvPr id="32" name="Shape 30"/>
          <p:cNvSpPr/>
          <p:nvPr/>
        </p:nvSpPr>
        <p:spPr>
          <a:xfrm>
            <a:off x="4727448" y="3255264"/>
            <a:ext cx="4160520" cy="166420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727448" y="3255264"/>
            <a:ext cx="54864" cy="1664208"/>
          </a:xfrm>
          <a:prstGeom prst="rect">
            <a:avLst/>
          </a:prstGeom>
          <a:solidFill>
            <a:srgbClr val="00B4D8"/>
          </a:solidFill>
          <a:ln w="12700">
            <a:solidFill>
              <a:srgbClr val="00B4D8"/>
            </a:solidFill>
            <a:prstDash val="solid"/>
          </a:ln>
        </p:spPr>
      </p:sp>
      <p:sp>
        <p:nvSpPr>
          <p:cNvPr id="34" name="Shape 32"/>
          <p:cNvSpPr/>
          <p:nvPr/>
        </p:nvSpPr>
        <p:spPr>
          <a:xfrm>
            <a:off x="4855464" y="3310128"/>
            <a:ext cx="45720" cy="201168"/>
          </a:xfrm>
          <a:prstGeom prst="rect">
            <a:avLst/>
          </a:prstGeom>
          <a:solidFill>
            <a:srgbClr val="00B4D8"/>
          </a:solidFill>
          <a:ln w="12700">
            <a:solidFill>
              <a:srgbClr val="00B4D8"/>
            </a:solidFill>
            <a:prstDash val="solid"/>
          </a:ln>
        </p:spPr>
      </p:sp>
      <p:sp>
        <p:nvSpPr>
          <p:cNvPr id="35" name="Text 33"/>
          <p:cNvSpPr/>
          <p:nvPr/>
        </p:nvSpPr>
        <p:spPr>
          <a:xfrm>
            <a:off x="4946904" y="330098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DIFFERENTIATION FROM EXISTING PATENTS</a:t>
            </a:r>
            <a:endParaRPr lang="en-US" sz="1000" dirty="0"/>
          </a:p>
        </p:txBody>
      </p:sp>
      <p:sp>
        <p:nvSpPr>
          <p:cNvPr id="36" name="Text 34"/>
          <p:cNvSpPr/>
          <p:nvPr/>
        </p:nvSpPr>
        <p:spPr>
          <a:xfrm>
            <a:off x="4846320" y="3538728"/>
            <a:ext cx="3931920" cy="1298448"/>
          </a:xfrm>
          <a:prstGeom prst="rect">
            <a:avLst/>
          </a:prstGeom>
          <a:noFill/>
          <a:ln/>
        </p:spPr>
        <p:txBody>
          <a:bodyPr wrap="square" lIns="0" tIns="0" rIns="0" bIns="0" rtlCol="0" anchor="ctr"/>
          <a:lstStyle/>
          <a:p>
            <a:pPr marL="342900" indent="-342900">
              <a:lnSpc>
                <a:spcPct val="130000"/>
              </a:lnSpc>
              <a:buSzPct val="100000"/>
              <a:buChar char="•"/>
            </a:pPr>
            <a:r>
              <a:rPr lang="en-US" sz="900" dirty="0">
                <a:solidFill>
                  <a:srgbClr val="F0F7FF"/>
                </a:solidFill>
              </a:rPr>
              <a:t>arxiv:2412.10425 (Active Inference multi-LLM): focuses on prompt adaptation, not tool-call gating</a:t>
            </a:r>
            <a:endParaRPr lang="en-US" sz="900" dirty="0"/>
          </a:p>
          <a:p>
            <a:pPr marL="342900" indent="-342900">
              <a:lnSpc>
                <a:spcPct val="130000"/>
              </a:lnSpc>
              <a:buSzPct val="100000"/>
              <a:buChar char="•"/>
            </a:pPr>
            <a:r>
              <a:rPr lang="en-US" sz="900" dirty="0">
                <a:solidFill>
                  <a:srgbClr val="F0F7FF"/>
                </a:solidFill>
              </a:rPr>
              <a:t>arxiv:2504.14898 (EFE as variational inference): scalability only, no tool selection or role assignment</a:t>
            </a:r>
            <a:endParaRPr lang="en-US" sz="900" dirty="0"/>
          </a:p>
          <a:p>
            <a:pPr marL="342900" indent="-342900">
              <a:lnSpc>
                <a:spcPct val="130000"/>
              </a:lnSpc>
              <a:buSzPct val="100000"/>
              <a:buChar char="•"/>
            </a:pPr>
            <a:r>
              <a:rPr lang="en-US" sz="900" dirty="0">
                <a:solidFill>
                  <a:srgbClr val="F0F7FF"/>
                </a:solidFill>
              </a:rPr>
              <a:t>No existing patent applies thermodynamic budgets to tool-call decisions in multi-agent systems</a:t>
            </a:r>
            <a:endParaRPr lang="en-US" sz="900" dirty="0"/>
          </a:p>
        </p:txBody>
      </p:sp>
      <p:sp>
        <p:nvSpPr>
          <p:cNvPr id="37" name="Text 35"/>
          <p:cNvSpPr/>
          <p:nvPr/>
        </p:nvSpPr>
        <p:spPr>
          <a:xfrm>
            <a:off x="8503920" y="4892040"/>
            <a:ext cx="457200" cy="182880"/>
          </a:xfrm>
          <a:prstGeom prst="rect">
            <a:avLst/>
          </a:prstGeom>
          <a:noFill/>
          <a:ln/>
        </p:spPr>
        <p:txBody>
          <a:bodyPr wrap="square" lIns="0" tIns="0" rIns="0" bIns="0" rtlCol="0" anchor="ctr"/>
          <a:lstStyle/>
          <a:p>
            <a:pPr algn="r" indent="0" marL="0">
              <a:buNone/>
            </a:pPr>
            <a:r>
              <a:rPr lang="en-US" sz="800" dirty="0">
                <a:solidFill>
                  <a:srgbClr val="8EAFC2"/>
                </a:solidFill>
              </a:rPr>
              <a:t>2 / 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w="12700">
            <a:solidFill>
              <a:srgbClr val="0D1B2A"/>
            </a:solidFill>
            <a:prstDash val="solid"/>
          </a:ln>
        </p:spPr>
      </p:sp>
      <p:sp>
        <p:nvSpPr>
          <p:cNvPr id="3" name="Shape 1"/>
          <p:cNvSpPr/>
          <p:nvPr/>
        </p:nvSpPr>
        <p:spPr>
          <a:xfrm>
            <a:off x="0" y="594360"/>
            <a:ext cx="9144000" cy="73152"/>
          </a:xfrm>
          <a:prstGeom prst="rect">
            <a:avLst/>
          </a:prstGeom>
          <a:solidFill>
            <a:srgbClr val="00B4D8"/>
          </a:solidFill>
          <a:ln w="12700">
            <a:solidFill>
              <a:srgbClr val="00B4D8"/>
            </a:solidFill>
            <a:prstDash val="solid"/>
          </a:ln>
        </p:spPr>
      </p:sp>
      <p:sp>
        <p:nvSpPr>
          <p:cNvPr id="4" name="Shape 2"/>
          <p:cNvSpPr/>
          <p:nvPr/>
        </p:nvSpPr>
        <p:spPr>
          <a:xfrm>
            <a:off x="274320" y="91440"/>
            <a:ext cx="1188720" cy="411480"/>
          </a:xfrm>
          <a:prstGeom prst="roundRect">
            <a:avLst>
              <a:gd name="adj" fmla="val 13333"/>
            </a:avLst>
          </a:prstGeom>
          <a:solidFill>
            <a:srgbClr val="00B4D8"/>
          </a:solidFill>
          <a:ln w="12700">
            <a:solidFill>
              <a:srgbClr val="00B4D8"/>
            </a:solidFill>
            <a:prstDash val="solid"/>
          </a:ln>
        </p:spPr>
      </p:sp>
      <p:sp>
        <p:nvSpPr>
          <p:cNvPr id="5" name="Text 3"/>
          <p:cNvSpPr/>
          <p:nvPr/>
        </p:nvSpPr>
        <p:spPr>
          <a:xfrm>
            <a:off x="274320" y="91440"/>
            <a:ext cx="1188720" cy="411480"/>
          </a:xfrm>
          <a:prstGeom prst="rect">
            <a:avLst/>
          </a:prstGeom>
          <a:noFill/>
          <a:ln/>
        </p:spPr>
        <p:txBody>
          <a:bodyPr wrap="square" lIns="0" tIns="0" rIns="0" bIns="0" rtlCol="0" anchor="ctr"/>
          <a:lstStyle/>
          <a:p>
            <a:pPr algn="ctr" indent="0" marL="0">
              <a:buNone/>
            </a:pPr>
            <a:r>
              <a:rPr lang="en-US" sz="1000" b="1" dirty="0">
                <a:solidFill>
                  <a:srgbClr val="0D1B2A"/>
                </a:solidFill>
              </a:rPr>
              <a:t>Patent Idea #3</a:t>
            </a:r>
            <a:endParaRPr lang="en-US" sz="1000" dirty="0"/>
          </a:p>
        </p:txBody>
      </p:sp>
      <p:sp>
        <p:nvSpPr>
          <p:cNvPr id="6" name="Text 4"/>
          <p:cNvSpPr/>
          <p:nvPr/>
        </p:nvSpPr>
        <p:spPr>
          <a:xfrm>
            <a:off x="1600200" y="73152"/>
            <a:ext cx="7315200" cy="301752"/>
          </a:xfrm>
          <a:prstGeom prst="rect">
            <a:avLst/>
          </a:prstGeom>
          <a:noFill/>
          <a:ln/>
        </p:spPr>
        <p:txBody>
          <a:bodyPr wrap="square" lIns="0" tIns="0" rIns="0" bIns="0" rtlCol="0" anchor="ctr"/>
          <a:lstStyle/>
          <a:p>
            <a:pPr indent="0" marL="0">
              <a:buNone/>
            </a:pPr>
            <a:r>
              <a:rPr lang="en-US" sz="1500" b="1" dirty="0">
                <a:solidFill>
                  <a:srgbClr val="FFFFFF"/>
                </a:solidFill>
              </a:rPr>
              <a:t>Mnemonic Sovereignty — Cryptographic Memory Attestation with Causal Lineage</a:t>
            </a:r>
            <a:endParaRPr lang="en-US" sz="1500" dirty="0"/>
          </a:p>
        </p:txBody>
      </p:sp>
      <p:sp>
        <p:nvSpPr>
          <p:cNvPr id="7" name="Text 5"/>
          <p:cNvSpPr/>
          <p:nvPr/>
        </p:nvSpPr>
        <p:spPr>
          <a:xfrm>
            <a:off x="1600200" y="365760"/>
            <a:ext cx="7315200" cy="201168"/>
          </a:xfrm>
          <a:prstGeom prst="rect">
            <a:avLst/>
          </a:prstGeom>
          <a:noFill/>
          <a:ln/>
        </p:spPr>
        <p:txBody>
          <a:bodyPr wrap="square" lIns="0" tIns="0" rIns="0" bIns="0" rtlCol="0" anchor="t"/>
          <a:lstStyle/>
          <a:p>
            <a:pPr indent="0" marL="0">
              <a:buNone/>
            </a:pPr>
            <a:r>
              <a:rPr lang="en-US" sz="900" dirty="0">
                <a:solidFill>
                  <a:srgbClr val="90E0EF"/>
                </a:solidFill>
              </a:rPr>
              <a:t>Per-write cryptographic attestation + neuroscience reconsolidation tagging + bloom-filter quarantine</a:t>
            </a:r>
            <a:endParaRPr lang="en-US" sz="900" dirty="0"/>
          </a:p>
        </p:txBody>
      </p:sp>
      <p:sp>
        <p:nvSpPr>
          <p:cNvPr id="8" name="Shape 6"/>
          <p:cNvSpPr/>
          <p:nvPr/>
        </p:nvSpPr>
        <p:spPr>
          <a:xfrm>
            <a:off x="27432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7432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ACCEPTANCE</a:t>
            </a:r>
            <a:endParaRPr lang="en-US" sz="800" dirty="0"/>
          </a:p>
        </p:txBody>
      </p:sp>
      <p:sp>
        <p:nvSpPr>
          <p:cNvPr id="10" name="Text 8"/>
          <p:cNvSpPr/>
          <p:nvPr/>
        </p:nvSpPr>
        <p:spPr>
          <a:xfrm>
            <a:off x="27432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74%</a:t>
            </a:r>
            <a:endParaRPr lang="en-US" sz="2000" dirty="0"/>
          </a:p>
        </p:txBody>
      </p:sp>
      <p:sp>
        <p:nvSpPr>
          <p:cNvPr id="11" name="Shape 9"/>
          <p:cNvSpPr/>
          <p:nvPr/>
        </p:nvSpPr>
        <p:spPr>
          <a:xfrm>
            <a:off x="182880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182880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OVERLAP</a:t>
            </a:r>
            <a:endParaRPr lang="en-US" sz="800" dirty="0"/>
          </a:p>
        </p:txBody>
      </p:sp>
      <p:sp>
        <p:nvSpPr>
          <p:cNvPr id="13" name="Text 11"/>
          <p:cNvSpPr/>
          <p:nvPr/>
        </p:nvSpPr>
        <p:spPr>
          <a:xfrm>
            <a:off x="182880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16%</a:t>
            </a:r>
            <a:endParaRPr lang="en-US" sz="2000" dirty="0"/>
          </a:p>
        </p:txBody>
      </p:sp>
      <p:sp>
        <p:nvSpPr>
          <p:cNvPr id="14" name="Shape 12"/>
          <p:cNvSpPr/>
          <p:nvPr/>
        </p:nvSpPr>
        <p:spPr>
          <a:xfrm>
            <a:off x="338328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338328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NOVELTY</a:t>
            </a:r>
            <a:endParaRPr lang="en-US" sz="800" dirty="0"/>
          </a:p>
        </p:txBody>
      </p:sp>
      <p:sp>
        <p:nvSpPr>
          <p:cNvPr id="16" name="Text 14"/>
          <p:cNvSpPr/>
          <p:nvPr/>
        </p:nvSpPr>
        <p:spPr>
          <a:xfrm>
            <a:off x="338328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84%</a:t>
            </a:r>
            <a:endParaRPr lang="en-US" sz="2000" dirty="0"/>
          </a:p>
        </p:txBody>
      </p:sp>
      <p:sp>
        <p:nvSpPr>
          <p:cNvPr id="17" name="Shape 15"/>
          <p:cNvSpPr/>
          <p:nvPr/>
        </p:nvSpPr>
        <p:spPr>
          <a:xfrm>
            <a:off x="256032" y="1600200"/>
            <a:ext cx="4160520" cy="132588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56032" y="1600200"/>
            <a:ext cx="54864" cy="1325880"/>
          </a:xfrm>
          <a:prstGeom prst="rect">
            <a:avLst/>
          </a:prstGeom>
          <a:solidFill>
            <a:srgbClr val="00B4D8"/>
          </a:solidFill>
          <a:ln w="12700">
            <a:solidFill>
              <a:srgbClr val="00B4D8"/>
            </a:solidFill>
            <a:prstDash val="solid"/>
          </a:ln>
        </p:spPr>
      </p:sp>
      <p:sp>
        <p:nvSpPr>
          <p:cNvPr id="19" name="Shape 17"/>
          <p:cNvSpPr/>
          <p:nvPr/>
        </p:nvSpPr>
        <p:spPr>
          <a:xfrm>
            <a:off x="384048" y="1664208"/>
            <a:ext cx="45720" cy="201168"/>
          </a:xfrm>
          <a:prstGeom prst="rect">
            <a:avLst/>
          </a:prstGeom>
          <a:solidFill>
            <a:srgbClr val="00B4D8"/>
          </a:solidFill>
          <a:ln w="12700">
            <a:solidFill>
              <a:srgbClr val="00B4D8"/>
            </a:solidFill>
            <a:prstDash val="solid"/>
          </a:ln>
        </p:spPr>
      </p:sp>
      <p:sp>
        <p:nvSpPr>
          <p:cNvPr id="20" name="Text 18"/>
          <p:cNvSpPr/>
          <p:nvPr/>
        </p:nvSpPr>
        <p:spPr>
          <a:xfrm>
            <a:off x="475488" y="165506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PROBLEM SOLVED</a:t>
            </a:r>
            <a:endParaRPr lang="en-US" sz="1000" dirty="0"/>
          </a:p>
        </p:txBody>
      </p:sp>
      <p:sp>
        <p:nvSpPr>
          <p:cNvPr id="21" name="Text 19"/>
          <p:cNvSpPr/>
          <p:nvPr/>
        </p:nvSpPr>
        <p:spPr>
          <a:xfrm>
            <a:off x="347472" y="1920240"/>
            <a:ext cx="3977640" cy="914400"/>
          </a:xfrm>
          <a:prstGeom prst="rect">
            <a:avLst/>
          </a:prstGeom>
          <a:noFill/>
          <a:ln/>
        </p:spPr>
        <p:txBody>
          <a:bodyPr wrap="square" lIns="0" tIns="0" rIns="0" bIns="0" rtlCol="0" anchor="ctr"/>
          <a:lstStyle/>
          <a:p>
            <a:pPr indent="0" marL="0">
              <a:lnSpc>
                <a:spcPct val="130000"/>
              </a:lnSpc>
              <a:buNone/>
            </a:pPr>
            <a:r>
              <a:rPr lang="en-US" sz="950" dirty="0">
                <a:solidFill>
                  <a:srgbClr val="2C4A5E"/>
                </a:solidFill>
              </a:rPr>
              <a:t>Agent memory is vulnerable to poisoning, drift, and cross-agent contamination. Existing systems lack per-write audit trails. Memory security treats all writes equally — no differentiation based on how information was derived.</a:t>
            </a:r>
            <a:endParaRPr lang="en-US" sz="950" dirty="0"/>
          </a:p>
        </p:txBody>
      </p:sp>
      <p:sp>
        <p:nvSpPr>
          <p:cNvPr id="22" name="Shape 20"/>
          <p:cNvSpPr/>
          <p:nvPr/>
        </p:nvSpPr>
        <p:spPr>
          <a:xfrm>
            <a:off x="256032" y="2999232"/>
            <a:ext cx="4160520" cy="1938528"/>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56032" y="2999232"/>
            <a:ext cx="54864" cy="1938528"/>
          </a:xfrm>
          <a:prstGeom prst="rect">
            <a:avLst/>
          </a:prstGeom>
          <a:solidFill>
            <a:srgbClr val="0D1B2A"/>
          </a:solidFill>
          <a:ln w="12700">
            <a:solidFill>
              <a:srgbClr val="0D1B2A"/>
            </a:solidFill>
            <a:prstDash val="solid"/>
          </a:ln>
        </p:spPr>
      </p:sp>
      <p:sp>
        <p:nvSpPr>
          <p:cNvPr id="24" name="Shape 22"/>
          <p:cNvSpPr/>
          <p:nvPr/>
        </p:nvSpPr>
        <p:spPr>
          <a:xfrm>
            <a:off x="384048" y="3054096"/>
            <a:ext cx="45720" cy="201168"/>
          </a:xfrm>
          <a:prstGeom prst="rect">
            <a:avLst/>
          </a:prstGeom>
          <a:solidFill>
            <a:srgbClr val="00B4D8"/>
          </a:solidFill>
          <a:ln w="12700">
            <a:solidFill>
              <a:srgbClr val="00B4D8"/>
            </a:solidFill>
            <a:prstDash val="solid"/>
          </a:ln>
        </p:spPr>
      </p:sp>
      <p:sp>
        <p:nvSpPr>
          <p:cNvPr id="25" name="Text 23"/>
          <p:cNvSpPr/>
          <p:nvPr/>
        </p:nvSpPr>
        <p:spPr>
          <a:xfrm>
            <a:off x="475488" y="3044952"/>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NOVEL APPROACH</a:t>
            </a:r>
            <a:endParaRPr lang="en-US" sz="1000" dirty="0"/>
          </a:p>
        </p:txBody>
      </p:sp>
      <p:sp>
        <p:nvSpPr>
          <p:cNvPr id="26" name="Text 24"/>
          <p:cNvSpPr/>
          <p:nvPr/>
        </p:nvSpPr>
        <p:spPr>
          <a:xfrm>
            <a:off x="384048" y="3310128"/>
            <a:ext cx="3931920" cy="1536192"/>
          </a:xfrm>
          <a:prstGeom prst="rect">
            <a:avLst/>
          </a:prstGeom>
          <a:noFill/>
          <a:ln/>
        </p:spPr>
        <p:txBody>
          <a:bodyPr wrap="square" lIns="0" tIns="0" rIns="0" bIns="0" rtlCol="0" anchor="ctr"/>
          <a:lstStyle/>
          <a:p>
            <a:pPr marL="342900" indent="-342900">
              <a:lnSpc>
                <a:spcPct val="125000"/>
              </a:lnSpc>
              <a:buSzPct val="100000"/>
              <a:buFont typeface="+mj-lt"/>
              <a:buAutoNum type="arabicPeriod" startAt="1"/>
            </a:pPr>
            <a:r>
              <a:rPr lang="en-US" sz="850" dirty="0">
                <a:solidFill>
                  <a:srgbClr val="0D1B2A"/>
                </a:solidFill>
              </a:rPr>
              <a:t>Causal lineage attestation: Every memory write is cryptographically signed with its full causal lineage (source tool, observation, step ID, confidence)</a:t>
            </a:r>
            <a:endParaRPr lang="en-US" sz="850" dirty="0"/>
          </a:p>
          <a:p>
            <a:pPr marL="342900" indent="-342900">
              <a:lnSpc>
                <a:spcPct val="125000"/>
              </a:lnSpc>
              <a:buSzPct val="100000"/>
              <a:buFont typeface="+mj-lt"/>
              <a:buAutoNum type="arabicPeriod" startAt="1"/>
            </a:pPr>
            <a:r>
              <a:rPr lang="en-US" sz="850" dirty="0">
                <a:solidFill>
                  <a:srgbClr val="0D1B2A"/>
                </a:solidFill>
              </a:rPr>
              <a:t>Reconsolidation window tagging: Memory re-activated during inference is flagged as 'labile' (inspired by neuroscience); integrity checks applied before re-solidification</a:t>
            </a:r>
            <a:endParaRPr lang="en-US" sz="850" dirty="0"/>
          </a:p>
          <a:p>
            <a:pPr marL="342900" indent="-342900">
              <a:lnSpc>
                <a:spcPct val="125000"/>
              </a:lnSpc>
              <a:buSzPct val="100000"/>
              <a:buFont typeface="+mj-lt"/>
              <a:buAutoNum type="arabicPeriod" startAt="1"/>
            </a:pPr>
            <a:r>
              <a:rPr lang="en-US" sz="850" dirty="0">
                <a:solidFill>
                  <a:srgbClr val="0D1B2A"/>
                </a:solidFill>
              </a:rPr>
              <a:t>Bloom-filter quarantine propagation: Poisoning alerts propagated across shared agent memory via bloom filter — without exposing content</a:t>
            </a:r>
            <a:endParaRPr lang="en-US" sz="850" dirty="0"/>
          </a:p>
          <a:p>
            <a:pPr marL="342900" indent="-342900">
              <a:lnSpc>
                <a:spcPct val="125000"/>
              </a:lnSpc>
              <a:buSzPct val="100000"/>
              <a:buFont typeface="+mj-lt"/>
              <a:buAutoNum type="arabicPeriod" startAt="1"/>
            </a:pPr>
            <a:r>
              <a:rPr lang="en-US" sz="850" dirty="0">
                <a:solidFill>
                  <a:srgbClr val="0D1B2A"/>
                </a:solidFill>
              </a:rPr>
              <a:t>Contested memory state: Memories with invalidated causal paths are quarantined (not deleted) and marked 'contested' for human or supervisor review</a:t>
            </a:r>
            <a:endParaRPr lang="en-US" sz="850" dirty="0"/>
          </a:p>
        </p:txBody>
      </p:sp>
      <p:sp>
        <p:nvSpPr>
          <p:cNvPr id="27" name="Shape 25"/>
          <p:cNvSpPr/>
          <p:nvPr/>
        </p:nvSpPr>
        <p:spPr>
          <a:xfrm>
            <a:off x="4727448" y="795528"/>
            <a:ext cx="4160520" cy="237744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4727448" y="795528"/>
            <a:ext cx="54864" cy="2377440"/>
          </a:xfrm>
          <a:prstGeom prst="rect">
            <a:avLst/>
          </a:prstGeom>
          <a:solidFill>
            <a:srgbClr val="00B4D8"/>
          </a:solidFill>
          <a:ln w="12700">
            <a:solidFill>
              <a:srgbClr val="00B4D8"/>
            </a:solidFill>
            <a:prstDash val="solid"/>
          </a:ln>
        </p:spPr>
      </p:sp>
      <p:sp>
        <p:nvSpPr>
          <p:cNvPr id="29" name="Shape 27"/>
          <p:cNvSpPr/>
          <p:nvPr/>
        </p:nvSpPr>
        <p:spPr>
          <a:xfrm>
            <a:off x="4855464" y="850392"/>
            <a:ext cx="45720" cy="201168"/>
          </a:xfrm>
          <a:prstGeom prst="rect">
            <a:avLst/>
          </a:prstGeom>
          <a:solidFill>
            <a:srgbClr val="00B4D8"/>
          </a:solidFill>
          <a:ln w="12700">
            <a:solidFill>
              <a:srgbClr val="00B4D8"/>
            </a:solidFill>
            <a:prstDash val="solid"/>
          </a:ln>
        </p:spPr>
      </p:sp>
      <p:sp>
        <p:nvSpPr>
          <p:cNvPr id="30" name="Text 28"/>
          <p:cNvSpPr/>
          <p:nvPr/>
        </p:nvSpPr>
        <p:spPr>
          <a:xfrm>
            <a:off x="4946904" y="841248"/>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KEY CLAIMS</a:t>
            </a:r>
            <a:endParaRPr lang="en-US" sz="1000" dirty="0"/>
          </a:p>
        </p:txBody>
      </p:sp>
      <p:sp>
        <p:nvSpPr>
          <p:cNvPr id="31" name="Text 29"/>
          <p:cNvSpPr/>
          <p:nvPr/>
        </p:nvSpPr>
        <p:spPr>
          <a:xfrm>
            <a:off x="4846320" y="1078992"/>
            <a:ext cx="3931920" cy="1965960"/>
          </a:xfrm>
          <a:prstGeom prst="rect">
            <a:avLst/>
          </a:prstGeom>
          <a:noFill/>
          <a:ln/>
        </p:spPr>
        <p:txBody>
          <a:bodyPr wrap="square" lIns="0" tIns="0" rIns="0" bIns="0" rtlCol="0" anchor="ctr"/>
          <a:lstStyle/>
          <a:p>
            <a:pPr marL="342900" indent="-342900">
              <a:lnSpc>
                <a:spcPct val="125000"/>
              </a:lnSpc>
              <a:buSzPct val="100000"/>
              <a:buChar char="•"/>
            </a:pPr>
            <a:r>
              <a:rPr lang="en-US" sz="900" dirty="0">
                <a:solidFill>
                  <a:srgbClr val="0D1B2A"/>
                </a:solidFill>
              </a:rPr>
              <a:t>System for cryptographic attestation of agent memory writes including full causal lineage metadata</a:t>
            </a:r>
            <a:endParaRPr lang="en-US" sz="900" dirty="0"/>
          </a:p>
          <a:p>
            <a:pPr marL="342900" indent="-342900">
              <a:lnSpc>
                <a:spcPct val="125000"/>
              </a:lnSpc>
              <a:buSzPct val="100000"/>
              <a:buChar char="•"/>
            </a:pPr>
            <a:r>
              <a:rPr lang="en-US" sz="900" dirty="0">
                <a:solidFill>
                  <a:srgbClr val="0D1B2A"/>
                </a:solidFill>
              </a:rPr>
              <a:t>Reconsolidation-window memory tagging — marks memories as vulnerable during re-activation, applies integrity checks</a:t>
            </a:r>
            <a:endParaRPr lang="en-US" sz="900" dirty="0"/>
          </a:p>
          <a:p>
            <a:pPr marL="342900" indent="-342900">
              <a:lnSpc>
                <a:spcPct val="125000"/>
              </a:lnSpc>
              <a:buSzPct val="100000"/>
              <a:buChar char="•"/>
            </a:pPr>
            <a:r>
              <a:rPr lang="en-US" sz="900" dirty="0">
                <a:solidFill>
                  <a:srgbClr val="0D1B2A"/>
                </a:solidFill>
              </a:rPr>
              <a:t>Cross-agent bloom filter quarantine protocol propagating poisoning alerts without content exposure</a:t>
            </a:r>
            <a:endParaRPr lang="en-US" sz="900" dirty="0"/>
          </a:p>
          <a:p>
            <a:pPr marL="342900" indent="-342900">
              <a:lnSpc>
                <a:spcPct val="125000"/>
              </a:lnSpc>
              <a:buSzPct val="100000"/>
              <a:buChar char="•"/>
            </a:pPr>
            <a:r>
              <a:rPr lang="en-US" sz="900" dirty="0">
                <a:solidFill>
                  <a:srgbClr val="0D1B2A"/>
                </a:solidFill>
              </a:rPr>
              <a:t>Contested memory state management system with supervisor review workflow</a:t>
            </a:r>
            <a:endParaRPr lang="en-US" sz="900" dirty="0"/>
          </a:p>
        </p:txBody>
      </p:sp>
      <p:sp>
        <p:nvSpPr>
          <p:cNvPr id="32" name="Shape 30"/>
          <p:cNvSpPr/>
          <p:nvPr/>
        </p:nvSpPr>
        <p:spPr>
          <a:xfrm>
            <a:off x="4727448" y="3255264"/>
            <a:ext cx="4160520" cy="166420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727448" y="3255264"/>
            <a:ext cx="54864" cy="1664208"/>
          </a:xfrm>
          <a:prstGeom prst="rect">
            <a:avLst/>
          </a:prstGeom>
          <a:solidFill>
            <a:srgbClr val="00B4D8"/>
          </a:solidFill>
          <a:ln w="12700">
            <a:solidFill>
              <a:srgbClr val="00B4D8"/>
            </a:solidFill>
            <a:prstDash val="solid"/>
          </a:ln>
        </p:spPr>
      </p:sp>
      <p:sp>
        <p:nvSpPr>
          <p:cNvPr id="34" name="Shape 32"/>
          <p:cNvSpPr/>
          <p:nvPr/>
        </p:nvSpPr>
        <p:spPr>
          <a:xfrm>
            <a:off x="4855464" y="3310128"/>
            <a:ext cx="45720" cy="201168"/>
          </a:xfrm>
          <a:prstGeom prst="rect">
            <a:avLst/>
          </a:prstGeom>
          <a:solidFill>
            <a:srgbClr val="00B4D8"/>
          </a:solidFill>
          <a:ln w="12700">
            <a:solidFill>
              <a:srgbClr val="00B4D8"/>
            </a:solidFill>
            <a:prstDash val="solid"/>
          </a:ln>
        </p:spPr>
      </p:sp>
      <p:sp>
        <p:nvSpPr>
          <p:cNvPr id="35" name="Text 33"/>
          <p:cNvSpPr/>
          <p:nvPr/>
        </p:nvSpPr>
        <p:spPr>
          <a:xfrm>
            <a:off x="4946904" y="330098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DIFFERENTIATION FROM EXISTING PATENTS</a:t>
            </a:r>
            <a:endParaRPr lang="en-US" sz="1000" dirty="0"/>
          </a:p>
        </p:txBody>
      </p:sp>
      <p:sp>
        <p:nvSpPr>
          <p:cNvPr id="36" name="Text 34"/>
          <p:cNvSpPr/>
          <p:nvPr/>
        </p:nvSpPr>
        <p:spPr>
          <a:xfrm>
            <a:off x="4846320" y="3538728"/>
            <a:ext cx="3931920" cy="1298448"/>
          </a:xfrm>
          <a:prstGeom prst="rect">
            <a:avLst/>
          </a:prstGeom>
          <a:noFill/>
          <a:ln/>
        </p:spPr>
        <p:txBody>
          <a:bodyPr wrap="square" lIns="0" tIns="0" rIns="0" bIns="0" rtlCol="0" anchor="ctr"/>
          <a:lstStyle/>
          <a:p>
            <a:pPr marL="342900" indent="-342900">
              <a:lnSpc>
                <a:spcPct val="130000"/>
              </a:lnSpc>
              <a:buSzPct val="100000"/>
              <a:buChar char="•"/>
            </a:pPr>
            <a:r>
              <a:rPr lang="en-US" sz="900" dirty="0">
                <a:solidFill>
                  <a:srgbClr val="F0F7FF"/>
                </a:solidFill>
              </a:rPr>
              <a:t>Springdrift (arxiv:2604.04660): append-only memory but no per-write causal lineage or attestation</a:t>
            </a:r>
            <a:endParaRPr lang="en-US" sz="900" dirty="0"/>
          </a:p>
          <a:p>
            <a:pPr marL="342900" indent="-342900">
              <a:lnSpc>
                <a:spcPct val="130000"/>
              </a:lnSpc>
              <a:buSzPct val="100000"/>
              <a:buChar char="•"/>
            </a:pPr>
            <a:r>
              <a:rPr lang="en-US" sz="900" dirty="0">
                <a:solidFill>
                  <a:srgbClr val="F0F7FF"/>
                </a:solidFill>
              </a:rPr>
              <a:t>SSGM framework: governs memory evolution but not cryptographic per-write attestation</a:t>
            </a:r>
            <a:endParaRPr lang="en-US" sz="900" dirty="0"/>
          </a:p>
          <a:p>
            <a:pPr marL="342900" indent="-342900">
              <a:lnSpc>
                <a:spcPct val="130000"/>
              </a:lnSpc>
              <a:buSzPct val="100000"/>
              <a:buChar char="•"/>
            </a:pPr>
            <a:r>
              <a:rPr lang="en-US" sz="900" dirty="0">
                <a:solidFill>
                  <a:srgbClr val="F0F7FF"/>
                </a:solidFill>
              </a:rPr>
              <a:t>No existing patent combines reconsolidation-window tagging with bloom-filter cross-agent quarantine</a:t>
            </a:r>
            <a:endParaRPr lang="en-US" sz="900" dirty="0"/>
          </a:p>
        </p:txBody>
      </p:sp>
      <p:sp>
        <p:nvSpPr>
          <p:cNvPr id="37" name="Text 35"/>
          <p:cNvSpPr/>
          <p:nvPr/>
        </p:nvSpPr>
        <p:spPr>
          <a:xfrm>
            <a:off x="8503920" y="4892040"/>
            <a:ext cx="457200" cy="182880"/>
          </a:xfrm>
          <a:prstGeom prst="rect">
            <a:avLst/>
          </a:prstGeom>
          <a:noFill/>
          <a:ln/>
        </p:spPr>
        <p:txBody>
          <a:bodyPr wrap="square" lIns="0" tIns="0" rIns="0" bIns="0" rtlCol="0" anchor="ctr"/>
          <a:lstStyle/>
          <a:p>
            <a:pPr algn="r" indent="0" marL="0">
              <a:buNone/>
            </a:pPr>
            <a:r>
              <a:rPr lang="en-US" sz="800" dirty="0">
                <a:solidFill>
                  <a:srgbClr val="8EAFC2"/>
                </a:solidFill>
              </a:rPr>
              <a:t>3 / 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w="12700">
            <a:solidFill>
              <a:srgbClr val="0D1B2A"/>
            </a:solidFill>
            <a:prstDash val="solid"/>
          </a:ln>
        </p:spPr>
      </p:sp>
      <p:sp>
        <p:nvSpPr>
          <p:cNvPr id="3" name="Shape 1"/>
          <p:cNvSpPr/>
          <p:nvPr/>
        </p:nvSpPr>
        <p:spPr>
          <a:xfrm>
            <a:off x="0" y="594360"/>
            <a:ext cx="9144000" cy="73152"/>
          </a:xfrm>
          <a:prstGeom prst="rect">
            <a:avLst/>
          </a:prstGeom>
          <a:solidFill>
            <a:srgbClr val="00B4D8"/>
          </a:solidFill>
          <a:ln w="12700">
            <a:solidFill>
              <a:srgbClr val="00B4D8"/>
            </a:solidFill>
            <a:prstDash val="solid"/>
          </a:ln>
        </p:spPr>
      </p:sp>
      <p:sp>
        <p:nvSpPr>
          <p:cNvPr id="4" name="Shape 2"/>
          <p:cNvSpPr/>
          <p:nvPr/>
        </p:nvSpPr>
        <p:spPr>
          <a:xfrm>
            <a:off x="274320" y="91440"/>
            <a:ext cx="1188720" cy="411480"/>
          </a:xfrm>
          <a:prstGeom prst="roundRect">
            <a:avLst>
              <a:gd name="adj" fmla="val 13333"/>
            </a:avLst>
          </a:prstGeom>
          <a:solidFill>
            <a:srgbClr val="00B4D8"/>
          </a:solidFill>
          <a:ln w="12700">
            <a:solidFill>
              <a:srgbClr val="00B4D8"/>
            </a:solidFill>
            <a:prstDash val="solid"/>
          </a:ln>
        </p:spPr>
      </p:sp>
      <p:sp>
        <p:nvSpPr>
          <p:cNvPr id="5" name="Text 3"/>
          <p:cNvSpPr/>
          <p:nvPr/>
        </p:nvSpPr>
        <p:spPr>
          <a:xfrm>
            <a:off x="274320" y="91440"/>
            <a:ext cx="1188720" cy="411480"/>
          </a:xfrm>
          <a:prstGeom prst="rect">
            <a:avLst/>
          </a:prstGeom>
          <a:noFill/>
          <a:ln/>
        </p:spPr>
        <p:txBody>
          <a:bodyPr wrap="square" lIns="0" tIns="0" rIns="0" bIns="0" rtlCol="0" anchor="ctr"/>
          <a:lstStyle/>
          <a:p>
            <a:pPr algn="ctr" indent="0" marL="0">
              <a:buNone/>
            </a:pPr>
            <a:r>
              <a:rPr lang="en-US" sz="1000" b="1" dirty="0">
                <a:solidFill>
                  <a:srgbClr val="0D1B2A"/>
                </a:solidFill>
              </a:rPr>
              <a:t>Patent Idea #4</a:t>
            </a:r>
            <a:endParaRPr lang="en-US" sz="1000" dirty="0"/>
          </a:p>
        </p:txBody>
      </p:sp>
      <p:sp>
        <p:nvSpPr>
          <p:cNvPr id="6" name="Text 4"/>
          <p:cNvSpPr/>
          <p:nvPr/>
        </p:nvSpPr>
        <p:spPr>
          <a:xfrm>
            <a:off x="1600200" y="73152"/>
            <a:ext cx="7315200" cy="301752"/>
          </a:xfrm>
          <a:prstGeom prst="rect">
            <a:avLst/>
          </a:prstGeom>
          <a:noFill/>
          <a:ln/>
        </p:spPr>
        <p:txBody>
          <a:bodyPr wrap="square" lIns="0" tIns="0" rIns="0" bIns="0" rtlCol="0" anchor="ctr"/>
          <a:lstStyle/>
          <a:p>
            <a:pPr indent="0" marL="0">
              <a:buNone/>
            </a:pPr>
            <a:r>
              <a:rPr lang="en-US" sz="1500" b="1" dirty="0">
                <a:solidFill>
                  <a:srgbClr val="FFFFFF"/>
                </a:solidFill>
              </a:rPr>
              <a:t>Failure-Signature Curriculum with Role-Attributed Multi-Agent Trace Decomposition</a:t>
            </a:r>
            <a:endParaRPr lang="en-US" sz="1500" dirty="0"/>
          </a:p>
        </p:txBody>
      </p:sp>
      <p:sp>
        <p:nvSpPr>
          <p:cNvPr id="7" name="Text 5"/>
          <p:cNvSpPr/>
          <p:nvPr/>
        </p:nvSpPr>
        <p:spPr>
          <a:xfrm>
            <a:off x="1600200" y="365760"/>
            <a:ext cx="7315200" cy="201168"/>
          </a:xfrm>
          <a:prstGeom prst="rect">
            <a:avLst/>
          </a:prstGeom>
          <a:noFill/>
          <a:ln/>
        </p:spPr>
        <p:txBody>
          <a:bodyPr wrap="square" lIns="0" tIns="0" rIns="0" bIns="0" rtlCol="0" anchor="t"/>
          <a:lstStyle/>
          <a:p>
            <a:pPr indent="0" marL="0">
              <a:buNone/>
            </a:pPr>
            <a:r>
              <a:rPr lang="en-US" sz="900" dirty="0">
                <a:solidFill>
                  <a:srgbClr val="90E0EF"/>
                </a:solidFill>
              </a:rPr>
              <a:t>Self-purifying, role-specific training loop from verifier-gated failure attribution</a:t>
            </a:r>
            <a:endParaRPr lang="en-US" sz="900" dirty="0"/>
          </a:p>
        </p:txBody>
      </p:sp>
      <p:sp>
        <p:nvSpPr>
          <p:cNvPr id="8" name="Shape 6"/>
          <p:cNvSpPr/>
          <p:nvPr/>
        </p:nvSpPr>
        <p:spPr>
          <a:xfrm>
            <a:off x="27432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7432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ACCEPTANCE</a:t>
            </a:r>
            <a:endParaRPr lang="en-US" sz="800" dirty="0"/>
          </a:p>
        </p:txBody>
      </p:sp>
      <p:sp>
        <p:nvSpPr>
          <p:cNvPr id="10" name="Text 8"/>
          <p:cNvSpPr/>
          <p:nvPr/>
        </p:nvSpPr>
        <p:spPr>
          <a:xfrm>
            <a:off x="27432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66%</a:t>
            </a:r>
            <a:endParaRPr lang="en-US" sz="2000" dirty="0"/>
          </a:p>
        </p:txBody>
      </p:sp>
      <p:sp>
        <p:nvSpPr>
          <p:cNvPr id="11" name="Shape 9"/>
          <p:cNvSpPr/>
          <p:nvPr/>
        </p:nvSpPr>
        <p:spPr>
          <a:xfrm>
            <a:off x="1828800" y="795528"/>
            <a:ext cx="1417320" cy="685800"/>
          </a:xfrm>
          <a:prstGeom prst="roundRect">
            <a:avLst>
              <a:gd name="adj" fmla="val 10667"/>
            </a:avLst>
          </a:prstGeom>
          <a:solidFill>
            <a:srgbClr val="FEF3C7"/>
          </a:solidFill>
          <a:ln w="19050">
            <a:solidFill>
              <a:srgbClr val="F59E0B"/>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1828800" y="832104"/>
            <a:ext cx="1417320" cy="256032"/>
          </a:xfrm>
          <a:prstGeom prst="rect">
            <a:avLst/>
          </a:prstGeom>
          <a:noFill/>
          <a:ln/>
        </p:spPr>
        <p:txBody>
          <a:bodyPr wrap="square" lIns="0" tIns="0" rIns="0" bIns="0" rtlCol="0" anchor="ctr"/>
          <a:lstStyle/>
          <a:p>
            <a:pPr algn="ctr" indent="0" marL="0">
              <a:buNone/>
            </a:pPr>
            <a:r>
              <a:rPr lang="en-US" sz="800" b="1" dirty="0">
                <a:solidFill>
                  <a:srgbClr val="F59E0B"/>
                </a:solidFill>
              </a:rPr>
              <a:t>EST. OVERLAP</a:t>
            </a:r>
            <a:endParaRPr lang="en-US" sz="800" dirty="0"/>
          </a:p>
        </p:txBody>
      </p:sp>
      <p:sp>
        <p:nvSpPr>
          <p:cNvPr id="13" name="Text 11"/>
          <p:cNvSpPr/>
          <p:nvPr/>
        </p:nvSpPr>
        <p:spPr>
          <a:xfrm>
            <a:off x="1828800" y="1088136"/>
            <a:ext cx="1417320" cy="347472"/>
          </a:xfrm>
          <a:prstGeom prst="rect">
            <a:avLst/>
          </a:prstGeom>
          <a:noFill/>
          <a:ln/>
        </p:spPr>
        <p:txBody>
          <a:bodyPr wrap="square" lIns="0" tIns="0" rIns="0" bIns="0" rtlCol="0" anchor="ctr"/>
          <a:lstStyle/>
          <a:p>
            <a:pPr algn="ctr" indent="0" marL="0">
              <a:buNone/>
            </a:pPr>
            <a:r>
              <a:rPr lang="en-US" sz="2000" b="1" dirty="0">
                <a:solidFill>
                  <a:srgbClr val="F59E0B"/>
                </a:solidFill>
              </a:rPr>
              <a:t>24%</a:t>
            </a:r>
            <a:endParaRPr lang="en-US" sz="2000" dirty="0"/>
          </a:p>
        </p:txBody>
      </p:sp>
      <p:sp>
        <p:nvSpPr>
          <p:cNvPr id="14" name="Shape 12"/>
          <p:cNvSpPr/>
          <p:nvPr/>
        </p:nvSpPr>
        <p:spPr>
          <a:xfrm>
            <a:off x="338328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338328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NOVELTY</a:t>
            </a:r>
            <a:endParaRPr lang="en-US" sz="800" dirty="0"/>
          </a:p>
        </p:txBody>
      </p:sp>
      <p:sp>
        <p:nvSpPr>
          <p:cNvPr id="16" name="Text 14"/>
          <p:cNvSpPr/>
          <p:nvPr/>
        </p:nvSpPr>
        <p:spPr>
          <a:xfrm>
            <a:off x="338328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76%</a:t>
            </a:r>
            <a:endParaRPr lang="en-US" sz="2000" dirty="0"/>
          </a:p>
        </p:txBody>
      </p:sp>
      <p:sp>
        <p:nvSpPr>
          <p:cNvPr id="17" name="Shape 15"/>
          <p:cNvSpPr/>
          <p:nvPr/>
        </p:nvSpPr>
        <p:spPr>
          <a:xfrm>
            <a:off x="256032" y="1600200"/>
            <a:ext cx="4160520" cy="132588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56032" y="1600200"/>
            <a:ext cx="54864" cy="1325880"/>
          </a:xfrm>
          <a:prstGeom prst="rect">
            <a:avLst/>
          </a:prstGeom>
          <a:solidFill>
            <a:srgbClr val="00B4D8"/>
          </a:solidFill>
          <a:ln w="12700">
            <a:solidFill>
              <a:srgbClr val="00B4D8"/>
            </a:solidFill>
            <a:prstDash val="solid"/>
          </a:ln>
        </p:spPr>
      </p:sp>
      <p:sp>
        <p:nvSpPr>
          <p:cNvPr id="19" name="Shape 17"/>
          <p:cNvSpPr/>
          <p:nvPr/>
        </p:nvSpPr>
        <p:spPr>
          <a:xfrm>
            <a:off x="384048" y="1664208"/>
            <a:ext cx="45720" cy="201168"/>
          </a:xfrm>
          <a:prstGeom prst="rect">
            <a:avLst/>
          </a:prstGeom>
          <a:solidFill>
            <a:srgbClr val="00B4D8"/>
          </a:solidFill>
          <a:ln w="12700">
            <a:solidFill>
              <a:srgbClr val="00B4D8"/>
            </a:solidFill>
            <a:prstDash val="solid"/>
          </a:ln>
        </p:spPr>
      </p:sp>
      <p:sp>
        <p:nvSpPr>
          <p:cNvPr id="20" name="Text 18"/>
          <p:cNvSpPr/>
          <p:nvPr/>
        </p:nvSpPr>
        <p:spPr>
          <a:xfrm>
            <a:off x="475488" y="165506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PROBLEM SOLVED</a:t>
            </a:r>
            <a:endParaRPr lang="en-US" sz="1000" dirty="0"/>
          </a:p>
        </p:txBody>
      </p:sp>
      <p:sp>
        <p:nvSpPr>
          <p:cNvPr id="21" name="Text 19"/>
          <p:cNvSpPr/>
          <p:nvPr/>
        </p:nvSpPr>
        <p:spPr>
          <a:xfrm>
            <a:off x="347472" y="1920240"/>
            <a:ext cx="3977640" cy="914400"/>
          </a:xfrm>
          <a:prstGeom prst="rect">
            <a:avLst/>
          </a:prstGeom>
          <a:noFill/>
          <a:ln/>
        </p:spPr>
        <p:txBody>
          <a:bodyPr wrap="square" lIns="0" tIns="0" rIns="0" bIns="0" rtlCol="0" anchor="ctr"/>
          <a:lstStyle/>
          <a:p>
            <a:pPr indent="0" marL="0">
              <a:lnSpc>
                <a:spcPct val="130000"/>
              </a:lnSpc>
              <a:buNone/>
            </a:pPr>
            <a:r>
              <a:rPr lang="en-US" sz="950" dirty="0">
                <a:solidFill>
                  <a:srgbClr val="2C4A5E"/>
                </a:solidFill>
              </a:rPr>
              <a:t>Multi-agent systems cannot improve from their own failures systematically. Existing curriculum learning requires human annotation. No system attributes failures to specific agent roles and generates targeted training data for only those weak roles.</a:t>
            </a:r>
            <a:endParaRPr lang="en-US" sz="950" dirty="0"/>
          </a:p>
        </p:txBody>
      </p:sp>
      <p:sp>
        <p:nvSpPr>
          <p:cNvPr id="22" name="Shape 20"/>
          <p:cNvSpPr/>
          <p:nvPr/>
        </p:nvSpPr>
        <p:spPr>
          <a:xfrm>
            <a:off x="256032" y="2999232"/>
            <a:ext cx="4160520" cy="1938528"/>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56032" y="2999232"/>
            <a:ext cx="54864" cy="1938528"/>
          </a:xfrm>
          <a:prstGeom prst="rect">
            <a:avLst/>
          </a:prstGeom>
          <a:solidFill>
            <a:srgbClr val="0D1B2A"/>
          </a:solidFill>
          <a:ln w="12700">
            <a:solidFill>
              <a:srgbClr val="0D1B2A"/>
            </a:solidFill>
            <a:prstDash val="solid"/>
          </a:ln>
        </p:spPr>
      </p:sp>
      <p:sp>
        <p:nvSpPr>
          <p:cNvPr id="24" name="Shape 22"/>
          <p:cNvSpPr/>
          <p:nvPr/>
        </p:nvSpPr>
        <p:spPr>
          <a:xfrm>
            <a:off x="384048" y="3054096"/>
            <a:ext cx="45720" cy="201168"/>
          </a:xfrm>
          <a:prstGeom prst="rect">
            <a:avLst/>
          </a:prstGeom>
          <a:solidFill>
            <a:srgbClr val="00B4D8"/>
          </a:solidFill>
          <a:ln w="12700">
            <a:solidFill>
              <a:srgbClr val="00B4D8"/>
            </a:solidFill>
            <a:prstDash val="solid"/>
          </a:ln>
        </p:spPr>
      </p:sp>
      <p:sp>
        <p:nvSpPr>
          <p:cNvPr id="25" name="Text 23"/>
          <p:cNvSpPr/>
          <p:nvPr/>
        </p:nvSpPr>
        <p:spPr>
          <a:xfrm>
            <a:off x="475488" y="3044952"/>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NOVEL APPROACH</a:t>
            </a:r>
            <a:endParaRPr lang="en-US" sz="1000" dirty="0"/>
          </a:p>
        </p:txBody>
      </p:sp>
      <p:sp>
        <p:nvSpPr>
          <p:cNvPr id="26" name="Text 24"/>
          <p:cNvSpPr/>
          <p:nvPr/>
        </p:nvSpPr>
        <p:spPr>
          <a:xfrm>
            <a:off x="384048" y="3310128"/>
            <a:ext cx="3931920" cy="1536192"/>
          </a:xfrm>
          <a:prstGeom prst="rect">
            <a:avLst/>
          </a:prstGeom>
          <a:noFill/>
          <a:ln/>
        </p:spPr>
        <p:txBody>
          <a:bodyPr wrap="square" lIns="0" tIns="0" rIns="0" bIns="0" rtlCol="0" anchor="ctr"/>
          <a:lstStyle/>
          <a:p>
            <a:pPr marL="342900" indent="-342900">
              <a:lnSpc>
                <a:spcPct val="125000"/>
              </a:lnSpc>
              <a:buSzPct val="100000"/>
              <a:buFont typeface="+mj-lt"/>
              <a:buAutoNum type="arabicPeriod" startAt="1"/>
            </a:pPr>
            <a:r>
              <a:rPr lang="en-US" sz="850" dirty="0">
                <a:solidFill>
                  <a:srgbClr val="0D1B2A"/>
                </a:solidFill>
              </a:rPr>
              <a:t>Causal attribution: Multi-agent execution traces decomposed via hierarchical causal attribution to identify which agent role and decision step caused failure</a:t>
            </a:r>
            <a:endParaRPr lang="en-US" sz="850" dirty="0"/>
          </a:p>
          <a:p>
            <a:pPr marL="342900" indent="-342900">
              <a:lnSpc>
                <a:spcPct val="125000"/>
              </a:lnSpc>
              <a:buSzPct val="100000"/>
              <a:buFont typeface="+mj-lt"/>
              <a:buAutoNum type="arabicPeriod" startAt="1"/>
            </a:pPr>
            <a:r>
              <a:rPr lang="en-US" sz="850" dirty="0">
                <a:solidFill>
                  <a:srgbClr val="0D1B2A"/>
                </a:solidFill>
              </a:rPr>
              <a:t>Failure-signature clustering: Failures grouped into structural types — decomposition error, tool contract violation, constraint hallucination, delegation deadlock</a:t>
            </a:r>
            <a:endParaRPr lang="en-US" sz="850" dirty="0"/>
          </a:p>
          <a:p>
            <a:pPr marL="342900" indent="-342900">
              <a:lnSpc>
                <a:spcPct val="125000"/>
              </a:lnSpc>
              <a:buSzPct val="100000"/>
              <a:buFont typeface="+mj-lt"/>
              <a:buAutoNum type="arabicPeriod" startAt="1"/>
            </a:pPr>
            <a:r>
              <a:rPr lang="en-US" sz="850" dirty="0">
                <a:solidFill>
                  <a:srgbClr val="0D1B2A"/>
                </a:solidFill>
              </a:rPr>
              <a:t>Role-targeted synthesis: Curriculum engine synthesises new training instances targeting only the weakest cluster for each specific agent role</a:t>
            </a:r>
            <a:endParaRPr lang="en-US" sz="850" dirty="0"/>
          </a:p>
          <a:p>
            <a:pPr marL="342900" indent="-342900">
              <a:lnSpc>
                <a:spcPct val="125000"/>
              </a:lnSpc>
              <a:buSzPct val="100000"/>
              <a:buFont typeface="+mj-lt"/>
              <a:buAutoNum type="arabicPeriod" startAt="1"/>
            </a:pPr>
            <a:r>
              <a:rPr lang="en-US" sz="850" dirty="0">
                <a:solidFill>
                  <a:srgbClr val="0D1B2A"/>
                </a:solidFill>
              </a:rPr>
              <a:t>Verifier-gated buffer: Synthesised instances filtered through multi-gate checks (constraint + contract + safety + execution) before entering training buffer</a:t>
            </a:r>
            <a:endParaRPr lang="en-US" sz="850" dirty="0"/>
          </a:p>
        </p:txBody>
      </p:sp>
      <p:sp>
        <p:nvSpPr>
          <p:cNvPr id="27" name="Shape 25"/>
          <p:cNvSpPr/>
          <p:nvPr/>
        </p:nvSpPr>
        <p:spPr>
          <a:xfrm>
            <a:off x="4727448" y="795528"/>
            <a:ext cx="4160520" cy="237744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4727448" y="795528"/>
            <a:ext cx="54864" cy="2377440"/>
          </a:xfrm>
          <a:prstGeom prst="rect">
            <a:avLst/>
          </a:prstGeom>
          <a:solidFill>
            <a:srgbClr val="00B4D8"/>
          </a:solidFill>
          <a:ln w="12700">
            <a:solidFill>
              <a:srgbClr val="00B4D8"/>
            </a:solidFill>
            <a:prstDash val="solid"/>
          </a:ln>
        </p:spPr>
      </p:sp>
      <p:sp>
        <p:nvSpPr>
          <p:cNvPr id="29" name="Shape 27"/>
          <p:cNvSpPr/>
          <p:nvPr/>
        </p:nvSpPr>
        <p:spPr>
          <a:xfrm>
            <a:off x="4855464" y="850392"/>
            <a:ext cx="45720" cy="201168"/>
          </a:xfrm>
          <a:prstGeom prst="rect">
            <a:avLst/>
          </a:prstGeom>
          <a:solidFill>
            <a:srgbClr val="00B4D8"/>
          </a:solidFill>
          <a:ln w="12700">
            <a:solidFill>
              <a:srgbClr val="00B4D8"/>
            </a:solidFill>
            <a:prstDash val="solid"/>
          </a:ln>
        </p:spPr>
      </p:sp>
      <p:sp>
        <p:nvSpPr>
          <p:cNvPr id="30" name="Text 28"/>
          <p:cNvSpPr/>
          <p:nvPr/>
        </p:nvSpPr>
        <p:spPr>
          <a:xfrm>
            <a:off x="4946904" y="841248"/>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KEY CLAIMS</a:t>
            </a:r>
            <a:endParaRPr lang="en-US" sz="1000" dirty="0"/>
          </a:p>
        </p:txBody>
      </p:sp>
      <p:sp>
        <p:nvSpPr>
          <p:cNvPr id="31" name="Text 29"/>
          <p:cNvSpPr/>
          <p:nvPr/>
        </p:nvSpPr>
        <p:spPr>
          <a:xfrm>
            <a:off x="4846320" y="1078992"/>
            <a:ext cx="3931920" cy="1965960"/>
          </a:xfrm>
          <a:prstGeom prst="rect">
            <a:avLst/>
          </a:prstGeom>
          <a:noFill/>
          <a:ln/>
        </p:spPr>
        <p:txBody>
          <a:bodyPr wrap="square" lIns="0" tIns="0" rIns="0" bIns="0" rtlCol="0" anchor="ctr"/>
          <a:lstStyle/>
          <a:p>
            <a:pPr marL="342900" indent="-342900">
              <a:lnSpc>
                <a:spcPct val="125000"/>
              </a:lnSpc>
              <a:buSzPct val="100000"/>
              <a:buChar char="•"/>
            </a:pPr>
            <a:r>
              <a:rPr lang="en-US" sz="900" dirty="0">
                <a:solidFill>
                  <a:srgbClr val="0D1B2A"/>
                </a:solidFill>
              </a:rPr>
              <a:t>Method for decomposing multi-agent traces into role-attributed failure signatures using hierarchical causal attribution</a:t>
            </a:r>
            <a:endParaRPr lang="en-US" sz="900" dirty="0"/>
          </a:p>
          <a:p>
            <a:pPr marL="342900" indent="-342900">
              <a:lnSpc>
                <a:spcPct val="125000"/>
              </a:lnSpc>
              <a:buSzPct val="100000"/>
              <a:buChar char="•"/>
            </a:pPr>
            <a:r>
              <a:rPr lang="en-US" sz="900" dirty="0">
                <a:solidFill>
                  <a:srgbClr val="0D1B2A"/>
                </a:solidFill>
              </a:rPr>
              <a:t>Failure-signature clustering algorithm producing structural taxonomy of agent failure types</a:t>
            </a:r>
            <a:endParaRPr lang="en-US" sz="900" dirty="0"/>
          </a:p>
          <a:p>
            <a:pPr marL="342900" indent="-342900">
              <a:lnSpc>
                <a:spcPct val="125000"/>
              </a:lnSpc>
              <a:buSzPct val="100000"/>
              <a:buChar char="•"/>
            </a:pPr>
            <a:r>
              <a:rPr lang="en-US" sz="900" dirty="0">
                <a:solidFill>
                  <a:srgbClr val="0D1B2A"/>
                </a:solidFill>
              </a:rPr>
              <a:t>Curriculum synthesis engine generating training instances targeted at weakest failure-signature cluster per agent role</a:t>
            </a:r>
            <a:endParaRPr lang="en-US" sz="900" dirty="0"/>
          </a:p>
          <a:p>
            <a:pPr marL="342900" indent="-342900">
              <a:lnSpc>
                <a:spcPct val="125000"/>
              </a:lnSpc>
              <a:buSzPct val="100000"/>
              <a:buChar char="•"/>
            </a:pPr>
            <a:r>
              <a:rPr lang="en-US" sz="900" dirty="0">
                <a:solidFill>
                  <a:srgbClr val="0D1B2A"/>
                </a:solidFill>
              </a:rPr>
              <a:t>Verifier-gated training data pipeline with multi-gate admission filter — self-purifying training loop</a:t>
            </a:r>
            <a:endParaRPr lang="en-US" sz="900" dirty="0"/>
          </a:p>
        </p:txBody>
      </p:sp>
      <p:sp>
        <p:nvSpPr>
          <p:cNvPr id="32" name="Shape 30"/>
          <p:cNvSpPr/>
          <p:nvPr/>
        </p:nvSpPr>
        <p:spPr>
          <a:xfrm>
            <a:off x="4727448" y="3255264"/>
            <a:ext cx="4160520" cy="166420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727448" y="3255264"/>
            <a:ext cx="54864" cy="1664208"/>
          </a:xfrm>
          <a:prstGeom prst="rect">
            <a:avLst/>
          </a:prstGeom>
          <a:solidFill>
            <a:srgbClr val="00B4D8"/>
          </a:solidFill>
          <a:ln w="12700">
            <a:solidFill>
              <a:srgbClr val="00B4D8"/>
            </a:solidFill>
            <a:prstDash val="solid"/>
          </a:ln>
        </p:spPr>
      </p:sp>
      <p:sp>
        <p:nvSpPr>
          <p:cNvPr id="34" name="Shape 32"/>
          <p:cNvSpPr/>
          <p:nvPr/>
        </p:nvSpPr>
        <p:spPr>
          <a:xfrm>
            <a:off x="4855464" y="3310128"/>
            <a:ext cx="45720" cy="201168"/>
          </a:xfrm>
          <a:prstGeom prst="rect">
            <a:avLst/>
          </a:prstGeom>
          <a:solidFill>
            <a:srgbClr val="00B4D8"/>
          </a:solidFill>
          <a:ln w="12700">
            <a:solidFill>
              <a:srgbClr val="00B4D8"/>
            </a:solidFill>
            <a:prstDash val="solid"/>
          </a:ln>
        </p:spPr>
      </p:sp>
      <p:sp>
        <p:nvSpPr>
          <p:cNvPr id="35" name="Text 33"/>
          <p:cNvSpPr/>
          <p:nvPr/>
        </p:nvSpPr>
        <p:spPr>
          <a:xfrm>
            <a:off x="4946904" y="330098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DIFFERENTIATION FROM EXISTING PATENTS</a:t>
            </a:r>
            <a:endParaRPr lang="en-US" sz="1000" dirty="0"/>
          </a:p>
        </p:txBody>
      </p:sp>
      <p:sp>
        <p:nvSpPr>
          <p:cNvPr id="36" name="Text 34"/>
          <p:cNvSpPr/>
          <p:nvPr/>
        </p:nvSpPr>
        <p:spPr>
          <a:xfrm>
            <a:off x="4846320" y="3538728"/>
            <a:ext cx="3931920" cy="1298448"/>
          </a:xfrm>
          <a:prstGeom prst="rect">
            <a:avLst/>
          </a:prstGeom>
          <a:noFill/>
          <a:ln/>
        </p:spPr>
        <p:txBody>
          <a:bodyPr wrap="square" lIns="0" tIns="0" rIns="0" bIns="0" rtlCol="0" anchor="ctr"/>
          <a:lstStyle/>
          <a:p>
            <a:pPr marL="342900" indent="-342900">
              <a:lnSpc>
                <a:spcPct val="130000"/>
              </a:lnSpc>
              <a:buSzPct val="100000"/>
              <a:buChar char="•"/>
            </a:pPr>
            <a:r>
              <a:rPr lang="en-US" sz="900" dirty="0">
                <a:solidFill>
                  <a:srgbClr val="F0F7FF"/>
                </a:solidFill>
              </a:rPr>
              <a:t>CorrectAD (arxiv:2511.13297): self-correction for autonomous driving only, no role attribution</a:t>
            </a:r>
            <a:endParaRPr lang="en-US" sz="900" dirty="0"/>
          </a:p>
          <a:p>
            <a:pPr marL="342900" indent="-342900">
              <a:lnSpc>
                <a:spcPct val="130000"/>
              </a:lnSpc>
              <a:buSzPct val="100000"/>
              <a:buChar char="•"/>
            </a:pPr>
            <a:r>
              <a:rPr lang="en-US" sz="900" dirty="0">
                <a:solidFill>
                  <a:srgbClr val="F0F7FF"/>
                </a:solidFill>
              </a:rPr>
              <a:t>CHIEF attribution: root-causes failures but does not synthesise training data from them</a:t>
            </a:r>
            <a:endParaRPr lang="en-US" sz="900" dirty="0"/>
          </a:p>
          <a:p>
            <a:pPr marL="342900" indent="-342900">
              <a:lnSpc>
                <a:spcPct val="130000"/>
              </a:lnSpc>
              <a:buSzPct val="100000"/>
              <a:buChar char="•"/>
            </a:pPr>
            <a:r>
              <a:rPr lang="en-US" sz="900" dirty="0">
                <a:solidFill>
                  <a:srgbClr val="F0F7FF"/>
                </a:solidFill>
              </a:rPr>
              <a:t>No patent chains attribution → signature clustering → role-targeted synthesis → verified buffer</a:t>
            </a:r>
            <a:endParaRPr lang="en-US" sz="900" dirty="0"/>
          </a:p>
        </p:txBody>
      </p:sp>
      <p:sp>
        <p:nvSpPr>
          <p:cNvPr id="37" name="Text 35"/>
          <p:cNvSpPr/>
          <p:nvPr/>
        </p:nvSpPr>
        <p:spPr>
          <a:xfrm>
            <a:off x="8503920" y="4892040"/>
            <a:ext cx="457200" cy="182880"/>
          </a:xfrm>
          <a:prstGeom prst="rect">
            <a:avLst/>
          </a:prstGeom>
          <a:noFill/>
          <a:ln/>
        </p:spPr>
        <p:txBody>
          <a:bodyPr wrap="square" lIns="0" tIns="0" rIns="0" bIns="0" rtlCol="0" anchor="ctr"/>
          <a:lstStyle/>
          <a:p>
            <a:pPr algn="r" indent="0" marL="0">
              <a:buNone/>
            </a:pPr>
            <a:r>
              <a:rPr lang="en-US" sz="800" dirty="0">
                <a:solidFill>
                  <a:srgbClr val="8EAFC2"/>
                </a:solidFill>
              </a:rPr>
              <a:t>4 /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w="12700">
            <a:solidFill>
              <a:srgbClr val="0D1B2A"/>
            </a:solidFill>
            <a:prstDash val="solid"/>
          </a:ln>
        </p:spPr>
      </p:sp>
      <p:sp>
        <p:nvSpPr>
          <p:cNvPr id="3" name="Shape 1"/>
          <p:cNvSpPr/>
          <p:nvPr/>
        </p:nvSpPr>
        <p:spPr>
          <a:xfrm>
            <a:off x="0" y="594360"/>
            <a:ext cx="9144000" cy="73152"/>
          </a:xfrm>
          <a:prstGeom prst="rect">
            <a:avLst/>
          </a:prstGeom>
          <a:solidFill>
            <a:srgbClr val="00B4D8"/>
          </a:solidFill>
          <a:ln w="12700">
            <a:solidFill>
              <a:srgbClr val="00B4D8"/>
            </a:solidFill>
            <a:prstDash val="solid"/>
          </a:ln>
        </p:spPr>
      </p:sp>
      <p:sp>
        <p:nvSpPr>
          <p:cNvPr id="4" name="Shape 2"/>
          <p:cNvSpPr/>
          <p:nvPr/>
        </p:nvSpPr>
        <p:spPr>
          <a:xfrm>
            <a:off x="274320" y="91440"/>
            <a:ext cx="1188720" cy="411480"/>
          </a:xfrm>
          <a:prstGeom prst="roundRect">
            <a:avLst>
              <a:gd name="adj" fmla="val 13333"/>
            </a:avLst>
          </a:prstGeom>
          <a:solidFill>
            <a:srgbClr val="00B4D8"/>
          </a:solidFill>
          <a:ln w="12700">
            <a:solidFill>
              <a:srgbClr val="00B4D8"/>
            </a:solidFill>
            <a:prstDash val="solid"/>
          </a:ln>
        </p:spPr>
      </p:sp>
      <p:sp>
        <p:nvSpPr>
          <p:cNvPr id="5" name="Text 3"/>
          <p:cNvSpPr/>
          <p:nvPr/>
        </p:nvSpPr>
        <p:spPr>
          <a:xfrm>
            <a:off x="274320" y="91440"/>
            <a:ext cx="1188720" cy="411480"/>
          </a:xfrm>
          <a:prstGeom prst="rect">
            <a:avLst/>
          </a:prstGeom>
          <a:noFill/>
          <a:ln/>
        </p:spPr>
        <p:txBody>
          <a:bodyPr wrap="square" lIns="0" tIns="0" rIns="0" bIns="0" rtlCol="0" anchor="ctr"/>
          <a:lstStyle/>
          <a:p>
            <a:pPr algn="ctr" indent="0" marL="0">
              <a:buNone/>
            </a:pPr>
            <a:r>
              <a:rPr lang="en-US" sz="1000" b="1" dirty="0">
                <a:solidFill>
                  <a:srgbClr val="0D1B2A"/>
                </a:solidFill>
              </a:rPr>
              <a:t>Patent Idea #5</a:t>
            </a:r>
            <a:endParaRPr lang="en-US" sz="1000" dirty="0"/>
          </a:p>
        </p:txBody>
      </p:sp>
      <p:sp>
        <p:nvSpPr>
          <p:cNvPr id="6" name="Text 4"/>
          <p:cNvSpPr/>
          <p:nvPr/>
        </p:nvSpPr>
        <p:spPr>
          <a:xfrm>
            <a:off x="1600200" y="73152"/>
            <a:ext cx="7315200" cy="301752"/>
          </a:xfrm>
          <a:prstGeom prst="rect">
            <a:avLst/>
          </a:prstGeom>
          <a:noFill/>
          <a:ln/>
        </p:spPr>
        <p:txBody>
          <a:bodyPr wrap="square" lIns="0" tIns="0" rIns="0" bIns="0" rtlCol="0" anchor="ctr"/>
          <a:lstStyle/>
          <a:p>
            <a:pPr indent="0" marL="0">
              <a:buNone/>
            </a:pPr>
            <a:r>
              <a:rPr lang="en-US" sz="1500" b="1" dirty="0">
                <a:solidFill>
                  <a:srgbClr val="FFFFFF"/>
                </a:solidFill>
              </a:rPr>
              <a:t>Argumentation-Framework Consensus with Mandatory Dissenter Role</a:t>
            </a:r>
            <a:endParaRPr lang="en-US" sz="1500" dirty="0"/>
          </a:p>
        </p:txBody>
      </p:sp>
      <p:sp>
        <p:nvSpPr>
          <p:cNvPr id="7" name="Text 5"/>
          <p:cNvSpPr/>
          <p:nvPr/>
        </p:nvSpPr>
        <p:spPr>
          <a:xfrm>
            <a:off x="1600200" y="365760"/>
            <a:ext cx="7315200" cy="201168"/>
          </a:xfrm>
          <a:prstGeom prst="rect">
            <a:avLst/>
          </a:prstGeom>
          <a:noFill/>
          <a:ln/>
        </p:spPr>
        <p:txBody>
          <a:bodyPr wrap="square" lIns="0" tIns="0" rIns="0" bIns="0" rtlCol="0" anchor="t"/>
          <a:lstStyle/>
          <a:p>
            <a:pPr indent="0" marL="0">
              <a:buNone/>
            </a:pPr>
            <a:r>
              <a:rPr lang="en-US" sz="900" dirty="0">
                <a:solidFill>
                  <a:srgbClr val="90E0EF"/>
                </a:solidFill>
              </a:rPr>
              <a:t>Quantitative Bipolar Argumentation Frameworks replace majority voting in multi-agent planning</a:t>
            </a:r>
            <a:endParaRPr lang="en-US" sz="900" dirty="0"/>
          </a:p>
        </p:txBody>
      </p:sp>
      <p:sp>
        <p:nvSpPr>
          <p:cNvPr id="8" name="Shape 6"/>
          <p:cNvSpPr/>
          <p:nvPr/>
        </p:nvSpPr>
        <p:spPr>
          <a:xfrm>
            <a:off x="27432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7432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ACCEPTANCE</a:t>
            </a:r>
            <a:endParaRPr lang="en-US" sz="800" dirty="0"/>
          </a:p>
        </p:txBody>
      </p:sp>
      <p:sp>
        <p:nvSpPr>
          <p:cNvPr id="10" name="Text 8"/>
          <p:cNvSpPr/>
          <p:nvPr/>
        </p:nvSpPr>
        <p:spPr>
          <a:xfrm>
            <a:off x="27432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63%</a:t>
            </a:r>
            <a:endParaRPr lang="en-US" sz="2000" dirty="0"/>
          </a:p>
        </p:txBody>
      </p:sp>
      <p:sp>
        <p:nvSpPr>
          <p:cNvPr id="11" name="Shape 9"/>
          <p:cNvSpPr/>
          <p:nvPr/>
        </p:nvSpPr>
        <p:spPr>
          <a:xfrm>
            <a:off x="1828800" y="795528"/>
            <a:ext cx="1417320" cy="685800"/>
          </a:xfrm>
          <a:prstGeom prst="roundRect">
            <a:avLst>
              <a:gd name="adj" fmla="val 10667"/>
            </a:avLst>
          </a:prstGeom>
          <a:solidFill>
            <a:srgbClr val="FEF3C7"/>
          </a:solidFill>
          <a:ln w="19050">
            <a:solidFill>
              <a:srgbClr val="F59E0B"/>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1828800" y="832104"/>
            <a:ext cx="1417320" cy="256032"/>
          </a:xfrm>
          <a:prstGeom prst="rect">
            <a:avLst/>
          </a:prstGeom>
          <a:noFill/>
          <a:ln/>
        </p:spPr>
        <p:txBody>
          <a:bodyPr wrap="square" lIns="0" tIns="0" rIns="0" bIns="0" rtlCol="0" anchor="ctr"/>
          <a:lstStyle/>
          <a:p>
            <a:pPr algn="ctr" indent="0" marL="0">
              <a:buNone/>
            </a:pPr>
            <a:r>
              <a:rPr lang="en-US" sz="800" b="1" dirty="0">
                <a:solidFill>
                  <a:srgbClr val="F59E0B"/>
                </a:solidFill>
              </a:rPr>
              <a:t>EST. OVERLAP</a:t>
            </a:r>
            <a:endParaRPr lang="en-US" sz="800" dirty="0"/>
          </a:p>
        </p:txBody>
      </p:sp>
      <p:sp>
        <p:nvSpPr>
          <p:cNvPr id="13" name="Text 11"/>
          <p:cNvSpPr/>
          <p:nvPr/>
        </p:nvSpPr>
        <p:spPr>
          <a:xfrm>
            <a:off x="1828800" y="1088136"/>
            <a:ext cx="1417320" cy="347472"/>
          </a:xfrm>
          <a:prstGeom prst="rect">
            <a:avLst/>
          </a:prstGeom>
          <a:noFill/>
          <a:ln/>
        </p:spPr>
        <p:txBody>
          <a:bodyPr wrap="square" lIns="0" tIns="0" rIns="0" bIns="0" rtlCol="0" anchor="ctr"/>
          <a:lstStyle/>
          <a:p>
            <a:pPr algn="ctr" indent="0" marL="0">
              <a:buNone/>
            </a:pPr>
            <a:r>
              <a:rPr lang="en-US" sz="2000" b="1" dirty="0">
                <a:solidFill>
                  <a:srgbClr val="F59E0B"/>
                </a:solidFill>
              </a:rPr>
              <a:t>27%</a:t>
            </a:r>
            <a:endParaRPr lang="en-US" sz="2000" dirty="0"/>
          </a:p>
        </p:txBody>
      </p:sp>
      <p:sp>
        <p:nvSpPr>
          <p:cNvPr id="14" name="Shape 12"/>
          <p:cNvSpPr/>
          <p:nvPr/>
        </p:nvSpPr>
        <p:spPr>
          <a:xfrm>
            <a:off x="3383280" y="795528"/>
            <a:ext cx="1417320" cy="685800"/>
          </a:xfrm>
          <a:prstGeom prst="roundRect">
            <a:avLst>
              <a:gd name="adj" fmla="val 10667"/>
            </a:avLst>
          </a:prstGeom>
          <a:solidFill>
            <a:srgbClr val="DCFCE7"/>
          </a:solidFill>
          <a:ln w="19050">
            <a:solidFill>
              <a:srgbClr val="22C55E"/>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3383280" y="832104"/>
            <a:ext cx="1417320" cy="256032"/>
          </a:xfrm>
          <a:prstGeom prst="rect">
            <a:avLst/>
          </a:prstGeom>
          <a:noFill/>
          <a:ln/>
        </p:spPr>
        <p:txBody>
          <a:bodyPr wrap="square" lIns="0" tIns="0" rIns="0" bIns="0" rtlCol="0" anchor="ctr"/>
          <a:lstStyle/>
          <a:p>
            <a:pPr algn="ctr" indent="0" marL="0">
              <a:buNone/>
            </a:pPr>
            <a:r>
              <a:rPr lang="en-US" sz="800" b="1" dirty="0">
                <a:solidFill>
                  <a:srgbClr val="22C55E"/>
                </a:solidFill>
              </a:rPr>
              <a:t>EST. NOVELTY</a:t>
            </a:r>
            <a:endParaRPr lang="en-US" sz="800" dirty="0"/>
          </a:p>
        </p:txBody>
      </p:sp>
      <p:sp>
        <p:nvSpPr>
          <p:cNvPr id="16" name="Text 14"/>
          <p:cNvSpPr/>
          <p:nvPr/>
        </p:nvSpPr>
        <p:spPr>
          <a:xfrm>
            <a:off x="3383280" y="1088136"/>
            <a:ext cx="1417320" cy="347472"/>
          </a:xfrm>
          <a:prstGeom prst="rect">
            <a:avLst/>
          </a:prstGeom>
          <a:noFill/>
          <a:ln/>
        </p:spPr>
        <p:txBody>
          <a:bodyPr wrap="square" lIns="0" tIns="0" rIns="0" bIns="0" rtlCol="0" anchor="ctr"/>
          <a:lstStyle/>
          <a:p>
            <a:pPr algn="ctr" indent="0" marL="0">
              <a:buNone/>
            </a:pPr>
            <a:r>
              <a:rPr lang="en-US" sz="2000" b="1" dirty="0">
                <a:solidFill>
                  <a:srgbClr val="22C55E"/>
                </a:solidFill>
              </a:rPr>
              <a:t>73%</a:t>
            </a:r>
            <a:endParaRPr lang="en-US" sz="2000" dirty="0"/>
          </a:p>
        </p:txBody>
      </p:sp>
      <p:sp>
        <p:nvSpPr>
          <p:cNvPr id="17" name="Shape 15"/>
          <p:cNvSpPr/>
          <p:nvPr/>
        </p:nvSpPr>
        <p:spPr>
          <a:xfrm>
            <a:off x="256032" y="1600200"/>
            <a:ext cx="4160520" cy="132588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56032" y="1600200"/>
            <a:ext cx="54864" cy="1325880"/>
          </a:xfrm>
          <a:prstGeom prst="rect">
            <a:avLst/>
          </a:prstGeom>
          <a:solidFill>
            <a:srgbClr val="00B4D8"/>
          </a:solidFill>
          <a:ln w="12700">
            <a:solidFill>
              <a:srgbClr val="00B4D8"/>
            </a:solidFill>
            <a:prstDash val="solid"/>
          </a:ln>
        </p:spPr>
      </p:sp>
      <p:sp>
        <p:nvSpPr>
          <p:cNvPr id="19" name="Shape 17"/>
          <p:cNvSpPr/>
          <p:nvPr/>
        </p:nvSpPr>
        <p:spPr>
          <a:xfrm>
            <a:off x="384048" y="1664208"/>
            <a:ext cx="45720" cy="201168"/>
          </a:xfrm>
          <a:prstGeom prst="rect">
            <a:avLst/>
          </a:prstGeom>
          <a:solidFill>
            <a:srgbClr val="00B4D8"/>
          </a:solidFill>
          <a:ln w="12700">
            <a:solidFill>
              <a:srgbClr val="00B4D8"/>
            </a:solidFill>
            <a:prstDash val="solid"/>
          </a:ln>
        </p:spPr>
      </p:sp>
      <p:sp>
        <p:nvSpPr>
          <p:cNvPr id="20" name="Text 18"/>
          <p:cNvSpPr/>
          <p:nvPr/>
        </p:nvSpPr>
        <p:spPr>
          <a:xfrm>
            <a:off x="475488" y="165506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PROBLEM SOLVED</a:t>
            </a:r>
            <a:endParaRPr lang="en-US" sz="1000" dirty="0"/>
          </a:p>
        </p:txBody>
      </p:sp>
      <p:sp>
        <p:nvSpPr>
          <p:cNvPr id="21" name="Text 19"/>
          <p:cNvSpPr/>
          <p:nvPr/>
        </p:nvSpPr>
        <p:spPr>
          <a:xfrm>
            <a:off x="347472" y="1920240"/>
            <a:ext cx="3977640" cy="914400"/>
          </a:xfrm>
          <a:prstGeom prst="rect">
            <a:avLst/>
          </a:prstGeom>
          <a:noFill/>
          <a:ln/>
        </p:spPr>
        <p:txBody>
          <a:bodyPr wrap="square" lIns="0" tIns="0" rIns="0" bIns="0" rtlCol="0" anchor="ctr"/>
          <a:lstStyle/>
          <a:p>
            <a:pPr indent="0" marL="0">
              <a:lnSpc>
                <a:spcPct val="130000"/>
              </a:lnSpc>
              <a:buNone/>
            </a:pPr>
            <a:r>
              <a:rPr lang="en-US" sz="950" dirty="0">
                <a:solidFill>
                  <a:srgbClr val="2C4A5E"/>
                </a:solidFill>
              </a:rPr>
              <a:t>Multi-agent LLM systems collapse into sycophantic consensus — agents reinforce each other rather than critically debating. Majority voting and leader-based quorum suppress minority views, producing lower-quality decisions in complex planning.</a:t>
            </a:r>
            <a:endParaRPr lang="en-US" sz="950" dirty="0"/>
          </a:p>
        </p:txBody>
      </p:sp>
      <p:sp>
        <p:nvSpPr>
          <p:cNvPr id="22" name="Shape 20"/>
          <p:cNvSpPr/>
          <p:nvPr/>
        </p:nvSpPr>
        <p:spPr>
          <a:xfrm>
            <a:off x="256032" y="2999232"/>
            <a:ext cx="4160520" cy="1938528"/>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56032" y="2999232"/>
            <a:ext cx="54864" cy="1938528"/>
          </a:xfrm>
          <a:prstGeom prst="rect">
            <a:avLst/>
          </a:prstGeom>
          <a:solidFill>
            <a:srgbClr val="0D1B2A"/>
          </a:solidFill>
          <a:ln w="12700">
            <a:solidFill>
              <a:srgbClr val="0D1B2A"/>
            </a:solidFill>
            <a:prstDash val="solid"/>
          </a:ln>
        </p:spPr>
      </p:sp>
      <p:sp>
        <p:nvSpPr>
          <p:cNvPr id="24" name="Shape 22"/>
          <p:cNvSpPr/>
          <p:nvPr/>
        </p:nvSpPr>
        <p:spPr>
          <a:xfrm>
            <a:off x="384048" y="3054096"/>
            <a:ext cx="45720" cy="201168"/>
          </a:xfrm>
          <a:prstGeom prst="rect">
            <a:avLst/>
          </a:prstGeom>
          <a:solidFill>
            <a:srgbClr val="00B4D8"/>
          </a:solidFill>
          <a:ln w="12700">
            <a:solidFill>
              <a:srgbClr val="00B4D8"/>
            </a:solidFill>
            <a:prstDash val="solid"/>
          </a:ln>
        </p:spPr>
      </p:sp>
      <p:sp>
        <p:nvSpPr>
          <p:cNvPr id="25" name="Text 23"/>
          <p:cNvSpPr/>
          <p:nvPr/>
        </p:nvSpPr>
        <p:spPr>
          <a:xfrm>
            <a:off x="475488" y="3044952"/>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NOVEL APPROACH</a:t>
            </a:r>
            <a:endParaRPr lang="en-US" sz="1000" dirty="0"/>
          </a:p>
        </p:txBody>
      </p:sp>
      <p:sp>
        <p:nvSpPr>
          <p:cNvPr id="26" name="Text 24"/>
          <p:cNvSpPr/>
          <p:nvPr/>
        </p:nvSpPr>
        <p:spPr>
          <a:xfrm>
            <a:off x="384048" y="3310128"/>
            <a:ext cx="3931920" cy="1536192"/>
          </a:xfrm>
          <a:prstGeom prst="rect">
            <a:avLst/>
          </a:prstGeom>
          <a:noFill/>
          <a:ln/>
        </p:spPr>
        <p:txBody>
          <a:bodyPr wrap="square" lIns="0" tIns="0" rIns="0" bIns="0" rtlCol="0" anchor="ctr"/>
          <a:lstStyle/>
          <a:p>
            <a:pPr marL="342900" indent="-342900">
              <a:lnSpc>
                <a:spcPct val="125000"/>
              </a:lnSpc>
              <a:buSzPct val="100000"/>
              <a:buFont typeface="+mj-lt"/>
              <a:buAutoNum type="arabicPeriod" startAt="1"/>
            </a:pPr>
            <a:r>
              <a:rPr lang="en-US" sz="850" dirty="0">
                <a:solidFill>
                  <a:srgbClr val="0D1B2A"/>
                </a:solidFill>
              </a:rPr>
              <a:t>QBAF structure: Each agent contributes arguments (support or attack) with confidence weights — plan options evaluated via bipolar argument graph</a:t>
            </a:r>
            <a:endParaRPr lang="en-US" sz="850" dirty="0"/>
          </a:p>
          <a:p>
            <a:pPr marL="342900" indent="-342900">
              <a:lnSpc>
                <a:spcPct val="125000"/>
              </a:lnSpc>
              <a:buSzPct val="100000"/>
              <a:buFont typeface="+mj-lt"/>
              <a:buAutoNum type="arabicPeriod" startAt="1"/>
            </a:pPr>
            <a:r>
              <a:rPr lang="en-US" sz="850" dirty="0">
                <a:solidFill>
                  <a:srgbClr val="0D1B2A"/>
                </a:solidFill>
              </a:rPr>
              <a:t>Gradual argumentation semantics: Final plan acceptability computed via formal gradual semantics (Dung-style extensions) rather than vote counting</a:t>
            </a:r>
            <a:endParaRPr lang="en-US" sz="850" dirty="0"/>
          </a:p>
          <a:p>
            <a:pPr marL="342900" indent="-342900">
              <a:lnSpc>
                <a:spcPct val="125000"/>
              </a:lnSpc>
              <a:buSzPct val="100000"/>
              <a:buFont typeface="+mj-lt"/>
              <a:buAutoNum type="arabicPeriod" startAt="1"/>
            </a:pPr>
            <a:r>
              <a:rPr lang="en-US" sz="850" dirty="0">
                <a:solidFill>
                  <a:srgbClr val="0D1B2A"/>
                </a:solidFill>
              </a:rPr>
              <a:t>Mandatory dissenter agent: Dedicated agent role whose sole objective is to maximise attack weight on current highest-ranked plan — structurally prevents consensus collapse</a:t>
            </a:r>
            <a:endParaRPr lang="en-US" sz="850" dirty="0"/>
          </a:p>
          <a:p>
            <a:pPr marL="342900" indent="-342900">
              <a:lnSpc>
                <a:spcPct val="125000"/>
              </a:lnSpc>
              <a:buSzPct val="100000"/>
              <a:buFont typeface="+mj-lt"/>
              <a:buAutoNum type="arabicPeriod" startAt="1"/>
            </a:pPr>
            <a:r>
              <a:rPr lang="en-US" sz="850" dirty="0">
                <a:solidFill>
                  <a:srgbClr val="0D1B2A"/>
                </a:solidFill>
              </a:rPr>
              <a:t>Causal argument tracing: Each argument node is linked to its causal evidence source, making disagreement auditable and explainable</a:t>
            </a:r>
            <a:endParaRPr lang="en-US" sz="850" dirty="0"/>
          </a:p>
        </p:txBody>
      </p:sp>
      <p:sp>
        <p:nvSpPr>
          <p:cNvPr id="27" name="Shape 25"/>
          <p:cNvSpPr/>
          <p:nvPr/>
        </p:nvSpPr>
        <p:spPr>
          <a:xfrm>
            <a:off x="4727448" y="795528"/>
            <a:ext cx="4160520" cy="2377440"/>
          </a:xfrm>
          <a:prstGeom prst="rect">
            <a:avLst/>
          </a:prstGeom>
          <a:solidFill>
            <a:srgbClr val="FFFFFF"/>
          </a:solidFill>
          <a:ln w="12700">
            <a:solidFill>
              <a:srgbClr val="D1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4727448" y="795528"/>
            <a:ext cx="54864" cy="2377440"/>
          </a:xfrm>
          <a:prstGeom prst="rect">
            <a:avLst/>
          </a:prstGeom>
          <a:solidFill>
            <a:srgbClr val="00B4D8"/>
          </a:solidFill>
          <a:ln w="12700">
            <a:solidFill>
              <a:srgbClr val="00B4D8"/>
            </a:solidFill>
            <a:prstDash val="solid"/>
          </a:ln>
        </p:spPr>
      </p:sp>
      <p:sp>
        <p:nvSpPr>
          <p:cNvPr id="29" name="Shape 27"/>
          <p:cNvSpPr/>
          <p:nvPr/>
        </p:nvSpPr>
        <p:spPr>
          <a:xfrm>
            <a:off x="4855464" y="850392"/>
            <a:ext cx="45720" cy="201168"/>
          </a:xfrm>
          <a:prstGeom prst="rect">
            <a:avLst/>
          </a:prstGeom>
          <a:solidFill>
            <a:srgbClr val="00B4D8"/>
          </a:solidFill>
          <a:ln w="12700">
            <a:solidFill>
              <a:srgbClr val="00B4D8"/>
            </a:solidFill>
            <a:prstDash val="solid"/>
          </a:ln>
        </p:spPr>
      </p:sp>
      <p:sp>
        <p:nvSpPr>
          <p:cNvPr id="30" name="Text 28"/>
          <p:cNvSpPr/>
          <p:nvPr/>
        </p:nvSpPr>
        <p:spPr>
          <a:xfrm>
            <a:off x="4946904" y="841248"/>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KEY CLAIMS</a:t>
            </a:r>
            <a:endParaRPr lang="en-US" sz="1000" dirty="0"/>
          </a:p>
        </p:txBody>
      </p:sp>
      <p:sp>
        <p:nvSpPr>
          <p:cNvPr id="31" name="Text 29"/>
          <p:cNvSpPr/>
          <p:nvPr/>
        </p:nvSpPr>
        <p:spPr>
          <a:xfrm>
            <a:off x="4846320" y="1078992"/>
            <a:ext cx="3931920" cy="1965960"/>
          </a:xfrm>
          <a:prstGeom prst="rect">
            <a:avLst/>
          </a:prstGeom>
          <a:noFill/>
          <a:ln/>
        </p:spPr>
        <p:txBody>
          <a:bodyPr wrap="square" lIns="0" tIns="0" rIns="0" bIns="0" rtlCol="0" anchor="ctr"/>
          <a:lstStyle/>
          <a:p>
            <a:pPr marL="342900" indent="-342900">
              <a:lnSpc>
                <a:spcPct val="125000"/>
              </a:lnSpc>
              <a:buSzPct val="100000"/>
              <a:buChar char="•"/>
            </a:pPr>
            <a:r>
              <a:rPr lang="en-US" sz="900" dirty="0">
                <a:solidFill>
                  <a:srgbClr val="0D1B2A"/>
                </a:solidFill>
              </a:rPr>
              <a:t>Multi-agent consensus system using Quantitative Bipolar Argumentation Frameworks for planning decisions</a:t>
            </a:r>
            <a:endParaRPr lang="en-US" sz="900" dirty="0"/>
          </a:p>
          <a:p>
            <a:pPr marL="342900" indent="-342900">
              <a:lnSpc>
                <a:spcPct val="125000"/>
              </a:lnSpc>
              <a:buSzPct val="100000"/>
              <a:buChar char="•"/>
            </a:pPr>
            <a:r>
              <a:rPr lang="en-US" sz="900" dirty="0">
                <a:solidFill>
                  <a:srgbClr val="0D1B2A"/>
                </a:solidFill>
              </a:rPr>
              <a:t>Mandatory dissenter agent role with formal attack-maximisation objective — structurally anti-sycophantic</a:t>
            </a:r>
            <a:endParaRPr lang="en-US" sz="900" dirty="0"/>
          </a:p>
          <a:p>
            <a:pPr marL="342900" indent="-342900">
              <a:lnSpc>
                <a:spcPct val="125000"/>
              </a:lnSpc>
              <a:buSzPct val="100000"/>
              <a:buChar char="•"/>
            </a:pPr>
            <a:r>
              <a:rPr lang="en-US" sz="900" dirty="0">
                <a:solidFill>
                  <a:srgbClr val="0D1B2A"/>
                </a:solidFill>
              </a:rPr>
              <a:t>Plan selection via gradual argumentation semantics rather than majority voting or quorum</a:t>
            </a:r>
            <a:endParaRPr lang="en-US" sz="900" dirty="0"/>
          </a:p>
          <a:p>
            <a:pPr marL="342900" indent="-342900">
              <a:lnSpc>
                <a:spcPct val="125000"/>
              </a:lnSpc>
              <a:buSzPct val="100000"/>
              <a:buChar char="•"/>
            </a:pPr>
            <a:r>
              <a:rPr lang="en-US" sz="900" dirty="0">
                <a:solidFill>
                  <a:srgbClr val="0D1B2A"/>
                </a:solidFill>
              </a:rPr>
              <a:t>Causal evidence tracing for each argument node enabling auditable disagreement records</a:t>
            </a:r>
            <a:endParaRPr lang="en-US" sz="900" dirty="0"/>
          </a:p>
        </p:txBody>
      </p:sp>
      <p:sp>
        <p:nvSpPr>
          <p:cNvPr id="32" name="Shape 30"/>
          <p:cNvSpPr/>
          <p:nvPr/>
        </p:nvSpPr>
        <p:spPr>
          <a:xfrm>
            <a:off x="4727448" y="3255264"/>
            <a:ext cx="4160520" cy="166420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727448" y="3255264"/>
            <a:ext cx="54864" cy="1664208"/>
          </a:xfrm>
          <a:prstGeom prst="rect">
            <a:avLst/>
          </a:prstGeom>
          <a:solidFill>
            <a:srgbClr val="00B4D8"/>
          </a:solidFill>
          <a:ln w="12700">
            <a:solidFill>
              <a:srgbClr val="00B4D8"/>
            </a:solidFill>
            <a:prstDash val="solid"/>
          </a:ln>
        </p:spPr>
      </p:sp>
      <p:sp>
        <p:nvSpPr>
          <p:cNvPr id="34" name="Shape 32"/>
          <p:cNvSpPr/>
          <p:nvPr/>
        </p:nvSpPr>
        <p:spPr>
          <a:xfrm>
            <a:off x="4855464" y="3310128"/>
            <a:ext cx="45720" cy="201168"/>
          </a:xfrm>
          <a:prstGeom prst="rect">
            <a:avLst/>
          </a:prstGeom>
          <a:solidFill>
            <a:srgbClr val="00B4D8"/>
          </a:solidFill>
          <a:ln w="12700">
            <a:solidFill>
              <a:srgbClr val="00B4D8"/>
            </a:solidFill>
            <a:prstDash val="solid"/>
          </a:ln>
        </p:spPr>
      </p:sp>
      <p:sp>
        <p:nvSpPr>
          <p:cNvPr id="35" name="Text 33"/>
          <p:cNvSpPr/>
          <p:nvPr/>
        </p:nvSpPr>
        <p:spPr>
          <a:xfrm>
            <a:off x="4946904" y="3300984"/>
            <a:ext cx="3657600" cy="219456"/>
          </a:xfrm>
          <a:prstGeom prst="rect">
            <a:avLst/>
          </a:prstGeom>
          <a:noFill/>
          <a:ln/>
        </p:spPr>
        <p:txBody>
          <a:bodyPr wrap="square" lIns="0" tIns="0" rIns="0" bIns="0" rtlCol="0" anchor="ctr"/>
          <a:lstStyle/>
          <a:p>
            <a:pPr indent="0" marL="0">
              <a:buNone/>
            </a:pPr>
            <a:r>
              <a:rPr lang="en-US" sz="1000" b="1" dirty="0">
                <a:solidFill>
                  <a:srgbClr val="00B4D8"/>
                </a:solidFill>
              </a:rPr>
              <a:t>DIFFERENTIATION FROM EXISTING PATENTS</a:t>
            </a:r>
            <a:endParaRPr lang="en-US" sz="1000" dirty="0"/>
          </a:p>
        </p:txBody>
      </p:sp>
      <p:sp>
        <p:nvSpPr>
          <p:cNvPr id="36" name="Text 34"/>
          <p:cNvSpPr/>
          <p:nvPr/>
        </p:nvSpPr>
        <p:spPr>
          <a:xfrm>
            <a:off x="4846320" y="3538728"/>
            <a:ext cx="3931920" cy="1298448"/>
          </a:xfrm>
          <a:prstGeom prst="rect">
            <a:avLst/>
          </a:prstGeom>
          <a:noFill/>
          <a:ln/>
        </p:spPr>
        <p:txBody>
          <a:bodyPr wrap="square" lIns="0" tIns="0" rIns="0" bIns="0" rtlCol="0" anchor="ctr"/>
          <a:lstStyle/>
          <a:p>
            <a:pPr marL="342900" indent="-342900">
              <a:lnSpc>
                <a:spcPct val="130000"/>
              </a:lnSpc>
              <a:buSzPct val="100000"/>
              <a:buChar char="•"/>
            </a:pPr>
            <a:r>
              <a:rPr lang="en-US" sz="900" dirty="0">
                <a:solidFill>
                  <a:srgbClr val="F0F7FF"/>
                </a:solidFill>
              </a:rPr>
              <a:t>CONSENSAGENT (ACL 2025): sycophancy mitigation via prompt refinement — not formal argumentation semantics</a:t>
            </a:r>
            <a:endParaRPr lang="en-US" sz="900" dirty="0"/>
          </a:p>
          <a:p>
            <a:pPr marL="342900" indent="-342900">
              <a:lnSpc>
                <a:spcPct val="130000"/>
              </a:lnSpc>
              <a:buSzPct val="100000"/>
              <a:buChar char="•"/>
            </a:pPr>
            <a:r>
              <a:rPr lang="en-US" sz="900" dirty="0">
                <a:solidFill>
                  <a:srgbClr val="F0F7FF"/>
                </a:solidFill>
              </a:rPr>
              <a:t>ARGORA (arxiv:2601.21533): argumentation for causal explanation, not multi-agent planning consensus</a:t>
            </a:r>
            <a:endParaRPr lang="en-US" sz="900" dirty="0"/>
          </a:p>
          <a:p>
            <a:pPr marL="342900" indent="-342900">
              <a:lnSpc>
                <a:spcPct val="130000"/>
              </a:lnSpc>
              <a:buSzPct val="100000"/>
              <a:buChar char="•"/>
            </a:pPr>
            <a:r>
              <a:rPr lang="en-US" sz="900" dirty="0">
                <a:solidFill>
                  <a:srgbClr val="F0F7FF"/>
                </a:solidFill>
              </a:rPr>
              <a:t>No patent uses QBAF + mandatory dissenter + gradual semantics for agent orchestration decisions</a:t>
            </a:r>
            <a:endParaRPr lang="en-US" sz="900" dirty="0"/>
          </a:p>
        </p:txBody>
      </p:sp>
      <p:sp>
        <p:nvSpPr>
          <p:cNvPr id="37" name="Text 35"/>
          <p:cNvSpPr/>
          <p:nvPr/>
        </p:nvSpPr>
        <p:spPr>
          <a:xfrm>
            <a:off x="8503920" y="4892040"/>
            <a:ext cx="457200" cy="182880"/>
          </a:xfrm>
          <a:prstGeom prst="rect">
            <a:avLst/>
          </a:prstGeom>
          <a:noFill/>
          <a:ln/>
        </p:spPr>
        <p:txBody>
          <a:bodyPr wrap="square" lIns="0" tIns="0" rIns="0" bIns="0" rtlCol="0" anchor="ctr"/>
          <a:lstStyle/>
          <a:p>
            <a:pPr algn="r" indent="0" marL="0">
              <a:buNone/>
            </a:pPr>
            <a:r>
              <a:rPr lang="en-US" sz="800" dirty="0">
                <a:solidFill>
                  <a:srgbClr val="8EAFC2"/>
                </a:solidFill>
              </a:rPr>
              <a:t>5 / 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sp>
        <p:nvSpPr>
          <p:cNvPr id="3" name="Text 1"/>
          <p:cNvSpPr/>
          <p:nvPr/>
        </p:nvSpPr>
        <p:spPr>
          <a:xfrm>
            <a:off x="411480" y="274320"/>
            <a:ext cx="832104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Patent Portfolio Summary</a:t>
            </a:r>
            <a:endParaRPr lang="en-US" sz="3000" dirty="0"/>
          </a:p>
        </p:txBody>
      </p:sp>
      <p:sp>
        <p:nvSpPr>
          <p:cNvPr id="4" name="Text 2"/>
          <p:cNvSpPr/>
          <p:nvPr/>
        </p:nvSpPr>
        <p:spPr>
          <a:xfrm>
            <a:off x="411480" y="804672"/>
            <a:ext cx="8321040" cy="274320"/>
          </a:xfrm>
          <a:prstGeom prst="rect">
            <a:avLst/>
          </a:prstGeom>
          <a:noFill/>
          <a:ln/>
        </p:spPr>
        <p:txBody>
          <a:bodyPr wrap="square" rtlCol="0" anchor="ctr"/>
          <a:lstStyle/>
          <a:p>
            <a:pPr indent="0" marL="0">
              <a:buNone/>
            </a:pPr>
            <a:r>
              <a:rPr lang="en-US" sz="1200" dirty="0">
                <a:solidFill>
                  <a:srgbClr val="90E0EF"/>
                </a:solidFill>
              </a:rPr>
              <a:t>Novelty vs. Overlap comparison — ranked by estimated acceptance rate</a:t>
            </a:r>
            <a:endParaRPr lang="en-US" sz="1200" dirty="0"/>
          </a:p>
        </p:txBody>
      </p:sp>
      <p:sp>
        <p:nvSpPr>
          <p:cNvPr id="5" name="Shape 3"/>
          <p:cNvSpPr/>
          <p:nvPr/>
        </p:nvSpPr>
        <p:spPr>
          <a:xfrm>
            <a:off x="411480" y="1188720"/>
            <a:ext cx="3429000" cy="347472"/>
          </a:xfrm>
          <a:prstGeom prst="rect">
            <a:avLst/>
          </a:prstGeom>
          <a:solidFill>
            <a:srgbClr val="00B4D8"/>
          </a:solidFill>
          <a:ln w="12700">
            <a:solidFill>
              <a:srgbClr val="00B4D8"/>
            </a:solidFill>
            <a:prstDash val="solid"/>
          </a:ln>
        </p:spPr>
      </p:sp>
      <p:sp>
        <p:nvSpPr>
          <p:cNvPr id="6" name="Text 4"/>
          <p:cNvSpPr/>
          <p:nvPr/>
        </p:nvSpPr>
        <p:spPr>
          <a:xfrm>
            <a:off x="411480" y="1188720"/>
            <a:ext cx="3429000" cy="347472"/>
          </a:xfrm>
          <a:prstGeom prst="rect">
            <a:avLst/>
          </a:prstGeom>
          <a:noFill/>
          <a:ln/>
        </p:spPr>
        <p:txBody>
          <a:bodyPr wrap="square" lIns="0" tIns="101600" rIns="0" bIns="0" rtlCol="0" anchor="ctr"/>
          <a:lstStyle/>
          <a:p>
            <a:pPr algn="l" indent="0" marL="0">
              <a:buNone/>
            </a:pPr>
            <a:r>
              <a:rPr lang="en-US" sz="1000" b="1" dirty="0">
                <a:solidFill>
                  <a:srgbClr val="0D1B2A"/>
                </a:solidFill>
              </a:rPr>
              <a:t>Patent Idea</a:t>
            </a:r>
            <a:endParaRPr lang="en-US" sz="1000" dirty="0"/>
          </a:p>
        </p:txBody>
      </p:sp>
      <p:sp>
        <p:nvSpPr>
          <p:cNvPr id="7" name="Shape 5"/>
          <p:cNvSpPr/>
          <p:nvPr/>
        </p:nvSpPr>
        <p:spPr>
          <a:xfrm>
            <a:off x="3977640" y="1188720"/>
            <a:ext cx="1417320" cy="347472"/>
          </a:xfrm>
          <a:prstGeom prst="rect">
            <a:avLst/>
          </a:prstGeom>
          <a:solidFill>
            <a:srgbClr val="00B4D8"/>
          </a:solidFill>
          <a:ln w="12700">
            <a:solidFill>
              <a:srgbClr val="00B4D8"/>
            </a:solidFill>
            <a:prstDash val="solid"/>
          </a:ln>
        </p:spPr>
      </p:sp>
      <p:sp>
        <p:nvSpPr>
          <p:cNvPr id="8" name="Text 6"/>
          <p:cNvSpPr/>
          <p:nvPr/>
        </p:nvSpPr>
        <p:spPr>
          <a:xfrm>
            <a:off x="3977640" y="1188720"/>
            <a:ext cx="1417320" cy="347472"/>
          </a:xfrm>
          <a:prstGeom prst="rect">
            <a:avLst/>
          </a:prstGeom>
          <a:noFill/>
          <a:ln/>
        </p:spPr>
        <p:txBody>
          <a:bodyPr wrap="square" lIns="0" tIns="0" rIns="0" bIns="0" rtlCol="0" anchor="ctr"/>
          <a:lstStyle/>
          <a:p>
            <a:pPr algn="ctr" indent="0" marL="0">
              <a:buNone/>
            </a:pPr>
            <a:r>
              <a:rPr lang="en-US" sz="1000" b="1" dirty="0">
                <a:solidFill>
                  <a:srgbClr val="0D1B2A"/>
                </a:solidFill>
              </a:rPr>
              <a:t>Acceptance</a:t>
            </a:r>
            <a:endParaRPr lang="en-US" sz="1000" dirty="0"/>
          </a:p>
        </p:txBody>
      </p:sp>
      <p:sp>
        <p:nvSpPr>
          <p:cNvPr id="9" name="Shape 7"/>
          <p:cNvSpPr/>
          <p:nvPr/>
        </p:nvSpPr>
        <p:spPr>
          <a:xfrm>
            <a:off x="5532120" y="1188720"/>
            <a:ext cx="1417320" cy="347472"/>
          </a:xfrm>
          <a:prstGeom prst="rect">
            <a:avLst/>
          </a:prstGeom>
          <a:solidFill>
            <a:srgbClr val="00B4D8"/>
          </a:solidFill>
          <a:ln w="12700">
            <a:solidFill>
              <a:srgbClr val="00B4D8"/>
            </a:solidFill>
            <a:prstDash val="solid"/>
          </a:ln>
        </p:spPr>
      </p:sp>
      <p:sp>
        <p:nvSpPr>
          <p:cNvPr id="10" name="Text 8"/>
          <p:cNvSpPr/>
          <p:nvPr/>
        </p:nvSpPr>
        <p:spPr>
          <a:xfrm>
            <a:off x="5532120" y="1188720"/>
            <a:ext cx="1417320" cy="347472"/>
          </a:xfrm>
          <a:prstGeom prst="rect">
            <a:avLst/>
          </a:prstGeom>
          <a:noFill/>
          <a:ln/>
        </p:spPr>
        <p:txBody>
          <a:bodyPr wrap="square" lIns="0" tIns="0" rIns="0" bIns="0" rtlCol="0" anchor="ctr"/>
          <a:lstStyle/>
          <a:p>
            <a:pPr algn="ctr" indent="0" marL="0">
              <a:buNone/>
            </a:pPr>
            <a:r>
              <a:rPr lang="en-US" sz="1000" b="1" dirty="0">
                <a:solidFill>
                  <a:srgbClr val="0D1B2A"/>
                </a:solidFill>
              </a:rPr>
              <a:t>Overlap</a:t>
            </a:r>
            <a:endParaRPr lang="en-US" sz="1000" dirty="0"/>
          </a:p>
        </p:txBody>
      </p:sp>
      <p:sp>
        <p:nvSpPr>
          <p:cNvPr id="11" name="Shape 9"/>
          <p:cNvSpPr/>
          <p:nvPr/>
        </p:nvSpPr>
        <p:spPr>
          <a:xfrm>
            <a:off x="7086600" y="1188720"/>
            <a:ext cx="1417320" cy="347472"/>
          </a:xfrm>
          <a:prstGeom prst="rect">
            <a:avLst/>
          </a:prstGeom>
          <a:solidFill>
            <a:srgbClr val="00B4D8"/>
          </a:solidFill>
          <a:ln w="12700">
            <a:solidFill>
              <a:srgbClr val="00B4D8"/>
            </a:solidFill>
            <a:prstDash val="solid"/>
          </a:ln>
        </p:spPr>
      </p:sp>
      <p:sp>
        <p:nvSpPr>
          <p:cNvPr id="12" name="Text 10"/>
          <p:cNvSpPr/>
          <p:nvPr/>
        </p:nvSpPr>
        <p:spPr>
          <a:xfrm>
            <a:off x="7086600" y="1188720"/>
            <a:ext cx="1417320" cy="347472"/>
          </a:xfrm>
          <a:prstGeom prst="rect">
            <a:avLst/>
          </a:prstGeom>
          <a:noFill/>
          <a:ln/>
        </p:spPr>
        <p:txBody>
          <a:bodyPr wrap="square" lIns="0" tIns="0" rIns="0" bIns="0" rtlCol="0" anchor="ctr"/>
          <a:lstStyle/>
          <a:p>
            <a:pPr algn="ctr" indent="0" marL="0">
              <a:buNone/>
            </a:pPr>
            <a:r>
              <a:rPr lang="en-US" sz="1000" b="1" dirty="0">
                <a:solidFill>
                  <a:srgbClr val="0D1B2A"/>
                </a:solidFill>
              </a:rPr>
              <a:t>Novelty</a:t>
            </a:r>
            <a:endParaRPr lang="en-US" sz="1000" dirty="0"/>
          </a:p>
        </p:txBody>
      </p:sp>
      <p:sp>
        <p:nvSpPr>
          <p:cNvPr id="13" name="Shape 11"/>
          <p:cNvSpPr/>
          <p:nvPr/>
        </p:nvSpPr>
        <p:spPr>
          <a:xfrm>
            <a:off x="411480" y="1572768"/>
            <a:ext cx="8321040" cy="438912"/>
          </a:xfrm>
          <a:prstGeom prst="rect">
            <a:avLst/>
          </a:prstGeom>
          <a:solidFill>
            <a:srgbClr val="132D42"/>
          </a:solidFill>
          <a:ln w="12700">
            <a:solidFill>
              <a:srgbClr val="132D42"/>
            </a:solidFill>
            <a:prstDash val="solid"/>
          </a:ln>
        </p:spPr>
      </p:sp>
      <p:sp>
        <p:nvSpPr>
          <p:cNvPr id="14" name="Text 12"/>
          <p:cNvSpPr/>
          <p:nvPr/>
        </p:nvSpPr>
        <p:spPr>
          <a:xfrm>
            <a:off x="411480" y="1572768"/>
            <a:ext cx="3429000" cy="438912"/>
          </a:xfrm>
          <a:prstGeom prst="rect">
            <a:avLst/>
          </a:prstGeom>
          <a:noFill/>
          <a:ln/>
        </p:spPr>
        <p:txBody>
          <a:bodyPr wrap="square" lIns="0" tIns="101600" rIns="0" bIns="0" rtlCol="0" anchor="ctr"/>
          <a:lstStyle/>
          <a:p>
            <a:pPr algn="l" indent="0" marL="0">
              <a:buNone/>
            </a:pPr>
            <a:r>
              <a:rPr lang="en-US" sz="1100" dirty="0">
                <a:solidFill>
                  <a:srgbClr val="FFFFFF"/>
                </a:solidFill>
              </a:rPr>
              <a:t>#3  Mnemonic Sovereignty</a:t>
            </a:r>
            <a:endParaRPr lang="en-US" sz="1100" dirty="0"/>
          </a:p>
        </p:txBody>
      </p:sp>
      <p:sp>
        <p:nvSpPr>
          <p:cNvPr id="15" name="Text 13"/>
          <p:cNvSpPr/>
          <p:nvPr/>
        </p:nvSpPr>
        <p:spPr>
          <a:xfrm>
            <a:off x="3977640" y="1572768"/>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74%</a:t>
            </a:r>
            <a:endParaRPr lang="en-US" sz="1600" dirty="0"/>
          </a:p>
        </p:txBody>
      </p:sp>
      <p:sp>
        <p:nvSpPr>
          <p:cNvPr id="16" name="Text 14"/>
          <p:cNvSpPr/>
          <p:nvPr/>
        </p:nvSpPr>
        <p:spPr>
          <a:xfrm>
            <a:off x="5532120" y="1572768"/>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16%</a:t>
            </a:r>
            <a:endParaRPr lang="en-US" sz="1600" dirty="0"/>
          </a:p>
        </p:txBody>
      </p:sp>
      <p:sp>
        <p:nvSpPr>
          <p:cNvPr id="17" name="Text 15"/>
          <p:cNvSpPr/>
          <p:nvPr/>
        </p:nvSpPr>
        <p:spPr>
          <a:xfrm>
            <a:off x="7086600" y="1572768"/>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84%</a:t>
            </a:r>
            <a:endParaRPr lang="en-US" sz="1600" dirty="0"/>
          </a:p>
        </p:txBody>
      </p:sp>
      <p:sp>
        <p:nvSpPr>
          <p:cNvPr id="18" name="Shape 16"/>
          <p:cNvSpPr/>
          <p:nvPr/>
        </p:nvSpPr>
        <p:spPr>
          <a:xfrm>
            <a:off x="411480" y="2048256"/>
            <a:ext cx="8321040" cy="438912"/>
          </a:xfrm>
          <a:prstGeom prst="rect">
            <a:avLst/>
          </a:prstGeom>
          <a:solidFill>
            <a:srgbClr val="0D2035"/>
          </a:solidFill>
          <a:ln w="12700">
            <a:solidFill>
              <a:srgbClr val="0D2035"/>
            </a:solidFill>
            <a:prstDash val="solid"/>
          </a:ln>
        </p:spPr>
      </p:sp>
      <p:sp>
        <p:nvSpPr>
          <p:cNvPr id="19" name="Text 17"/>
          <p:cNvSpPr/>
          <p:nvPr/>
        </p:nvSpPr>
        <p:spPr>
          <a:xfrm>
            <a:off x="411480" y="2048256"/>
            <a:ext cx="3429000" cy="438912"/>
          </a:xfrm>
          <a:prstGeom prst="rect">
            <a:avLst/>
          </a:prstGeom>
          <a:noFill/>
          <a:ln/>
        </p:spPr>
        <p:txBody>
          <a:bodyPr wrap="square" lIns="0" tIns="101600" rIns="0" bIns="0" rtlCol="0" anchor="ctr"/>
          <a:lstStyle/>
          <a:p>
            <a:pPr algn="l" indent="0" marL="0">
              <a:buNone/>
            </a:pPr>
            <a:r>
              <a:rPr lang="en-US" sz="1100" dirty="0">
                <a:solidFill>
                  <a:srgbClr val="FFFFFF"/>
                </a:solidFill>
              </a:rPr>
              <a:t>#1  Counterfactual Rollback Planning</a:t>
            </a:r>
            <a:endParaRPr lang="en-US" sz="1100" dirty="0"/>
          </a:p>
        </p:txBody>
      </p:sp>
      <p:sp>
        <p:nvSpPr>
          <p:cNvPr id="20" name="Text 18"/>
          <p:cNvSpPr/>
          <p:nvPr/>
        </p:nvSpPr>
        <p:spPr>
          <a:xfrm>
            <a:off x="3977640" y="2048256"/>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71%</a:t>
            </a:r>
            <a:endParaRPr lang="en-US" sz="1600" dirty="0"/>
          </a:p>
        </p:txBody>
      </p:sp>
      <p:sp>
        <p:nvSpPr>
          <p:cNvPr id="21" name="Text 19"/>
          <p:cNvSpPr/>
          <p:nvPr/>
        </p:nvSpPr>
        <p:spPr>
          <a:xfrm>
            <a:off x="5532120" y="2048256"/>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18%</a:t>
            </a:r>
            <a:endParaRPr lang="en-US" sz="1600" dirty="0"/>
          </a:p>
        </p:txBody>
      </p:sp>
      <p:sp>
        <p:nvSpPr>
          <p:cNvPr id="22" name="Text 20"/>
          <p:cNvSpPr/>
          <p:nvPr/>
        </p:nvSpPr>
        <p:spPr>
          <a:xfrm>
            <a:off x="7086600" y="2048256"/>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82%</a:t>
            </a:r>
            <a:endParaRPr lang="en-US" sz="1600" dirty="0"/>
          </a:p>
        </p:txBody>
      </p:sp>
      <p:sp>
        <p:nvSpPr>
          <p:cNvPr id="23" name="Shape 21"/>
          <p:cNvSpPr/>
          <p:nvPr/>
        </p:nvSpPr>
        <p:spPr>
          <a:xfrm>
            <a:off x="411480" y="2523744"/>
            <a:ext cx="8321040" cy="438912"/>
          </a:xfrm>
          <a:prstGeom prst="rect">
            <a:avLst/>
          </a:prstGeom>
          <a:solidFill>
            <a:srgbClr val="132D42"/>
          </a:solidFill>
          <a:ln w="12700">
            <a:solidFill>
              <a:srgbClr val="132D42"/>
            </a:solidFill>
            <a:prstDash val="solid"/>
          </a:ln>
        </p:spPr>
      </p:sp>
      <p:sp>
        <p:nvSpPr>
          <p:cNvPr id="24" name="Text 22"/>
          <p:cNvSpPr/>
          <p:nvPr/>
        </p:nvSpPr>
        <p:spPr>
          <a:xfrm>
            <a:off x="411480" y="2523744"/>
            <a:ext cx="3429000" cy="438912"/>
          </a:xfrm>
          <a:prstGeom prst="rect">
            <a:avLst/>
          </a:prstGeom>
          <a:noFill/>
          <a:ln/>
        </p:spPr>
        <p:txBody>
          <a:bodyPr wrap="square" lIns="0" tIns="101600" rIns="0" bIns="0" rtlCol="0" anchor="ctr"/>
          <a:lstStyle/>
          <a:p>
            <a:pPr algn="l" indent="0" marL="0">
              <a:buNone/>
            </a:pPr>
            <a:r>
              <a:rPr lang="en-US" sz="1100" dirty="0">
                <a:solidFill>
                  <a:srgbClr val="FFFFFF"/>
                </a:solidFill>
              </a:rPr>
              <a:t>#2  Thermodynamic EFE-Gated Tool Selection</a:t>
            </a:r>
            <a:endParaRPr lang="en-US" sz="1100" dirty="0"/>
          </a:p>
        </p:txBody>
      </p:sp>
      <p:sp>
        <p:nvSpPr>
          <p:cNvPr id="25" name="Text 23"/>
          <p:cNvSpPr/>
          <p:nvPr/>
        </p:nvSpPr>
        <p:spPr>
          <a:xfrm>
            <a:off x="3977640" y="2523744"/>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68%</a:t>
            </a:r>
            <a:endParaRPr lang="en-US" sz="1600" dirty="0"/>
          </a:p>
        </p:txBody>
      </p:sp>
      <p:sp>
        <p:nvSpPr>
          <p:cNvPr id="26" name="Text 24"/>
          <p:cNvSpPr/>
          <p:nvPr/>
        </p:nvSpPr>
        <p:spPr>
          <a:xfrm>
            <a:off x="5532120" y="2523744"/>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22%</a:t>
            </a:r>
            <a:endParaRPr lang="en-US" sz="1600" dirty="0"/>
          </a:p>
        </p:txBody>
      </p:sp>
      <p:sp>
        <p:nvSpPr>
          <p:cNvPr id="27" name="Text 25"/>
          <p:cNvSpPr/>
          <p:nvPr/>
        </p:nvSpPr>
        <p:spPr>
          <a:xfrm>
            <a:off x="7086600" y="2523744"/>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78%</a:t>
            </a:r>
            <a:endParaRPr lang="en-US" sz="1600" dirty="0"/>
          </a:p>
        </p:txBody>
      </p:sp>
      <p:sp>
        <p:nvSpPr>
          <p:cNvPr id="28" name="Shape 26"/>
          <p:cNvSpPr/>
          <p:nvPr/>
        </p:nvSpPr>
        <p:spPr>
          <a:xfrm>
            <a:off x="411480" y="2999232"/>
            <a:ext cx="8321040" cy="438912"/>
          </a:xfrm>
          <a:prstGeom prst="rect">
            <a:avLst/>
          </a:prstGeom>
          <a:solidFill>
            <a:srgbClr val="0D2035"/>
          </a:solidFill>
          <a:ln w="12700">
            <a:solidFill>
              <a:srgbClr val="0D2035"/>
            </a:solidFill>
            <a:prstDash val="solid"/>
          </a:ln>
        </p:spPr>
      </p:sp>
      <p:sp>
        <p:nvSpPr>
          <p:cNvPr id="29" name="Text 27"/>
          <p:cNvSpPr/>
          <p:nvPr/>
        </p:nvSpPr>
        <p:spPr>
          <a:xfrm>
            <a:off x="411480" y="2999232"/>
            <a:ext cx="3429000" cy="438912"/>
          </a:xfrm>
          <a:prstGeom prst="rect">
            <a:avLst/>
          </a:prstGeom>
          <a:noFill/>
          <a:ln/>
        </p:spPr>
        <p:txBody>
          <a:bodyPr wrap="square" lIns="0" tIns="101600" rIns="0" bIns="0" rtlCol="0" anchor="ctr"/>
          <a:lstStyle/>
          <a:p>
            <a:pPr algn="l" indent="0" marL="0">
              <a:buNone/>
            </a:pPr>
            <a:r>
              <a:rPr lang="en-US" sz="1100" dirty="0">
                <a:solidFill>
                  <a:srgbClr val="FFFFFF"/>
                </a:solidFill>
              </a:rPr>
              <a:t>#4  Failure-Signature Curriculum</a:t>
            </a:r>
            <a:endParaRPr lang="en-US" sz="1100" dirty="0"/>
          </a:p>
        </p:txBody>
      </p:sp>
      <p:sp>
        <p:nvSpPr>
          <p:cNvPr id="30" name="Text 28"/>
          <p:cNvSpPr/>
          <p:nvPr/>
        </p:nvSpPr>
        <p:spPr>
          <a:xfrm>
            <a:off x="3977640" y="2999232"/>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66%</a:t>
            </a:r>
            <a:endParaRPr lang="en-US" sz="1600" dirty="0"/>
          </a:p>
        </p:txBody>
      </p:sp>
      <p:sp>
        <p:nvSpPr>
          <p:cNvPr id="31" name="Text 29"/>
          <p:cNvSpPr/>
          <p:nvPr/>
        </p:nvSpPr>
        <p:spPr>
          <a:xfrm>
            <a:off x="5532120" y="2999232"/>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24%</a:t>
            </a:r>
            <a:endParaRPr lang="en-US" sz="1600" dirty="0"/>
          </a:p>
        </p:txBody>
      </p:sp>
      <p:sp>
        <p:nvSpPr>
          <p:cNvPr id="32" name="Text 30"/>
          <p:cNvSpPr/>
          <p:nvPr/>
        </p:nvSpPr>
        <p:spPr>
          <a:xfrm>
            <a:off x="7086600" y="2999232"/>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76%</a:t>
            </a:r>
            <a:endParaRPr lang="en-US" sz="1600" dirty="0"/>
          </a:p>
        </p:txBody>
      </p:sp>
      <p:sp>
        <p:nvSpPr>
          <p:cNvPr id="33" name="Shape 31"/>
          <p:cNvSpPr/>
          <p:nvPr/>
        </p:nvSpPr>
        <p:spPr>
          <a:xfrm>
            <a:off x="411480" y="3474720"/>
            <a:ext cx="8321040" cy="438912"/>
          </a:xfrm>
          <a:prstGeom prst="rect">
            <a:avLst/>
          </a:prstGeom>
          <a:solidFill>
            <a:srgbClr val="132D42"/>
          </a:solidFill>
          <a:ln w="12700">
            <a:solidFill>
              <a:srgbClr val="132D42"/>
            </a:solidFill>
            <a:prstDash val="solid"/>
          </a:ln>
        </p:spPr>
      </p:sp>
      <p:sp>
        <p:nvSpPr>
          <p:cNvPr id="34" name="Text 32"/>
          <p:cNvSpPr/>
          <p:nvPr/>
        </p:nvSpPr>
        <p:spPr>
          <a:xfrm>
            <a:off x="411480" y="3474720"/>
            <a:ext cx="3429000" cy="438912"/>
          </a:xfrm>
          <a:prstGeom prst="rect">
            <a:avLst/>
          </a:prstGeom>
          <a:noFill/>
          <a:ln/>
        </p:spPr>
        <p:txBody>
          <a:bodyPr wrap="square" lIns="0" tIns="101600" rIns="0" bIns="0" rtlCol="0" anchor="ctr"/>
          <a:lstStyle/>
          <a:p>
            <a:pPr algn="l" indent="0" marL="0">
              <a:buNone/>
            </a:pPr>
            <a:r>
              <a:rPr lang="en-US" sz="1100" dirty="0">
                <a:solidFill>
                  <a:srgbClr val="FFFFFF"/>
                </a:solidFill>
              </a:rPr>
              <a:t>#5  Argumentation-Framework Consensus</a:t>
            </a:r>
            <a:endParaRPr lang="en-US" sz="1100" dirty="0"/>
          </a:p>
        </p:txBody>
      </p:sp>
      <p:sp>
        <p:nvSpPr>
          <p:cNvPr id="35" name="Text 33"/>
          <p:cNvSpPr/>
          <p:nvPr/>
        </p:nvSpPr>
        <p:spPr>
          <a:xfrm>
            <a:off x="3977640" y="3474720"/>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63%</a:t>
            </a:r>
            <a:endParaRPr lang="en-US" sz="1600" dirty="0"/>
          </a:p>
        </p:txBody>
      </p:sp>
      <p:sp>
        <p:nvSpPr>
          <p:cNvPr id="36" name="Text 34"/>
          <p:cNvSpPr/>
          <p:nvPr/>
        </p:nvSpPr>
        <p:spPr>
          <a:xfrm>
            <a:off x="5532120" y="3474720"/>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27%</a:t>
            </a:r>
            <a:endParaRPr lang="en-US" sz="1600" dirty="0"/>
          </a:p>
        </p:txBody>
      </p:sp>
      <p:sp>
        <p:nvSpPr>
          <p:cNvPr id="37" name="Text 35"/>
          <p:cNvSpPr/>
          <p:nvPr/>
        </p:nvSpPr>
        <p:spPr>
          <a:xfrm>
            <a:off x="7086600" y="3474720"/>
            <a:ext cx="1417320" cy="438912"/>
          </a:xfrm>
          <a:prstGeom prst="rect">
            <a:avLst/>
          </a:prstGeom>
          <a:noFill/>
          <a:ln/>
        </p:spPr>
        <p:txBody>
          <a:bodyPr wrap="square" lIns="0" tIns="0" rIns="0" bIns="0" rtlCol="0" anchor="ctr"/>
          <a:lstStyle/>
          <a:p>
            <a:pPr algn="ctr" indent="0" marL="0">
              <a:buNone/>
            </a:pPr>
            <a:r>
              <a:rPr lang="en-US" sz="1600" b="1" dirty="0">
                <a:solidFill>
                  <a:srgbClr val="90E0EF"/>
                </a:solidFill>
              </a:rPr>
              <a:t>73%</a:t>
            </a:r>
            <a:endParaRPr lang="en-US" sz="1600" dirty="0"/>
          </a:p>
        </p:txBody>
      </p:sp>
      <p:sp>
        <p:nvSpPr>
          <p:cNvPr id="38" name="Text 36"/>
          <p:cNvSpPr/>
          <p:nvPr/>
        </p:nvSpPr>
        <p:spPr>
          <a:xfrm>
            <a:off x="411480" y="4754880"/>
            <a:ext cx="8321040" cy="256032"/>
          </a:xfrm>
          <a:prstGeom prst="rect">
            <a:avLst/>
          </a:prstGeom>
          <a:noFill/>
          <a:ln/>
        </p:spPr>
        <p:txBody>
          <a:bodyPr wrap="square" lIns="0" tIns="0" rIns="0" bIns="0" rtlCol="0" anchor="ctr"/>
          <a:lstStyle/>
          <a:p>
            <a:pPr indent="0" marL="0">
              <a:buNone/>
            </a:pPr>
            <a:r>
              <a:rPr lang="en-US" sz="800" dirty="0">
                <a:solidFill>
                  <a:srgbClr val="8EAFC2"/>
                </a:solidFill>
              </a:rPr>
              <a:t>* Scores are engineering estimates, not legal conclusions. File provisional application within 90 days to secure priority date.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 Novel Patent Ideas — GenAI Autonomous Agents</dc:title>
  <dc:subject>PptxGenJS Presentation</dc:subject>
  <dc:creator>PptxGenJS</dc:creator>
  <cp:lastModifiedBy>PptxGenJS</cp:lastModifiedBy>
  <cp:revision>1</cp:revision>
  <dcterms:created xsi:type="dcterms:W3CDTF">2026-05-18T03:47:36Z</dcterms:created>
  <dcterms:modified xsi:type="dcterms:W3CDTF">2026-05-18T03:47:36Z</dcterms:modified>
</cp:coreProperties>
</file>