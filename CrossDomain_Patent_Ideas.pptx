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5303520" y="-1097280"/>
            <a:ext cx="5486400" cy="5486400"/>
          </a:xfrm>
          <a:prstGeom prst="ellipse">
            <a:avLst/>
          </a:prstGeom>
          <a:solidFill>
            <a:srgbClr val="4C1D95"/>
          </a:solidFill>
          <a:ln w="12700">
            <a:solidFill>
              <a:srgbClr val="4C1D95"/>
            </a:solidFill>
            <a:prstDash val="solid"/>
          </a:ln>
        </p:spPr>
      </p:sp>
      <p:sp>
        <p:nvSpPr>
          <p:cNvPr id="3" name="Shape 1"/>
          <p:cNvSpPr/>
          <p:nvPr/>
        </p:nvSpPr>
        <p:spPr>
          <a:xfrm>
            <a:off x="5852160" y="-548640"/>
            <a:ext cx="4114800" cy="4114800"/>
          </a:xfrm>
          <a:prstGeom prst="ellipse">
            <a:avLst/>
          </a:prstGeom>
          <a:solidFill>
            <a:srgbClr val="7C3AED"/>
          </a:solidFill>
          <a:ln w="12700">
            <a:solidFill>
              <a:srgbClr val="7C3AED"/>
            </a:solidFill>
            <a:prstDash val="solid"/>
          </a:ln>
        </p:spPr>
      </p:sp>
      <p:sp>
        <p:nvSpPr>
          <p:cNvPr id="4" name="Text 2"/>
          <p:cNvSpPr/>
          <p:nvPr/>
        </p:nvSpPr>
        <p:spPr>
          <a:xfrm>
            <a:off x="502920" y="685800"/>
            <a:ext cx="8229600" cy="411480"/>
          </a:xfrm>
          <a:prstGeom prst="rect">
            <a:avLst/>
          </a:prstGeom>
          <a:noFill/>
          <a:ln/>
        </p:spPr>
        <p:txBody>
          <a:bodyPr wrap="square" rtlCol="0" anchor="ctr"/>
          <a:lstStyle/>
          <a:p>
            <a:pPr indent="0" marL="0">
              <a:buNone/>
            </a:pPr>
            <a:r>
              <a:rPr lang="en-US" sz="1400" dirty="0">
                <a:solidFill>
                  <a:srgbClr val="A78BFA"/>
                </a:solidFill>
                <a:latin typeface="Calibri" pitchFamily="34" charset="0"/>
                <a:ea typeface="Calibri" pitchFamily="34" charset="-122"/>
                <a:cs typeface="Calibri" pitchFamily="34" charset="-120"/>
              </a:rPr>
              <a:t>Cross-Domain Breakthrough</a:t>
            </a:r>
            <a:endParaRPr lang="en-US" sz="1400" dirty="0"/>
          </a:p>
        </p:txBody>
      </p:sp>
      <p:sp>
        <p:nvSpPr>
          <p:cNvPr id="5" name="Text 3"/>
          <p:cNvSpPr/>
          <p:nvPr/>
        </p:nvSpPr>
        <p:spPr>
          <a:xfrm>
            <a:off x="502920" y="1078992"/>
            <a:ext cx="7772400" cy="960120"/>
          </a:xfrm>
          <a:prstGeom prst="rect">
            <a:avLst/>
          </a:prstGeom>
          <a:noFill/>
          <a:ln/>
        </p:spPr>
        <p:txBody>
          <a:bodyPr wrap="square"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10 Novel Patent Ideas</a:t>
            </a:r>
            <a:endParaRPr lang="en-US" sz="4800" dirty="0"/>
          </a:p>
        </p:txBody>
      </p:sp>
      <p:sp>
        <p:nvSpPr>
          <p:cNvPr id="6" name="Text 4"/>
          <p:cNvSpPr/>
          <p:nvPr/>
        </p:nvSpPr>
        <p:spPr>
          <a:xfrm>
            <a:off x="502920" y="2029968"/>
            <a:ext cx="7772400" cy="475488"/>
          </a:xfrm>
          <a:prstGeom prst="rect">
            <a:avLst/>
          </a:prstGeom>
          <a:noFill/>
          <a:ln/>
        </p:spPr>
        <p:txBody>
          <a:bodyPr wrap="square" rtlCol="0" anchor="ctr"/>
          <a:lstStyle/>
          <a:p>
            <a:pPr indent="0" marL="0">
              <a:buNone/>
            </a:pPr>
            <a:r>
              <a:rPr lang="en-US" sz="2200" dirty="0">
                <a:solidFill>
                  <a:srgbClr val="A78BFA"/>
                </a:solidFill>
                <a:latin typeface="Calibri" pitchFamily="34" charset="0"/>
                <a:ea typeface="Calibri" pitchFamily="34" charset="-122"/>
                <a:cs typeface="Calibri" pitchFamily="34" charset="-120"/>
              </a:rPr>
              <a:t>for Autonomous Multi-Agent Planning</a:t>
            </a:r>
            <a:endParaRPr lang="en-US" sz="2200" dirty="0"/>
          </a:p>
        </p:txBody>
      </p:sp>
      <p:sp>
        <p:nvSpPr>
          <p:cNvPr id="7" name="Shape 5"/>
          <p:cNvSpPr/>
          <p:nvPr/>
        </p:nvSpPr>
        <p:spPr>
          <a:xfrm>
            <a:off x="502920" y="2697480"/>
            <a:ext cx="841248" cy="219456"/>
          </a:xfrm>
          <a:prstGeom prst="roundRect">
            <a:avLst>
              <a:gd name="adj" fmla="val 16667"/>
            </a:avLst>
          </a:prstGeom>
          <a:solidFill>
            <a:srgbClr val="2D1B69"/>
          </a:solidFill>
          <a:ln w="6350">
            <a:solidFill>
              <a:srgbClr val="A78BFA"/>
            </a:solidFill>
            <a:prstDash val="solid"/>
          </a:ln>
        </p:spPr>
      </p:sp>
      <p:sp>
        <p:nvSpPr>
          <p:cNvPr id="8" name="Text 6"/>
          <p:cNvSpPr/>
          <p:nvPr/>
        </p:nvSpPr>
        <p:spPr>
          <a:xfrm>
            <a:off x="502920" y="2706624"/>
            <a:ext cx="841248" cy="201168"/>
          </a:xfrm>
          <a:prstGeom prst="rect">
            <a:avLst/>
          </a:prstGeom>
          <a:noFill/>
          <a:ln/>
        </p:spPr>
        <p:txBody>
          <a:bodyPr wrap="square" lIns="0" tIns="0" rIns="0" bIns="0" rtlCol="0" anchor="ctr"/>
          <a:lstStyle/>
          <a:p>
            <a:pPr algn="ctr" indent="0" marL="0">
              <a:buNone/>
            </a:pPr>
            <a:r>
              <a:rPr lang="en-US" sz="800" dirty="0">
                <a:solidFill>
                  <a:srgbClr val="A78BFA"/>
                </a:solidFill>
              </a:rPr>
              <a:t>Immunology</a:t>
            </a:r>
            <a:endParaRPr lang="en-US" sz="800" dirty="0"/>
          </a:p>
        </p:txBody>
      </p:sp>
      <p:sp>
        <p:nvSpPr>
          <p:cNvPr id="9" name="Shape 7"/>
          <p:cNvSpPr/>
          <p:nvPr/>
        </p:nvSpPr>
        <p:spPr>
          <a:xfrm>
            <a:off x="1417320" y="2697480"/>
            <a:ext cx="1038758" cy="219456"/>
          </a:xfrm>
          <a:prstGeom prst="roundRect">
            <a:avLst>
              <a:gd name="adj" fmla="val 16667"/>
            </a:avLst>
          </a:prstGeom>
          <a:solidFill>
            <a:srgbClr val="2D1B69"/>
          </a:solidFill>
          <a:ln w="6350">
            <a:solidFill>
              <a:srgbClr val="A78BFA"/>
            </a:solidFill>
            <a:prstDash val="solid"/>
          </a:ln>
        </p:spPr>
      </p:sp>
      <p:sp>
        <p:nvSpPr>
          <p:cNvPr id="10" name="Text 8"/>
          <p:cNvSpPr/>
          <p:nvPr/>
        </p:nvSpPr>
        <p:spPr>
          <a:xfrm>
            <a:off x="1417320" y="2706624"/>
            <a:ext cx="1038758" cy="201168"/>
          </a:xfrm>
          <a:prstGeom prst="rect">
            <a:avLst/>
          </a:prstGeom>
          <a:noFill/>
          <a:ln/>
        </p:spPr>
        <p:txBody>
          <a:bodyPr wrap="square" lIns="0" tIns="0" rIns="0" bIns="0" rtlCol="0" anchor="ctr"/>
          <a:lstStyle/>
          <a:p>
            <a:pPr algn="ctr" indent="0" marL="0">
              <a:buNone/>
            </a:pPr>
            <a:r>
              <a:rPr lang="en-US" sz="800" dirty="0">
                <a:solidFill>
                  <a:srgbClr val="A78BFA"/>
                </a:solidFill>
              </a:rPr>
              <a:t>Swarm Biology</a:t>
            </a:r>
            <a:endParaRPr lang="en-US" sz="800" dirty="0"/>
          </a:p>
        </p:txBody>
      </p:sp>
      <p:sp>
        <p:nvSpPr>
          <p:cNvPr id="11" name="Shape 9"/>
          <p:cNvSpPr/>
          <p:nvPr/>
        </p:nvSpPr>
        <p:spPr>
          <a:xfrm>
            <a:off x="2529230" y="2697480"/>
            <a:ext cx="1104595" cy="219456"/>
          </a:xfrm>
          <a:prstGeom prst="roundRect">
            <a:avLst>
              <a:gd name="adj" fmla="val 16667"/>
            </a:avLst>
          </a:prstGeom>
          <a:solidFill>
            <a:srgbClr val="2D1B69"/>
          </a:solidFill>
          <a:ln w="6350">
            <a:solidFill>
              <a:srgbClr val="A78BFA"/>
            </a:solidFill>
            <a:prstDash val="solid"/>
          </a:ln>
        </p:spPr>
      </p:sp>
      <p:sp>
        <p:nvSpPr>
          <p:cNvPr id="12" name="Text 10"/>
          <p:cNvSpPr/>
          <p:nvPr/>
        </p:nvSpPr>
        <p:spPr>
          <a:xfrm>
            <a:off x="2529230" y="2706624"/>
            <a:ext cx="1104595" cy="201168"/>
          </a:xfrm>
          <a:prstGeom prst="rect">
            <a:avLst/>
          </a:prstGeom>
          <a:noFill/>
          <a:ln/>
        </p:spPr>
        <p:txBody>
          <a:bodyPr wrap="square" lIns="0" tIns="0" rIns="0" bIns="0" rtlCol="0" anchor="ctr"/>
          <a:lstStyle/>
          <a:p>
            <a:pPr algn="ctr" indent="0" marL="0">
              <a:buNone/>
            </a:pPr>
            <a:r>
              <a:rPr lang="en-US" sz="800" dirty="0">
                <a:solidFill>
                  <a:srgbClr val="A78BFA"/>
                </a:solidFill>
              </a:rPr>
              <a:t>Morphogenetics</a:t>
            </a:r>
            <a:endParaRPr lang="en-US" sz="800" dirty="0"/>
          </a:p>
        </p:txBody>
      </p:sp>
      <p:sp>
        <p:nvSpPr>
          <p:cNvPr id="13" name="Shape 11"/>
          <p:cNvSpPr/>
          <p:nvPr/>
        </p:nvSpPr>
        <p:spPr>
          <a:xfrm>
            <a:off x="3706978" y="2697480"/>
            <a:ext cx="1170432" cy="219456"/>
          </a:xfrm>
          <a:prstGeom prst="roundRect">
            <a:avLst>
              <a:gd name="adj" fmla="val 16667"/>
            </a:avLst>
          </a:prstGeom>
          <a:solidFill>
            <a:srgbClr val="2D1B69"/>
          </a:solidFill>
          <a:ln w="6350">
            <a:solidFill>
              <a:srgbClr val="A78BFA"/>
            </a:solidFill>
            <a:prstDash val="solid"/>
          </a:ln>
        </p:spPr>
      </p:sp>
      <p:sp>
        <p:nvSpPr>
          <p:cNvPr id="14" name="Text 12"/>
          <p:cNvSpPr/>
          <p:nvPr/>
        </p:nvSpPr>
        <p:spPr>
          <a:xfrm>
            <a:off x="3706978" y="2706624"/>
            <a:ext cx="1170432" cy="201168"/>
          </a:xfrm>
          <a:prstGeom prst="rect">
            <a:avLst/>
          </a:prstGeom>
          <a:noFill/>
          <a:ln/>
        </p:spPr>
        <p:txBody>
          <a:bodyPr wrap="square" lIns="0" tIns="0" rIns="0" bIns="0" rtlCol="0" anchor="ctr"/>
          <a:lstStyle/>
          <a:p>
            <a:pPr algn="ctr" indent="0" marL="0">
              <a:buNone/>
            </a:pPr>
            <a:r>
              <a:rPr lang="en-US" sz="800" dirty="0">
                <a:solidFill>
                  <a:srgbClr val="A78BFA"/>
                </a:solidFill>
              </a:rPr>
              <a:t>Quantum Physics</a:t>
            </a:r>
            <a:endParaRPr lang="en-US" sz="800" dirty="0"/>
          </a:p>
        </p:txBody>
      </p:sp>
      <p:sp>
        <p:nvSpPr>
          <p:cNvPr id="15" name="Shape 13"/>
          <p:cNvSpPr/>
          <p:nvPr/>
        </p:nvSpPr>
        <p:spPr>
          <a:xfrm>
            <a:off x="4950562" y="2697480"/>
            <a:ext cx="822960" cy="219456"/>
          </a:xfrm>
          <a:prstGeom prst="roundRect">
            <a:avLst>
              <a:gd name="adj" fmla="val 16667"/>
            </a:avLst>
          </a:prstGeom>
          <a:solidFill>
            <a:srgbClr val="2D1B69"/>
          </a:solidFill>
          <a:ln w="6350">
            <a:solidFill>
              <a:srgbClr val="A78BFA"/>
            </a:solidFill>
            <a:prstDash val="solid"/>
          </a:ln>
        </p:spPr>
      </p:sp>
      <p:sp>
        <p:nvSpPr>
          <p:cNvPr id="16" name="Text 14"/>
          <p:cNvSpPr/>
          <p:nvPr/>
        </p:nvSpPr>
        <p:spPr>
          <a:xfrm>
            <a:off x="4950562" y="2706624"/>
            <a:ext cx="822960" cy="201168"/>
          </a:xfrm>
          <a:prstGeom prst="rect">
            <a:avLst/>
          </a:prstGeom>
          <a:noFill/>
          <a:ln/>
        </p:spPr>
        <p:txBody>
          <a:bodyPr wrap="square" lIns="0" tIns="0" rIns="0" bIns="0" rtlCol="0" anchor="ctr"/>
          <a:lstStyle/>
          <a:p>
            <a:pPr algn="ctr" indent="0" marL="0">
              <a:buNone/>
            </a:pPr>
            <a:r>
              <a:rPr lang="en-US" sz="800" dirty="0">
                <a:solidFill>
                  <a:srgbClr val="A78BFA"/>
                </a:solidFill>
              </a:rPr>
              <a:t>Ecology</a:t>
            </a:r>
            <a:endParaRPr lang="en-US" sz="800" dirty="0"/>
          </a:p>
        </p:txBody>
      </p:sp>
      <p:sp>
        <p:nvSpPr>
          <p:cNvPr id="17" name="Shape 15"/>
          <p:cNvSpPr/>
          <p:nvPr/>
        </p:nvSpPr>
        <p:spPr>
          <a:xfrm>
            <a:off x="5846674" y="2697480"/>
            <a:ext cx="907085" cy="219456"/>
          </a:xfrm>
          <a:prstGeom prst="roundRect">
            <a:avLst>
              <a:gd name="adj" fmla="val 16667"/>
            </a:avLst>
          </a:prstGeom>
          <a:solidFill>
            <a:srgbClr val="2D1B69"/>
          </a:solidFill>
          <a:ln w="6350">
            <a:solidFill>
              <a:srgbClr val="A78BFA"/>
            </a:solidFill>
            <a:prstDash val="solid"/>
          </a:ln>
        </p:spPr>
      </p:sp>
      <p:sp>
        <p:nvSpPr>
          <p:cNvPr id="18" name="Text 16"/>
          <p:cNvSpPr/>
          <p:nvPr/>
        </p:nvSpPr>
        <p:spPr>
          <a:xfrm>
            <a:off x="5846674" y="2706624"/>
            <a:ext cx="907085" cy="201168"/>
          </a:xfrm>
          <a:prstGeom prst="rect">
            <a:avLst/>
          </a:prstGeom>
          <a:noFill/>
          <a:ln/>
        </p:spPr>
        <p:txBody>
          <a:bodyPr wrap="square" lIns="0" tIns="0" rIns="0" bIns="0" rtlCol="0" anchor="ctr"/>
          <a:lstStyle/>
          <a:p>
            <a:pPr algn="ctr" indent="0" marL="0">
              <a:buNone/>
            </a:pPr>
            <a:r>
              <a:rPr lang="en-US" sz="800" dirty="0">
                <a:solidFill>
                  <a:srgbClr val="A78BFA"/>
                </a:solidFill>
              </a:rPr>
              <a:t>Epigenetics</a:t>
            </a:r>
            <a:endParaRPr lang="en-US" sz="800" dirty="0"/>
          </a:p>
        </p:txBody>
      </p:sp>
      <p:sp>
        <p:nvSpPr>
          <p:cNvPr id="19" name="Shape 17"/>
          <p:cNvSpPr/>
          <p:nvPr/>
        </p:nvSpPr>
        <p:spPr>
          <a:xfrm>
            <a:off x="6826910" y="2697480"/>
            <a:ext cx="841248" cy="219456"/>
          </a:xfrm>
          <a:prstGeom prst="roundRect">
            <a:avLst>
              <a:gd name="adj" fmla="val 16667"/>
            </a:avLst>
          </a:prstGeom>
          <a:solidFill>
            <a:srgbClr val="2D1B69"/>
          </a:solidFill>
          <a:ln w="6350">
            <a:solidFill>
              <a:srgbClr val="A78BFA"/>
            </a:solidFill>
            <a:prstDash val="solid"/>
          </a:ln>
        </p:spPr>
      </p:sp>
      <p:sp>
        <p:nvSpPr>
          <p:cNvPr id="20" name="Text 18"/>
          <p:cNvSpPr/>
          <p:nvPr/>
        </p:nvSpPr>
        <p:spPr>
          <a:xfrm>
            <a:off x="6826910" y="2706624"/>
            <a:ext cx="841248" cy="201168"/>
          </a:xfrm>
          <a:prstGeom prst="rect">
            <a:avLst/>
          </a:prstGeom>
          <a:noFill/>
          <a:ln/>
        </p:spPr>
        <p:txBody>
          <a:bodyPr wrap="square" lIns="0" tIns="0" rIns="0" bIns="0" rtlCol="0" anchor="ctr"/>
          <a:lstStyle/>
          <a:p>
            <a:pPr algn="ctr" indent="0" marL="0">
              <a:buNone/>
            </a:pPr>
            <a:r>
              <a:rPr lang="en-US" sz="800" dirty="0">
                <a:solidFill>
                  <a:srgbClr val="A78BFA"/>
                </a:solidFill>
              </a:rPr>
              <a:t>Tensegrity</a:t>
            </a:r>
            <a:endParaRPr lang="en-US" sz="800" dirty="0"/>
          </a:p>
        </p:txBody>
      </p:sp>
      <p:sp>
        <p:nvSpPr>
          <p:cNvPr id="21" name="Shape 19"/>
          <p:cNvSpPr/>
          <p:nvPr/>
        </p:nvSpPr>
        <p:spPr>
          <a:xfrm>
            <a:off x="7741310" y="2697480"/>
            <a:ext cx="1104595" cy="219456"/>
          </a:xfrm>
          <a:prstGeom prst="roundRect">
            <a:avLst>
              <a:gd name="adj" fmla="val 16667"/>
            </a:avLst>
          </a:prstGeom>
          <a:solidFill>
            <a:srgbClr val="2D1B69"/>
          </a:solidFill>
          <a:ln w="6350">
            <a:solidFill>
              <a:srgbClr val="A78BFA"/>
            </a:solidFill>
            <a:prstDash val="solid"/>
          </a:ln>
        </p:spPr>
      </p:sp>
      <p:sp>
        <p:nvSpPr>
          <p:cNvPr id="22" name="Text 20"/>
          <p:cNvSpPr/>
          <p:nvPr/>
        </p:nvSpPr>
        <p:spPr>
          <a:xfrm>
            <a:off x="7741310" y="2706624"/>
            <a:ext cx="1104595" cy="201168"/>
          </a:xfrm>
          <a:prstGeom prst="rect">
            <a:avLst/>
          </a:prstGeom>
          <a:noFill/>
          <a:ln/>
        </p:spPr>
        <p:txBody>
          <a:bodyPr wrap="square" lIns="0" tIns="0" rIns="0" bIns="0" rtlCol="0" anchor="ctr"/>
          <a:lstStyle/>
          <a:p>
            <a:pPr algn="ctr" indent="0" marL="0">
              <a:buNone/>
            </a:pPr>
            <a:r>
              <a:rPr lang="en-US" sz="800" dirty="0">
                <a:solidFill>
                  <a:srgbClr val="A78BFA"/>
                </a:solidFill>
              </a:rPr>
              <a:t>Thermodynamics</a:t>
            </a:r>
            <a:endParaRPr lang="en-US" sz="800" dirty="0"/>
          </a:p>
        </p:txBody>
      </p:sp>
      <p:sp>
        <p:nvSpPr>
          <p:cNvPr id="23" name="Shape 21"/>
          <p:cNvSpPr/>
          <p:nvPr/>
        </p:nvSpPr>
        <p:spPr>
          <a:xfrm>
            <a:off x="8919058" y="2697480"/>
            <a:ext cx="907085" cy="219456"/>
          </a:xfrm>
          <a:prstGeom prst="roundRect">
            <a:avLst>
              <a:gd name="adj" fmla="val 16667"/>
            </a:avLst>
          </a:prstGeom>
          <a:solidFill>
            <a:srgbClr val="2D1B69"/>
          </a:solidFill>
          <a:ln w="6350">
            <a:solidFill>
              <a:srgbClr val="A78BFA"/>
            </a:solidFill>
            <a:prstDash val="solid"/>
          </a:ln>
        </p:spPr>
      </p:sp>
      <p:sp>
        <p:nvSpPr>
          <p:cNvPr id="24" name="Text 22"/>
          <p:cNvSpPr/>
          <p:nvPr/>
        </p:nvSpPr>
        <p:spPr>
          <a:xfrm>
            <a:off x="8919058" y="2706624"/>
            <a:ext cx="907085" cy="201168"/>
          </a:xfrm>
          <a:prstGeom prst="rect">
            <a:avLst/>
          </a:prstGeom>
          <a:noFill/>
          <a:ln/>
        </p:spPr>
        <p:txBody>
          <a:bodyPr wrap="square" lIns="0" tIns="0" rIns="0" bIns="0" rtlCol="0" anchor="ctr"/>
          <a:lstStyle/>
          <a:p>
            <a:pPr algn="ctr" indent="0" marL="0">
              <a:buNone/>
            </a:pPr>
            <a:r>
              <a:rPr lang="en-US" sz="800" dirty="0">
                <a:solidFill>
                  <a:srgbClr val="A78BFA"/>
                </a:solidFill>
              </a:rPr>
              <a:t>Game Theory</a:t>
            </a:r>
            <a:endParaRPr lang="en-US" sz="800" dirty="0"/>
          </a:p>
        </p:txBody>
      </p:sp>
      <p:sp>
        <p:nvSpPr>
          <p:cNvPr id="25" name="Shape 23"/>
          <p:cNvSpPr/>
          <p:nvPr/>
        </p:nvSpPr>
        <p:spPr>
          <a:xfrm>
            <a:off x="9899294" y="2697480"/>
            <a:ext cx="1170432" cy="219456"/>
          </a:xfrm>
          <a:prstGeom prst="roundRect">
            <a:avLst>
              <a:gd name="adj" fmla="val 16667"/>
            </a:avLst>
          </a:prstGeom>
          <a:solidFill>
            <a:srgbClr val="2D1B69"/>
          </a:solidFill>
          <a:ln w="6350">
            <a:solidFill>
              <a:srgbClr val="A78BFA"/>
            </a:solidFill>
            <a:prstDash val="solid"/>
          </a:ln>
        </p:spPr>
      </p:sp>
      <p:sp>
        <p:nvSpPr>
          <p:cNvPr id="26" name="Text 24"/>
          <p:cNvSpPr/>
          <p:nvPr/>
        </p:nvSpPr>
        <p:spPr>
          <a:xfrm>
            <a:off x="9899294" y="2706624"/>
            <a:ext cx="1170432" cy="201168"/>
          </a:xfrm>
          <a:prstGeom prst="rect">
            <a:avLst/>
          </a:prstGeom>
          <a:noFill/>
          <a:ln/>
        </p:spPr>
        <p:txBody>
          <a:bodyPr wrap="square" lIns="0" tIns="0" rIns="0" bIns="0" rtlCol="0" anchor="ctr"/>
          <a:lstStyle/>
          <a:p>
            <a:pPr algn="ctr" indent="0" marL="0">
              <a:buNone/>
            </a:pPr>
            <a:r>
              <a:rPr lang="en-US" sz="800" dirty="0">
                <a:solidFill>
                  <a:srgbClr val="A78BFA"/>
                </a:solidFill>
              </a:rPr>
              <a:t>Crystallography</a:t>
            </a:r>
            <a:endParaRPr lang="en-US" sz="800" dirty="0"/>
          </a:p>
        </p:txBody>
      </p:sp>
      <p:sp>
        <p:nvSpPr>
          <p:cNvPr id="27" name="Shape 25"/>
          <p:cNvSpPr/>
          <p:nvPr/>
        </p:nvSpPr>
        <p:spPr>
          <a:xfrm>
            <a:off x="502920" y="3200400"/>
            <a:ext cx="2651760" cy="914400"/>
          </a:xfrm>
          <a:prstGeom prst="roundRect">
            <a:avLst>
              <a:gd name="adj" fmla="val 10000"/>
            </a:avLst>
          </a:prstGeom>
          <a:solidFill>
            <a:srgbClr val="064E3B"/>
          </a:solidFill>
          <a:ln w="12700">
            <a:solidFill>
              <a:srgbClr val="34D399"/>
            </a:solidFill>
            <a:prstDash val="solid"/>
          </a:ln>
        </p:spPr>
      </p:sp>
      <p:sp>
        <p:nvSpPr>
          <p:cNvPr id="28" name="Text 26"/>
          <p:cNvSpPr/>
          <p:nvPr/>
        </p:nvSpPr>
        <p:spPr>
          <a:xfrm>
            <a:off x="502920" y="3255264"/>
            <a:ext cx="2651760" cy="237744"/>
          </a:xfrm>
          <a:prstGeom prst="rect">
            <a:avLst/>
          </a:prstGeom>
          <a:noFill/>
          <a:ln/>
        </p:spPr>
        <p:txBody>
          <a:bodyPr wrap="square" lIns="0" tIns="0" rIns="0" bIns="0" rtlCol="0" anchor="ctr"/>
          <a:lstStyle/>
          <a:p>
            <a:pPr algn="ctr" indent="0" marL="0">
              <a:buNone/>
            </a:pPr>
            <a:r>
              <a:rPr lang="en-US" sz="900" dirty="0">
                <a:solidFill>
                  <a:srgbClr val="34D399"/>
                </a:solidFill>
              </a:rPr>
              <a:t>Est. Acceptance Range</a:t>
            </a:r>
            <a:endParaRPr lang="en-US" sz="900" dirty="0"/>
          </a:p>
        </p:txBody>
      </p:sp>
      <p:sp>
        <p:nvSpPr>
          <p:cNvPr id="29" name="Text 27"/>
          <p:cNvSpPr/>
          <p:nvPr/>
        </p:nvSpPr>
        <p:spPr>
          <a:xfrm>
            <a:off x="502920" y="3493008"/>
            <a:ext cx="2651760" cy="512064"/>
          </a:xfrm>
          <a:prstGeom prst="rect">
            <a:avLst/>
          </a:prstGeom>
          <a:noFill/>
          <a:ln/>
        </p:spPr>
        <p:txBody>
          <a:bodyPr wrap="square" lIns="0" tIns="0" rIns="0" bIns="0" rtlCol="0" anchor="ctr"/>
          <a:lstStyle/>
          <a:p>
            <a:pPr algn="ctr" indent="0" marL="0">
              <a:buNone/>
            </a:pPr>
            <a:r>
              <a:rPr lang="en-US" sz="2600" b="1" dirty="0">
                <a:solidFill>
                  <a:srgbClr val="34D399"/>
                </a:solidFill>
              </a:rPr>
              <a:t>63–82%</a:t>
            </a:r>
            <a:endParaRPr lang="en-US" sz="2600" dirty="0"/>
          </a:p>
        </p:txBody>
      </p:sp>
      <p:sp>
        <p:nvSpPr>
          <p:cNvPr id="30" name="Shape 28"/>
          <p:cNvSpPr/>
          <p:nvPr/>
        </p:nvSpPr>
        <p:spPr>
          <a:xfrm>
            <a:off x="3383280" y="3200400"/>
            <a:ext cx="2651760" cy="914400"/>
          </a:xfrm>
          <a:prstGeom prst="roundRect">
            <a:avLst>
              <a:gd name="adj" fmla="val 10000"/>
            </a:avLst>
          </a:prstGeom>
          <a:solidFill>
            <a:srgbClr val="78350F"/>
          </a:solidFill>
          <a:ln w="12700">
            <a:solidFill>
              <a:srgbClr val="FCD34D"/>
            </a:solidFill>
            <a:prstDash val="solid"/>
          </a:ln>
        </p:spPr>
      </p:sp>
      <p:sp>
        <p:nvSpPr>
          <p:cNvPr id="31" name="Text 29"/>
          <p:cNvSpPr/>
          <p:nvPr/>
        </p:nvSpPr>
        <p:spPr>
          <a:xfrm>
            <a:off x="3383280" y="3255264"/>
            <a:ext cx="2651760" cy="237744"/>
          </a:xfrm>
          <a:prstGeom prst="rect">
            <a:avLst/>
          </a:prstGeom>
          <a:noFill/>
          <a:ln/>
        </p:spPr>
        <p:txBody>
          <a:bodyPr wrap="square" lIns="0" tIns="0" rIns="0" bIns="0" rtlCol="0" anchor="ctr"/>
          <a:lstStyle/>
          <a:p>
            <a:pPr algn="ctr" indent="0" marL="0">
              <a:buNone/>
            </a:pPr>
            <a:r>
              <a:rPr lang="en-US" sz="900" dirty="0">
                <a:solidFill>
                  <a:srgbClr val="FCD34D"/>
                </a:solidFill>
              </a:rPr>
              <a:t>Est. Prior-Art Overlap</a:t>
            </a:r>
            <a:endParaRPr lang="en-US" sz="900" dirty="0"/>
          </a:p>
        </p:txBody>
      </p:sp>
      <p:sp>
        <p:nvSpPr>
          <p:cNvPr id="32" name="Text 30"/>
          <p:cNvSpPr/>
          <p:nvPr/>
        </p:nvSpPr>
        <p:spPr>
          <a:xfrm>
            <a:off x="3383280" y="3493008"/>
            <a:ext cx="2651760" cy="512064"/>
          </a:xfrm>
          <a:prstGeom prst="rect">
            <a:avLst/>
          </a:prstGeom>
          <a:noFill/>
          <a:ln/>
        </p:spPr>
        <p:txBody>
          <a:bodyPr wrap="square" lIns="0" tIns="0" rIns="0" bIns="0" rtlCol="0" anchor="ctr"/>
          <a:lstStyle/>
          <a:p>
            <a:pPr algn="ctr" indent="0" marL="0">
              <a:buNone/>
            </a:pPr>
            <a:r>
              <a:rPr lang="en-US" sz="2600" b="1" dirty="0">
                <a:solidFill>
                  <a:srgbClr val="FCD34D"/>
                </a:solidFill>
              </a:rPr>
              <a:t>8–24%</a:t>
            </a:r>
            <a:endParaRPr lang="en-US" sz="2600" dirty="0"/>
          </a:p>
        </p:txBody>
      </p:sp>
      <p:sp>
        <p:nvSpPr>
          <p:cNvPr id="33" name="Shape 31"/>
          <p:cNvSpPr/>
          <p:nvPr/>
        </p:nvSpPr>
        <p:spPr>
          <a:xfrm>
            <a:off x="6263640" y="3200400"/>
            <a:ext cx="2651760" cy="914400"/>
          </a:xfrm>
          <a:prstGeom prst="roundRect">
            <a:avLst>
              <a:gd name="adj" fmla="val 10000"/>
            </a:avLst>
          </a:prstGeom>
          <a:solidFill>
            <a:srgbClr val="2D1B69"/>
          </a:solidFill>
          <a:ln w="12700">
            <a:solidFill>
              <a:srgbClr val="A78BFA"/>
            </a:solidFill>
            <a:prstDash val="solid"/>
          </a:ln>
        </p:spPr>
      </p:sp>
      <p:sp>
        <p:nvSpPr>
          <p:cNvPr id="34" name="Text 32"/>
          <p:cNvSpPr/>
          <p:nvPr/>
        </p:nvSpPr>
        <p:spPr>
          <a:xfrm>
            <a:off x="6263640" y="3255264"/>
            <a:ext cx="2651760" cy="237744"/>
          </a:xfrm>
          <a:prstGeom prst="rect">
            <a:avLst/>
          </a:prstGeom>
          <a:noFill/>
          <a:ln/>
        </p:spPr>
        <p:txBody>
          <a:bodyPr wrap="square" lIns="0" tIns="0" rIns="0" bIns="0" rtlCol="0" anchor="ctr"/>
          <a:lstStyle/>
          <a:p>
            <a:pPr algn="ctr" indent="0" marL="0">
              <a:buNone/>
            </a:pPr>
            <a:r>
              <a:rPr lang="en-US" sz="900" dirty="0">
                <a:solidFill>
                  <a:srgbClr val="A78BFA"/>
                </a:solidFill>
              </a:rPr>
              <a:t>Est. Novelty Range</a:t>
            </a:r>
            <a:endParaRPr lang="en-US" sz="900" dirty="0"/>
          </a:p>
        </p:txBody>
      </p:sp>
      <p:sp>
        <p:nvSpPr>
          <p:cNvPr id="35" name="Text 33"/>
          <p:cNvSpPr/>
          <p:nvPr/>
        </p:nvSpPr>
        <p:spPr>
          <a:xfrm>
            <a:off x="6263640" y="3493008"/>
            <a:ext cx="2651760" cy="512064"/>
          </a:xfrm>
          <a:prstGeom prst="rect">
            <a:avLst/>
          </a:prstGeom>
          <a:noFill/>
          <a:ln/>
        </p:spPr>
        <p:txBody>
          <a:bodyPr wrap="square" lIns="0" tIns="0" rIns="0" bIns="0" rtlCol="0" anchor="ctr"/>
          <a:lstStyle/>
          <a:p>
            <a:pPr algn="ctr" indent="0" marL="0">
              <a:buNone/>
            </a:pPr>
            <a:r>
              <a:rPr lang="en-US" sz="2600" b="1" dirty="0">
                <a:solidFill>
                  <a:srgbClr val="A78BFA"/>
                </a:solidFill>
              </a:rPr>
              <a:t>76–92%</a:t>
            </a:r>
            <a:endParaRPr lang="en-US" sz="2600" dirty="0"/>
          </a:p>
        </p:txBody>
      </p:sp>
      <p:sp>
        <p:nvSpPr>
          <p:cNvPr id="36" name="Text 34"/>
          <p:cNvSpPr/>
          <p:nvPr/>
        </p:nvSpPr>
        <p:spPr>
          <a:xfrm>
            <a:off x="502920" y="4480560"/>
            <a:ext cx="8229600" cy="228600"/>
          </a:xfrm>
          <a:prstGeom prst="rect">
            <a:avLst/>
          </a:prstGeom>
          <a:noFill/>
          <a:ln/>
        </p:spPr>
        <p:txBody>
          <a:bodyPr wrap="square" lIns="0" tIns="0" rIns="0" bIns="0" rtlCol="0" anchor="ctr"/>
          <a:lstStyle/>
          <a:p>
            <a:pPr algn="l" indent="0" marL="0">
              <a:buNone/>
            </a:pPr>
            <a:r>
              <a:rPr lang="en-US" sz="850" dirty="0">
                <a:solidFill>
                  <a:srgbClr val="94A3B8"/>
                </a:solidFill>
              </a:rPr>
              <a:t>Source: arxiv · NeurIPS · Nature · PNAS · IEEE · patent literature  ·  May 2026</a:t>
            </a:r>
            <a:endParaRPr lang="en-US" sz="850" dirty="0"/>
          </a:p>
        </p:txBody>
      </p:sp>
      <p:sp>
        <p:nvSpPr>
          <p:cNvPr id="37" name="Text 35"/>
          <p:cNvSpPr/>
          <p:nvPr/>
        </p:nvSpPr>
        <p:spPr>
          <a:xfrm>
            <a:off x="8412480" y="274320"/>
            <a:ext cx="548640" cy="548640"/>
          </a:xfrm>
          <a:prstGeom prst="rect">
            <a:avLst/>
          </a:prstGeom>
          <a:noFill/>
          <a:ln/>
        </p:spPr>
        <p:txBody>
          <a:bodyPr wrap="square" lIns="0" tIns="0" rIns="0" bIns="0" rtlCol="0" anchor="ctr"/>
          <a:lstStyle/>
          <a:p>
            <a:pPr algn="ctr" indent="0" marL="0">
              <a:buNone/>
            </a:pPr>
            <a:r>
              <a:rPr lang="en-US" sz="2200" dirty="0">
                <a:solidFill>
                  <a:srgbClr val="7C3AED">
                    <a:alpha val="40000"/>
                  </a:srgbClr>
                </a:solidFill>
              </a:rPr>
              <a:t>⬡</a:t>
            </a:r>
            <a:endParaRPr lang="en-US" sz="2200" dirty="0"/>
          </a:p>
        </p:txBody>
      </p:sp>
      <p:sp>
        <p:nvSpPr>
          <p:cNvPr id="38" name="Text 36"/>
          <p:cNvSpPr/>
          <p:nvPr/>
        </p:nvSpPr>
        <p:spPr>
          <a:xfrm>
            <a:off x="8412480" y="1280160"/>
            <a:ext cx="548640" cy="548640"/>
          </a:xfrm>
          <a:prstGeom prst="rect">
            <a:avLst/>
          </a:prstGeom>
          <a:noFill/>
          <a:ln/>
        </p:spPr>
        <p:txBody>
          <a:bodyPr wrap="square" lIns="0" tIns="0" rIns="0" bIns="0" rtlCol="0" anchor="ctr"/>
          <a:lstStyle/>
          <a:p>
            <a:pPr algn="ctr" indent="0" marL="0">
              <a:buNone/>
            </a:pPr>
            <a:r>
              <a:rPr lang="en-US" sz="2200" dirty="0">
                <a:solidFill>
                  <a:srgbClr val="3B82F6">
                    <a:alpha val="40000"/>
                  </a:srgbClr>
                </a:solidFill>
              </a:rPr>
              <a:t>◈</a:t>
            </a:r>
            <a:endParaRPr lang="en-US" sz="2200" dirty="0"/>
          </a:p>
        </p:txBody>
      </p:sp>
      <p:sp>
        <p:nvSpPr>
          <p:cNvPr id="39" name="Text 37"/>
          <p:cNvSpPr/>
          <p:nvPr/>
        </p:nvSpPr>
        <p:spPr>
          <a:xfrm>
            <a:off x="8412480" y="2286000"/>
            <a:ext cx="548640" cy="548640"/>
          </a:xfrm>
          <a:prstGeom prst="rect">
            <a:avLst/>
          </a:prstGeom>
          <a:noFill/>
          <a:ln/>
        </p:spPr>
        <p:txBody>
          <a:bodyPr wrap="square" lIns="0" tIns="0" rIns="0" bIns="0" rtlCol="0" anchor="ctr"/>
          <a:lstStyle/>
          <a:p>
            <a:pPr algn="ctr" indent="0" marL="0">
              <a:buNone/>
            </a:pPr>
            <a:r>
              <a:rPr lang="en-US" sz="2200" dirty="0">
                <a:solidFill>
                  <a:srgbClr val="7C3AED">
                    <a:alpha val="40000"/>
                  </a:srgbClr>
                </a:solidFill>
              </a:rPr>
              <a:t>⬟</a:t>
            </a:r>
            <a:endParaRPr lang="en-US" sz="2200" dirty="0"/>
          </a:p>
        </p:txBody>
      </p:sp>
      <p:sp>
        <p:nvSpPr>
          <p:cNvPr id="40" name="Text 38"/>
          <p:cNvSpPr/>
          <p:nvPr/>
        </p:nvSpPr>
        <p:spPr>
          <a:xfrm>
            <a:off x="8412480" y="3291840"/>
            <a:ext cx="548640" cy="548640"/>
          </a:xfrm>
          <a:prstGeom prst="rect">
            <a:avLst/>
          </a:prstGeom>
          <a:noFill/>
          <a:ln/>
        </p:spPr>
        <p:txBody>
          <a:bodyPr wrap="square" lIns="0" tIns="0" rIns="0" bIns="0" rtlCol="0" anchor="ctr"/>
          <a:lstStyle/>
          <a:p>
            <a:pPr algn="ctr" indent="0" marL="0">
              <a:buNone/>
            </a:pPr>
            <a:r>
              <a:rPr lang="en-US" sz="2200" dirty="0">
                <a:solidFill>
                  <a:srgbClr val="3B82F6">
                    <a:alpha val="40000"/>
                  </a:srgbClr>
                </a:solidFill>
              </a:rPr>
              <a:t>◉</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06B6D4"/>
          </a:solidFill>
          <a:ln w="12700">
            <a:solidFill>
              <a:srgbClr val="06B6D4"/>
            </a:solidFill>
            <a:prstDash val="solid"/>
          </a:ln>
        </p:spPr>
      </p:sp>
      <p:sp>
        <p:nvSpPr>
          <p:cNvPr id="3" name="Shape 1"/>
          <p:cNvSpPr/>
          <p:nvPr/>
        </p:nvSpPr>
        <p:spPr>
          <a:xfrm>
            <a:off x="274320" y="91440"/>
            <a:ext cx="1325880" cy="347472"/>
          </a:xfrm>
          <a:prstGeom prst="roundRect">
            <a:avLst>
              <a:gd name="adj" fmla="val 15789"/>
            </a:avLst>
          </a:prstGeom>
          <a:solidFill>
            <a:srgbClr val="0C3A42"/>
          </a:solidFill>
          <a:ln w="12700">
            <a:solidFill>
              <a:srgbClr val="06B6D4"/>
            </a:solidFill>
            <a:prstDash val="solid"/>
          </a:ln>
        </p:spPr>
      </p:sp>
      <p:sp>
        <p:nvSpPr>
          <p:cNvPr id="4" name="Text 2"/>
          <p:cNvSpPr/>
          <p:nvPr/>
        </p:nvSpPr>
        <p:spPr>
          <a:xfrm>
            <a:off x="274320" y="91440"/>
            <a:ext cx="1325880" cy="347472"/>
          </a:xfrm>
          <a:prstGeom prst="rect">
            <a:avLst/>
          </a:prstGeom>
          <a:noFill/>
          <a:ln/>
        </p:spPr>
        <p:txBody>
          <a:bodyPr wrap="square" lIns="0" tIns="0" rIns="0" bIns="0" rtlCol="0" anchor="ctr"/>
          <a:lstStyle/>
          <a:p>
            <a:pPr algn="ctr" indent="0" marL="0">
              <a:buNone/>
            </a:pPr>
            <a:r>
              <a:rPr lang="en-US" sz="900" b="1" dirty="0">
                <a:solidFill>
                  <a:srgbClr val="06B6D4"/>
                </a:solidFill>
              </a:rPr>
              <a:t>Patent Idea #1</a:t>
            </a:r>
            <a:endParaRPr lang="en-US" sz="900" dirty="0"/>
          </a:p>
        </p:txBody>
      </p:sp>
      <p:sp>
        <p:nvSpPr>
          <p:cNvPr id="5" name="Text 3"/>
          <p:cNvSpPr/>
          <p:nvPr/>
        </p:nvSpPr>
        <p:spPr>
          <a:xfrm>
            <a:off x="1691640" y="91440"/>
            <a:ext cx="7132320" cy="274320"/>
          </a:xfrm>
          <a:prstGeom prst="rect">
            <a:avLst/>
          </a:prstGeom>
          <a:noFill/>
          <a:ln/>
        </p:spPr>
        <p:txBody>
          <a:bodyPr wrap="square" lIns="0" tIns="0" rIns="0" bIns="0" rtlCol="0" anchor="ctr"/>
          <a:lstStyle/>
          <a:p>
            <a:pPr indent="0" marL="0">
              <a:buNone/>
            </a:pPr>
            <a:r>
              <a:rPr lang="en-US" sz="1450" b="1" dirty="0">
                <a:solidFill>
                  <a:srgbClr val="FFFFFF"/>
                </a:solidFill>
              </a:rPr>
              <a:t>Homeostatic Meta-Learning Orchestrator (HMLO)</a:t>
            </a:r>
            <a:endParaRPr lang="en-US" sz="1450" dirty="0"/>
          </a:p>
        </p:txBody>
      </p:sp>
      <p:sp>
        <p:nvSpPr>
          <p:cNvPr id="6" name="Text 4"/>
          <p:cNvSpPr/>
          <p:nvPr/>
        </p:nvSpPr>
        <p:spPr>
          <a:xfrm>
            <a:off x="1691640" y="384048"/>
            <a:ext cx="7132320" cy="182880"/>
          </a:xfrm>
          <a:prstGeom prst="rect">
            <a:avLst/>
          </a:prstGeom>
          <a:noFill/>
          <a:ln/>
        </p:spPr>
        <p:txBody>
          <a:bodyPr wrap="square" lIns="0" tIns="0" rIns="0" bIns="0" rtlCol="0" anchor="t"/>
          <a:lstStyle/>
          <a:p>
            <a:pPr indent="0" marL="0">
              <a:buNone/>
            </a:pPr>
            <a:r>
              <a:rPr lang="en-US" sz="900" dirty="0">
                <a:solidFill>
                  <a:srgbClr val="94A3B8"/>
                </a:solidFill>
              </a:rPr>
              <a:t>Emotion-inspired learning signals regulate agent optimizer state in real-time</a:t>
            </a:r>
            <a:endParaRPr lang="en-US" sz="900" dirty="0"/>
          </a:p>
        </p:txBody>
      </p:sp>
      <p:sp>
        <p:nvSpPr>
          <p:cNvPr id="7" name="Shape 5"/>
          <p:cNvSpPr/>
          <p:nvPr/>
        </p:nvSpPr>
        <p:spPr>
          <a:xfrm>
            <a:off x="1691640" y="594360"/>
            <a:ext cx="972922" cy="201168"/>
          </a:xfrm>
          <a:prstGeom prst="roundRect">
            <a:avLst>
              <a:gd name="adj" fmla="val 18182"/>
            </a:avLst>
          </a:prstGeom>
          <a:solidFill>
            <a:srgbClr val="0C3A42"/>
          </a:solidFill>
          <a:ln w="12700">
            <a:solidFill>
              <a:srgbClr val="0C3A42"/>
            </a:solidFill>
            <a:prstDash val="solid"/>
          </a:ln>
        </p:spPr>
      </p:sp>
      <p:sp>
        <p:nvSpPr>
          <p:cNvPr id="8" name="Text 6"/>
          <p:cNvSpPr/>
          <p:nvPr/>
        </p:nvSpPr>
        <p:spPr>
          <a:xfrm>
            <a:off x="1691640" y="594360"/>
            <a:ext cx="972922" cy="201168"/>
          </a:xfrm>
          <a:prstGeom prst="rect">
            <a:avLst/>
          </a:prstGeom>
          <a:noFill/>
          <a:ln/>
        </p:spPr>
        <p:txBody>
          <a:bodyPr wrap="square" lIns="0" tIns="0" rIns="0" bIns="0" rtlCol="0" anchor="ctr"/>
          <a:lstStyle/>
          <a:p>
            <a:pPr algn="ctr" indent="0" marL="0">
              <a:buNone/>
            </a:pPr>
            <a:r>
              <a:rPr lang="en-US" sz="800" b="1" dirty="0">
                <a:solidFill>
                  <a:srgbClr val="06B6D4"/>
                </a:solidFill>
              </a:rPr>
              <a:t>Neuroscience</a:t>
            </a:r>
            <a:endParaRPr lang="en-US" sz="800" dirty="0"/>
          </a:p>
        </p:txBody>
      </p:sp>
      <p:sp>
        <p:nvSpPr>
          <p:cNvPr id="9" name="Shape 7"/>
          <p:cNvSpPr/>
          <p:nvPr/>
        </p:nvSpPr>
        <p:spPr>
          <a:xfrm>
            <a:off x="2756002" y="594360"/>
            <a:ext cx="907085" cy="201168"/>
          </a:xfrm>
          <a:prstGeom prst="roundRect">
            <a:avLst>
              <a:gd name="adj" fmla="val 18182"/>
            </a:avLst>
          </a:prstGeom>
          <a:solidFill>
            <a:srgbClr val="0C3A42"/>
          </a:solidFill>
          <a:ln w="12700">
            <a:solidFill>
              <a:srgbClr val="0C3A42"/>
            </a:solidFill>
            <a:prstDash val="solid"/>
          </a:ln>
        </p:spPr>
      </p:sp>
      <p:sp>
        <p:nvSpPr>
          <p:cNvPr id="10" name="Text 8"/>
          <p:cNvSpPr/>
          <p:nvPr/>
        </p:nvSpPr>
        <p:spPr>
          <a:xfrm>
            <a:off x="2756002" y="594360"/>
            <a:ext cx="907085" cy="201168"/>
          </a:xfrm>
          <a:prstGeom prst="rect">
            <a:avLst/>
          </a:prstGeom>
          <a:noFill/>
          <a:ln/>
        </p:spPr>
        <p:txBody>
          <a:bodyPr wrap="square" lIns="0" tIns="0" rIns="0" bIns="0" rtlCol="0" anchor="ctr"/>
          <a:lstStyle/>
          <a:p>
            <a:pPr algn="ctr" indent="0" marL="0">
              <a:buNone/>
            </a:pPr>
            <a:r>
              <a:rPr lang="en-US" sz="800" b="1" dirty="0">
                <a:solidFill>
                  <a:srgbClr val="06B6D4"/>
                </a:solidFill>
              </a:rPr>
              <a:t>Homeostasis</a:t>
            </a:r>
            <a:endParaRPr lang="en-US" sz="800" dirty="0"/>
          </a:p>
        </p:txBody>
      </p:sp>
      <p:sp>
        <p:nvSpPr>
          <p:cNvPr id="11" name="Shape 9"/>
          <p:cNvSpPr/>
          <p:nvPr/>
        </p:nvSpPr>
        <p:spPr>
          <a:xfrm>
            <a:off x="3754526" y="594360"/>
            <a:ext cx="822960" cy="201168"/>
          </a:xfrm>
          <a:prstGeom prst="roundRect">
            <a:avLst>
              <a:gd name="adj" fmla="val 18182"/>
            </a:avLst>
          </a:prstGeom>
          <a:solidFill>
            <a:srgbClr val="0C3A42"/>
          </a:solidFill>
          <a:ln w="12700">
            <a:solidFill>
              <a:srgbClr val="0C3A42"/>
            </a:solidFill>
            <a:prstDash val="solid"/>
          </a:ln>
        </p:spPr>
      </p:sp>
      <p:sp>
        <p:nvSpPr>
          <p:cNvPr id="12" name="Text 10"/>
          <p:cNvSpPr/>
          <p:nvPr/>
        </p:nvSpPr>
        <p:spPr>
          <a:xfrm>
            <a:off x="3754526" y="594360"/>
            <a:ext cx="822960" cy="201168"/>
          </a:xfrm>
          <a:prstGeom prst="rect">
            <a:avLst/>
          </a:prstGeom>
          <a:noFill/>
          <a:ln/>
        </p:spPr>
        <p:txBody>
          <a:bodyPr wrap="square" lIns="0" tIns="0" rIns="0" bIns="0" rtlCol="0" anchor="ctr"/>
          <a:lstStyle/>
          <a:p>
            <a:pPr algn="ctr" indent="0" marL="0">
              <a:buNone/>
            </a:pPr>
            <a:r>
              <a:rPr lang="en-US" sz="800" b="1" dirty="0">
                <a:solidFill>
                  <a:srgbClr val="06B6D4"/>
                </a:solidFill>
              </a:rPr>
              <a:t>Meta-RL</a:t>
            </a:r>
            <a:endParaRPr lang="en-US" sz="800" dirty="0"/>
          </a:p>
        </p:txBody>
      </p:sp>
      <p:sp>
        <p:nvSpPr>
          <p:cNvPr id="13" name="Shape 11"/>
          <p:cNvSpPr/>
          <p:nvPr/>
        </p:nvSpPr>
        <p:spPr>
          <a:xfrm>
            <a:off x="4668926" y="594360"/>
            <a:ext cx="1104595" cy="201168"/>
          </a:xfrm>
          <a:prstGeom prst="roundRect">
            <a:avLst>
              <a:gd name="adj" fmla="val 18182"/>
            </a:avLst>
          </a:prstGeom>
          <a:solidFill>
            <a:srgbClr val="0C3A42"/>
          </a:solidFill>
          <a:ln w="12700">
            <a:solidFill>
              <a:srgbClr val="0C3A42"/>
            </a:solidFill>
            <a:prstDash val="solid"/>
          </a:ln>
        </p:spPr>
      </p:sp>
      <p:sp>
        <p:nvSpPr>
          <p:cNvPr id="14" name="Text 12"/>
          <p:cNvSpPr/>
          <p:nvPr/>
        </p:nvSpPr>
        <p:spPr>
          <a:xfrm>
            <a:off x="4668926" y="594360"/>
            <a:ext cx="1104595" cy="201168"/>
          </a:xfrm>
          <a:prstGeom prst="rect">
            <a:avLst/>
          </a:prstGeom>
          <a:noFill/>
          <a:ln/>
        </p:spPr>
        <p:txBody>
          <a:bodyPr wrap="square" lIns="0" tIns="0" rIns="0" bIns="0" rtlCol="0" anchor="ctr"/>
          <a:lstStyle/>
          <a:p>
            <a:pPr algn="ctr" indent="0" marL="0">
              <a:buNone/>
            </a:pPr>
            <a:r>
              <a:rPr lang="en-US" sz="800" b="1" dirty="0">
                <a:solidFill>
                  <a:srgbClr val="06B6D4"/>
                </a:solidFill>
              </a:rPr>
              <a:t>Control Theory</a:t>
            </a:r>
            <a:endParaRPr lang="en-US" sz="800" dirty="0"/>
          </a:p>
        </p:txBody>
      </p:sp>
      <p:sp>
        <p:nvSpPr>
          <p:cNvPr id="15" name="Shape 13"/>
          <p:cNvSpPr/>
          <p:nvPr/>
        </p:nvSpPr>
        <p:spPr>
          <a:xfrm>
            <a:off x="274320" y="868680"/>
            <a:ext cx="1389888" cy="658368"/>
          </a:xfrm>
          <a:prstGeom prst="roundRect">
            <a:avLst>
              <a:gd name="adj" fmla="val 9722"/>
            </a:avLst>
          </a:prstGeom>
          <a:solidFill>
            <a:srgbClr val="064E3B"/>
          </a:solidFill>
          <a:ln w="19050">
            <a:solidFill>
              <a:srgbClr val="34D399"/>
            </a:solidFill>
            <a:prstDash val="solid"/>
          </a:ln>
        </p:spPr>
      </p:sp>
      <p:sp>
        <p:nvSpPr>
          <p:cNvPr id="16" name="Text 14"/>
          <p:cNvSpPr/>
          <p:nvPr/>
        </p:nvSpPr>
        <p:spPr>
          <a:xfrm>
            <a:off x="27432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ACCEPTANCE</a:t>
            </a:r>
            <a:endParaRPr lang="en-US" sz="750" dirty="0"/>
          </a:p>
        </p:txBody>
      </p:sp>
      <p:sp>
        <p:nvSpPr>
          <p:cNvPr id="17" name="Text 15"/>
          <p:cNvSpPr/>
          <p:nvPr/>
        </p:nvSpPr>
        <p:spPr>
          <a:xfrm>
            <a:off x="27432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77%</a:t>
            </a:r>
            <a:endParaRPr lang="en-US" sz="2000" dirty="0"/>
          </a:p>
        </p:txBody>
      </p:sp>
      <p:sp>
        <p:nvSpPr>
          <p:cNvPr id="18" name="Shape 16"/>
          <p:cNvSpPr/>
          <p:nvPr/>
        </p:nvSpPr>
        <p:spPr>
          <a:xfrm>
            <a:off x="1828800" y="868680"/>
            <a:ext cx="1389888" cy="658368"/>
          </a:xfrm>
          <a:prstGeom prst="roundRect">
            <a:avLst>
              <a:gd name="adj" fmla="val 9722"/>
            </a:avLst>
          </a:prstGeom>
          <a:solidFill>
            <a:srgbClr val="064E3B"/>
          </a:solidFill>
          <a:ln w="19050">
            <a:solidFill>
              <a:srgbClr val="34D399"/>
            </a:solidFill>
            <a:prstDash val="solid"/>
          </a:ln>
        </p:spPr>
      </p:sp>
      <p:sp>
        <p:nvSpPr>
          <p:cNvPr id="19" name="Text 17"/>
          <p:cNvSpPr/>
          <p:nvPr/>
        </p:nvSpPr>
        <p:spPr>
          <a:xfrm>
            <a:off x="182880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OVERLAP</a:t>
            </a:r>
            <a:endParaRPr lang="en-US" sz="750" dirty="0"/>
          </a:p>
        </p:txBody>
      </p:sp>
      <p:sp>
        <p:nvSpPr>
          <p:cNvPr id="20" name="Text 18"/>
          <p:cNvSpPr/>
          <p:nvPr/>
        </p:nvSpPr>
        <p:spPr>
          <a:xfrm>
            <a:off x="182880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14%</a:t>
            </a:r>
            <a:endParaRPr lang="en-US" sz="2000" dirty="0"/>
          </a:p>
        </p:txBody>
      </p:sp>
      <p:sp>
        <p:nvSpPr>
          <p:cNvPr id="21" name="Shape 19"/>
          <p:cNvSpPr/>
          <p:nvPr/>
        </p:nvSpPr>
        <p:spPr>
          <a:xfrm>
            <a:off x="3383280" y="868680"/>
            <a:ext cx="1389888" cy="658368"/>
          </a:xfrm>
          <a:prstGeom prst="roundRect">
            <a:avLst>
              <a:gd name="adj" fmla="val 9722"/>
            </a:avLst>
          </a:prstGeom>
          <a:solidFill>
            <a:srgbClr val="2D1B69"/>
          </a:solidFill>
          <a:ln w="19050">
            <a:solidFill>
              <a:srgbClr val="A78BFA"/>
            </a:solidFill>
            <a:prstDash val="solid"/>
          </a:ln>
        </p:spPr>
      </p:sp>
      <p:sp>
        <p:nvSpPr>
          <p:cNvPr id="22" name="Text 20"/>
          <p:cNvSpPr/>
          <p:nvPr/>
        </p:nvSpPr>
        <p:spPr>
          <a:xfrm>
            <a:off x="3383280" y="905256"/>
            <a:ext cx="1389888" cy="219456"/>
          </a:xfrm>
          <a:prstGeom prst="rect">
            <a:avLst/>
          </a:prstGeom>
          <a:noFill/>
          <a:ln/>
        </p:spPr>
        <p:txBody>
          <a:bodyPr wrap="square" lIns="0" tIns="0" rIns="0" bIns="0" rtlCol="0" anchor="ctr"/>
          <a:lstStyle/>
          <a:p>
            <a:pPr algn="ctr" indent="0" marL="0">
              <a:buNone/>
            </a:pPr>
            <a:r>
              <a:rPr lang="en-US" sz="750" b="1" dirty="0">
                <a:solidFill>
                  <a:srgbClr val="A78BFA"/>
                </a:solidFill>
              </a:rPr>
              <a:t>EST. NOVELTY</a:t>
            </a:r>
            <a:endParaRPr lang="en-US" sz="750" dirty="0"/>
          </a:p>
        </p:txBody>
      </p:sp>
      <p:sp>
        <p:nvSpPr>
          <p:cNvPr id="23" name="Text 21"/>
          <p:cNvSpPr/>
          <p:nvPr/>
        </p:nvSpPr>
        <p:spPr>
          <a:xfrm>
            <a:off x="3383280" y="1124712"/>
            <a:ext cx="1389888" cy="347472"/>
          </a:xfrm>
          <a:prstGeom prst="rect">
            <a:avLst/>
          </a:prstGeom>
          <a:noFill/>
          <a:ln/>
        </p:spPr>
        <p:txBody>
          <a:bodyPr wrap="square" lIns="0" tIns="0" rIns="0" bIns="0" rtlCol="0" anchor="ctr"/>
          <a:lstStyle/>
          <a:p>
            <a:pPr algn="ctr" indent="0" marL="0">
              <a:buNone/>
            </a:pPr>
            <a:r>
              <a:rPr lang="en-US" sz="2000" b="1" dirty="0">
                <a:solidFill>
                  <a:srgbClr val="A78BFA"/>
                </a:solidFill>
              </a:rPr>
              <a:t>86%</a:t>
            </a:r>
            <a:endParaRPr lang="en-US" sz="2000" dirty="0"/>
          </a:p>
        </p:txBody>
      </p:sp>
      <p:sp>
        <p:nvSpPr>
          <p:cNvPr id="24" name="Shape 22"/>
          <p:cNvSpPr/>
          <p:nvPr/>
        </p:nvSpPr>
        <p:spPr>
          <a:xfrm>
            <a:off x="274320" y="1627632"/>
            <a:ext cx="8595360" cy="685800"/>
          </a:xfrm>
          <a:prstGeom prst="roundRect">
            <a:avLst>
              <a:gd name="adj" fmla="val 9333"/>
            </a:avLst>
          </a:prstGeom>
          <a:solidFill>
            <a:srgbClr val="0C3A42"/>
          </a:solidFill>
          <a:ln w="12700">
            <a:solidFill>
              <a:srgbClr val="06B6D4"/>
            </a:solidFill>
            <a:prstDash val="solid"/>
          </a:ln>
        </p:spPr>
      </p:sp>
      <p:sp>
        <p:nvSpPr>
          <p:cNvPr id="25" name="Text 23"/>
          <p:cNvSpPr/>
          <p:nvPr/>
        </p:nvSpPr>
        <p:spPr>
          <a:xfrm>
            <a:off x="402336" y="1682496"/>
            <a:ext cx="2011680" cy="201168"/>
          </a:xfrm>
          <a:prstGeom prst="rect">
            <a:avLst/>
          </a:prstGeom>
          <a:noFill/>
          <a:ln/>
        </p:spPr>
        <p:txBody>
          <a:bodyPr wrap="square" lIns="0" tIns="0" rIns="0" bIns="0" rtlCol="0" anchor="ctr"/>
          <a:lstStyle/>
          <a:p>
            <a:pPr indent="0" marL="0">
              <a:buNone/>
            </a:pPr>
            <a:r>
              <a:rPr lang="en-US" sz="850" b="1" dirty="0">
                <a:solidFill>
                  <a:srgbClr val="06B6D4"/>
                </a:solidFill>
              </a:rPr>
              <a:t>💡 Cross-Domain Insight</a:t>
            </a:r>
            <a:endParaRPr lang="en-US" sz="850" dirty="0"/>
          </a:p>
        </p:txBody>
      </p:sp>
      <p:sp>
        <p:nvSpPr>
          <p:cNvPr id="26" name="Text 24"/>
          <p:cNvSpPr/>
          <p:nvPr/>
        </p:nvSpPr>
        <p:spPr>
          <a:xfrm>
            <a:off x="402336" y="1865376"/>
            <a:ext cx="8321040" cy="402336"/>
          </a:xfrm>
          <a:prstGeom prst="rect">
            <a:avLst/>
          </a:prstGeom>
          <a:noFill/>
          <a:ln/>
        </p:spPr>
        <p:txBody>
          <a:bodyPr wrap="square" lIns="0" tIns="0" rIns="0" bIns="0" rtlCol="0" anchor="ctr"/>
          <a:lstStyle/>
          <a:p>
            <a:pPr indent="0" marL="0">
              <a:lnSpc>
                <a:spcPct val="125000"/>
              </a:lnSpc>
              <a:buNone/>
            </a:pPr>
            <a:r>
              <a:rPr lang="en-US" sz="900" dirty="0">
                <a:solidFill>
                  <a:srgbClr val="F8FAFC"/>
                </a:solidFill>
              </a:rPr>
              <a:t>Biology uses emotions not as experiences but as homeostatic control signals — algorithmic appraisals of agent-environment mismatch. EILS (arxiv:2512.22200) demonstrates this in single-agent RL. No system applies it to multi-agent orchestration where each agent maintains its own Internal State Module (ISM) that modulates the shared orchestrator.</a:t>
            </a:r>
            <a:endParaRPr lang="en-US" sz="900" dirty="0"/>
          </a:p>
        </p:txBody>
      </p:sp>
      <p:sp>
        <p:nvSpPr>
          <p:cNvPr id="27" name="Shape 25"/>
          <p:cNvSpPr/>
          <p:nvPr/>
        </p:nvSpPr>
        <p:spPr>
          <a:xfrm>
            <a:off x="274320" y="2423160"/>
            <a:ext cx="4160520" cy="1188720"/>
          </a:xfrm>
          <a:prstGeom prst="roundRect">
            <a:avLst>
              <a:gd name="adj" fmla="val 5385"/>
            </a:avLst>
          </a:prstGeom>
          <a:solidFill>
            <a:srgbClr val="1A2235"/>
          </a:solidFill>
          <a:ln w="6350">
            <a:solidFill>
              <a:srgbClr val="2D3748"/>
            </a:solidFill>
            <a:prstDash val="solid"/>
          </a:ln>
        </p:spPr>
      </p:sp>
      <p:sp>
        <p:nvSpPr>
          <p:cNvPr id="28" name="Shape 26"/>
          <p:cNvSpPr/>
          <p:nvPr/>
        </p:nvSpPr>
        <p:spPr>
          <a:xfrm>
            <a:off x="384048" y="2487168"/>
            <a:ext cx="1737360" cy="201168"/>
          </a:xfrm>
          <a:prstGeom prst="roundRect">
            <a:avLst>
              <a:gd name="adj" fmla="val 18182"/>
            </a:avLst>
          </a:prstGeom>
          <a:solidFill>
            <a:srgbClr val="111827"/>
          </a:solidFill>
          <a:ln w="15240">
            <a:solidFill>
              <a:srgbClr val="06B6D4"/>
            </a:solidFill>
            <a:prstDash val="solid"/>
          </a:ln>
        </p:spPr>
      </p:sp>
      <p:sp>
        <p:nvSpPr>
          <p:cNvPr id="29" name="Text 27"/>
          <p:cNvSpPr/>
          <p:nvPr/>
        </p:nvSpPr>
        <p:spPr>
          <a:xfrm>
            <a:off x="384048" y="2496312"/>
            <a:ext cx="1737360" cy="201168"/>
          </a:xfrm>
          <a:prstGeom prst="rect">
            <a:avLst/>
          </a:prstGeom>
          <a:noFill/>
          <a:ln/>
        </p:spPr>
        <p:txBody>
          <a:bodyPr wrap="square" lIns="0" tIns="0" rIns="0" bIns="0" rtlCol="0" anchor="ctr"/>
          <a:lstStyle/>
          <a:p>
            <a:pPr algn="ctr" indent="0" marL="0">
              <a:buNone/>
            </a:pPr>
            <a:r>
              <a:rPr lang="en-US" sz="800" b="1" dirty="0">
                <a:solidFill>
                  <a:srgbClr val="06B6D4"/>
                </a:solidFill>
              </a:rPr>
              <a:t>⚡ PROBLEM SOLVED</a:t>
            </a:r>
            <a:endParaRPr lang="en-US" sz="800" dirty="0"/>
          </a:p>
        </p:txBody>
      </p:sp>
      <p:sp>
        <p:nvSpPr>
          <p:cNvPr id="30" name="Text 28"/>
          <p:cNvSpPr/>
          <p:nvPr/>
        </p:nvSpPr>
        <p:spPr>
          <a:xfrm>
            <a:off x="384048" y="2715768"/>
            <a:ext cx="3931920" cy="822960"/>
          </a:xfrm>
          <a:prstGeom prst="rect">
            <a:avLst/>
          </a:prstGeom>
          <a:noFill/>
          <a:ln/>
        </p:spPr>
        <p:txBody>
          <a:bodyPr wrap="square" lIns="0" tIns="0" rIns="0" bIns="0" rtlCol="0" anchor="ctr"/>
          <a:lstStyle/>
          <a:p>
            <a:pPr indent="0" marL="0">
              <a:lnSpc>
                <a:spcPct val="130000"/>
              </a:lnSpc>
              <a:buNone/>
            </a:pPr>
            <a:r>
              <a:rPr lang="en-US" sz="900" dirty="0">
                <a:solidFill>
                  <a:srgbClr val="94A3B8"/>
                </a:solidFill>
              </a:rPr>
              <a:t>LLM orchestrators treat latent variable shifts (environment changes, tool failures, agent dropouts) as noise. They optimize for the average case, producing policies that are 'universally inferior' rather than adaptive. When significant distribution shift occurs, fixed scheduling fails to recover.</a:t>
            </a:r>
            <a:endParaRPr lang="en-US" sz="900" dirty="0"/>
          </a:p>
        </p:txBody>
      </p:sp>
      <p:sp>
        <p:nvSpPr>
          <p:cNvPr id="31" name="Shape 29"/>
          <p:cNvSpPr/>
          <p:nvPr/>
        </p:nvSpPr>
        <p:spPr>
          <a:xfrm>
            <a:off x="274320" y="3675888"/>
            <a:ext cx="4160520" cy="1389888"/>
          </a:xfrm>
          <a:prstGeom prst="roundRect">
            <a:avLst>
              <a:gd name="adj" fmla="val 4605"/>
            </a:avLst>
          </a:prstGeom>
          <a:solidFill>
            <a:srgbClr val="1A2235"/>
          </a:solidFill>
          <a:ln w="6350">
            <a:solidFill>
              <a:srgbClr val="2D3748"/>
            </a:solidFill>
            <a:prstDash val="solid"/>
          </a:ln>
        </p:spPr>
      </p:sp>
      <p:sp>
        <p:nvSpPr>
          <p:cNvPr id="32" name="Shape 30"/>
          <p:cNvSpPr/>
          <p:nvPr/>
        </p:nvSpPr>
        <p:spPr>
          <a:xfrm>
            <a:off x="384048" y="3739896"/>
            <a:ext cx="2743200" cy="201168"/>
          </a:xfrm>
          <a:prstGeom prst="roundRect">
            <a:avLst>
              <a:gd name="adj" fmla="val 18182"/>
            </a:avLst>
          </a:prstGeom>
          <a:solidFill>
            <a:srgbClr val="111827"/>
          </a:solidFill>
          <a:ln w="15240">
            <a:solidFill>
              <a:srgbClr val="333333"/>
            </a:solidFill>
            <a:prstDash val="solid"/>
          </a:ln>
        </p:spPr>
      </p:sp>
      <p:sp>
        <p:nvSpPr>
          <p:cNvPr id="33" name="Text 31"/>
          <p:cNvSpPr/>
          <p:nvPr/>
        </p:nvSpPr>
        <p:spPr>
          <a:xfrm>
            <a:off x="384048" y="3749040"/>
            <a:ext cx="2743200" cy="201168"/>
          </a:xfrm>
          <a:prstGeom prst="rect">
            <a:avLst/>
          </a:prstGeom>
          <a:noFill/>
          <a:ln/>
        </p:spPr>
        <p:txBody>
          <a:bodyPr wrap="square" lIns="0" tIns="0" rIns="0" bIns="0" rtlCol="0" anchor="ctr"/>
          <a:lstStyle/>
          <a:p>
            <a:pPr algn="ctr" indent="0" marL="0">
              <a:buNone/>
            </a:pPr>
            <a:r>
              <a:rPr lang="en-US" sz="800" b="1" dirty="0">
                <a:solidFill>
                  <a:srgbClr val="000000"/>
                </a:solidFill>
              </a:rPr>
              <a:t>🔬 NOVEL APPROACH (NUMBERED STEPS)</a:t>
            </a:r>
            <a:endParaRPr lang="en-US" sz="800" dirty="0"/>
          </a:p>
        </p:txBody>
      </p:sp>
      <p:sp>
        <p:nvSpPr>
          <p:cNvPr id="34" name="Text 32"/>
          <p:cNvSpPr/>
          <p:nvPr/>
        </p:nvSpPr>
        <p:spPr>
          <a:xfrm>
            <a:off x="384048" y="3977640"/>
            <a:ext cx="3931920" cy="1024128"/>
          </a:xfrm>
          <a:prstGeom prst="rect">
            <a:avLst/>
          </a:prstGeom>
          <a:noFill/>
          <a:ln/>
        </p:spPr>
        <p:txBody>
          <a:bodyPr wrap="square" lIns="25400" tIns="50800" rIns="0" bIns="0" rtlCol="0" anchor="ctr"/>
          <a:lstStyle/>
          <a:p>
            <a:pPr marL="342900" indent="-342900">
              <a:lnSpc>
                <a:spcPct val="130000"/>
              </a:lnSpc>
              <a:buSzPct val="100000"/>
              <a:buFont typeface="+mj-lt"/>
              <a:buAutoNum type="arabicPeriod" startAt="1"/>
            </a:pPr>
            <a:r>
              <a:rPr lang="en-US" sz="850" dirty="0">
                <a:solidFill>
                  <a:srgbClr val="F8FAFC"/>
                </a:solidFill>
              </a:rPr>
              <a:t>Each agent has an ISM (Internal State Module) computing a vector of emotional states from its history of surprise, success, and contradiction</a:t>
            </a:r>
            <a:endParaRPr lang="en-US" sz="850" dirty="0"/>
          </a:p>
          <a:p>
            <a:pPr marL="342900" indent="-342900">
              <a:lnSpc>
                <a:spcPct val="130000"/>
              </a:lnSpc>
              <a:buSzPct val="100000"/>
              <a:buFont typeface="+mj-lt"/>
              <a:buAutoNum type="arabicPeriod" startAt="1"/>
            </a:pPr>
            <a:r>
              <a:rPr lang="en-US" sz="850" dirty="0">
                <a:solidFill>
                  <a:srgbClr val="F8FAFC"/>
                </a:solidFill>
              </a:rPr>
              <a:t>ISM outputs modulate the orchestrator's optimizer: high surprise → higher plasticity; stable success → lower learning rate; contradiction → meta-reflection trigger</a:t>
            </a:r>
            <a:endParaRPr lang="en-US" sz="850" dirty="0"/>
          </a:p>
          <a:p>
            <a:pPr marL="342900" indent="-342900">
              <a:lnSpc>
                <a:spcPct val="130000"/>
              </a:lnSpc>
              <a:buSzPct val="100000"/>
              <a:buFont typeface="+mj-lt"/>
              <a:buAutoNum type="arabicPeriod" startAt="1"/>
            </a:pPr>
            <a:r>
              <a:rPr lang="en-US" sz="850" dirty="0">
                <a:solidFill>
                  <a:srgbClr val="F8FAFC"/>
                </a:solidFill>
              </a:rPr>
              <a:t>Homeostatic set-point: the orchestrator maintains a target surprise-success ratio across all agents; deviation triggers rebalancing</a:t>
            </a:r>
            <a:endParaRPr lang="en-US" sz="850" dirty="0"/>
          </a:p>
          <a:p>
            <a:pPr marL="342900" indent="-342900">
              <a:lnSpc>
                <a:spcPct val="130000"/>
              </a:lnSpc>
              <a:buSzPct val="100000"/>
              <a:buFont typeface="+mj-lt"/>
              <a:buAutoNum type="arabicPeriod" startAt="1"/>
            </a:pPr>
            <a:r>
              <a:rPr lang="en-US" sz="850" dirty="0">
                <a:solidFill>
                  <a:srgbClr val="F8FAFC"/>
                </a:solidFill>
              </a:rPr>
              <a:t>Stability-Plasticity governor: unlike fixed decay schedules, modulation is data-driven — agent-level ISM signals fed into a shared Lyapunov-stable control law</a:t>
            </a:r>
            <a:endParaRPr lang="en-US" sz="850" dirty="0"/>
          </a:p>
        </p:txBody>
      </p:sp>
      <p:sp>
        <p:nvSpPr>
          <p:cNvPr id="35" name="Shape 33"/>
          <p:cNvSpPr/>
          <p:nvPr/>
        </p:nvSpPr>
        <p:spPr>
          <a:xfrm>
            <a:off x="4709160" y="2423160"/>
            <a:ext cx="4160520" cy="1417320"/>
          </a:xfrm>
          <a:prstGeom prst="roundRect">
            <a:avLst>
              <a:gd name="adj" fmla="val 4516"/>
            </a:avLst>
          </a:prstGeom>
          <a:solidFill>
            <a:srgbClr val="1A2235"/>
          </a:solidFill>
          <a:ln w="6350">
            <a:solidFill>
              <a:srgbClr val="2D3748"/>
            </a:solidFill>
            <a:prstDash val="solid"/>
          </a:ln>
        </p:spPr>
      </p:sp>
      <p:sp>
        <p:nvSpPr>
          <p:cNvPr id="36" name="Shape 34"/>
          <p:cNvSpPr/>
          <p:nvPr/>
        </p:nvSpPr>
        <p:spPr>
          <a:xfrm>
            <a:off x="4818888" y="2487168"/>
            <a:ext cx="1828800" cy="201168"/>
          </a:xfrm>
          <a:prstGeom prst="roundRect">
            <a:avLst>
              <a:gd name="adj" fmla="val 18182"/>
            </a:avLst>
          </a:prstGeom>
          <a:solidFill>
            <a:srgbClr val="111827"/>
          </a:solidFill>
          <a:ln w="15240">
            <a:solidFill>
              <a:srgbClr val="06B6D4"/>
            </a:solidFill>
            <a:prstDash val="solid"/>
          </a:ln>
        </p:spPr>
      </p:sp>
      <p:sp>
        <p:nvSpPr>
          <p:cNvPr id="37" name="Text 35"/>
          <p:cNvSpPr/>
          <p:nvPr/>
        </p:nvSpPr>
        <p:spPr>
          <a:xfrm>
            <a:off x="4818888" y="2496312"/>
            <a:ext cx="1828800" cy="201168"/>
          </a:xfrm>
          <a:prstGeom prst="rect">
            <a:avLst/>
          </a:prstGeom>
          <a:noFill/>
          <a:ln/>
        </p:spPr>
        <p:txBody>
          <a:bodyPr wrap="square" lIns="0" tIns="0" rIns="0" bIns="0" rtlCol="0" anchor="ctr"/>
          <a:lstStyle/>
          <a:p>
            <a:pPr algn="ctr" indent="0" marL="0">
              <a:buNone/>
            </a:pPr>
            <a:r>
              <a:rPr lang="en-US" sz="800" b="1" dirty="0">
                <a:solidFill>
                  <a:srgbClr val="06B6D4"/>
                </a:solidFill>
              </a:rPr>
              <a:t>📋 KEY PATENT CLAIMS</a:t>
            </a:r>
            <a:endParaRPr lang="en-US" sz="800" dirty="0"/>
          </a:p>
        </p:txBody>
      </p:sp>
      <p:sp>
        <p:nvSpPr>
          <p:cNvPr id="38" name="Text 36"/>
          <p:cNvSpPr/>
          <p:nvPr/>
        </p:nvSpPr>
        <p:spPr>
          <a:xfrm>
            <a:off x="4818888" y="2715768"/>
            <a:ext cx="3931920" cy="1051560"/>
          </a:xfrm>
          <a:prstGeom prst="rect">
            <a:avLst/>
          </a:prstGeom>
          <a:noFill/>
          <a:ln/>
        </p:spPr>
        <p:txBody>
          <a:bodyPr wrap="square" lIns="25400" tIns="50800" rIns="0" bIns="0" rtlCol="0" anchor="ctr"/>
          <a:lstStyle/>
          <a:p>
            <a:pPr>
              <a:lnSpc>
                <a:spcPct val="130000"/>
              </a:lnSpc>
            </a:pPr>
            <a:r>
              <a:rPr lang="en-US" sz="850" dirty="0">
                <a:solidFill>
                  <a:srgbClr val="F8FAFC"/>
                </a:solidFill>
              </a:rPr>
              <a:t>Multi-agent orchestration system with per-agent Internal State Modules computing emotional state vectors from execution history</a:t>
            </a:r>
            <a:endParaRPr lang="en-US" sz="850" dirty="0"/>
          </a:p>
          <a:p>
            <a:pPr>
              <a:lnSpc>
                <a:spcPct val="130000"/>
              </a:lnSpc>
            </a:pPr>
            <a:r>
              <a:rPr lang="en-US" sz="850" dirty="0">
                <a:solidFill>
                  <a:srgbClr val="F8FAFC"/>
                </a:solidFill>
              </a:rPr>
              <a:t>Homeostatic set-point governor that maintains target surprise-success ratio across agent population, triggering meta-reflection on deviation</a:t>
            </a:r>
            <a:endParaRPr lang="en-US" sz="850" dirty="0"/>
          </a:p>
          <a:p>
            <a:pPr>
              <a:lnSpc>
                <a:spcPct val="130000"/>
              </a:lnSpc>
            </a:pPr>
            <a:r>
              <a:rPr lang="en-US" sz="850" dirty="0">
                <a:solidFill>
                  <a:srgbClr val="F8FAFC"/>
                </a:solidFill>
              </a:rPr>
              <a:t>ISM-modulated optimizer — learning rate, exploration rate, and delegation threshold all vary based on aggregate ISM signals</a:t>
            </a:r>
            <a:endParaRPr lang="en-US" sz="850" dirty="0"/>
          </a:p>
          <a:p>
            <a:pPr>
              <a:lnSpc>
                <a:spcPct val="130000"/>
              </a:lnSpc>
            </a:pPr>
            <a:r>
              <a:rPr lang="en-US" sz="850" dirty="0">
                <a:solidFill>
                  <a:srgbClr val="F8FAFC"/>
                </a:solidFill>
              </a:rPr>
              <a:t>Lyapunov-stable cross-agent homeostatic control law guaranteeing bounded oscillation of ISM states</a:t>
            </a:r>
            <a:endParaRPr lang="en-US" sz="850" dirty="0"/>
          </a:p>
        </p:txBody>
      </p:sp>
      <p:sp>
        <p:nvSpPr>
          <p:cNvPr id="39" name="Shape 37"/>
          <p:cNvSpPr/>
          <p:nvPr/>
        </p:nvSpPr>
        <p:spPr>
          <a:xfrm>
            <a:off x="4709160" y="3913632"/>
            <a:ext cx="4160520" cy="1152144"/>
          </a:xfrm>
          <a:prstGeom prst="roundRect">
            <a:avLst>
              <a:gd name="adj" fmla="val 5556"/>
            </a:avLst>
          </a:prstGeom>
          <a:solidFill>
            <a:srgbClr val="0D1117"/>
          </a:solidFill>
          <a:ln w="12700">
            <a:solidFill>
              <a:srgbClr val="06B6D4"/>
            </a:solidFill>
            <a:prstDash val="solid"/>
          </a:ln>
        </p:spPr>
      </p:sp>
      <p:sp>
        <p:nvSpPr>
          <p:cNvPr id="40" name="Shape 38"/>
          <p:cNvSpPr/>
          <p:nvPr/>
        </p:nvSpPr>
        <p:spPr>
          <a:xfrm>
            <a:off x="4818888" y="3977640"/>
            <a:ext cx="2651760" cy="201168"/>
          </a:xfrm>
          <a:prstGeom prst="roundRect">
            <a:avLst>
              <a:gd name="adj" fmla="val 18182"/>
            </a:avLst>
          </a:prstGeom>
          <a:solidFill>
            <a:srgbClr val="111827"/>
          </a:solidFill>
          <a:ln w="15240">
            <a:solidFill>
              <a:srgbClr val="06B6D4"/>
            </a:solidFill>
            <a:prstDash val="solid"/>
          </a:ln>
        </p:spPr>
      </p:sp>
      <p:sp>
        <p:nvSpPr>
          <p:cNvPr id="41" name="Text 39"/>
          <p:cNvSpPr/>
          <p:nvPr/>
        </p:nvSpPr>
        <p:spPr>
          <a:xfrm>
            <a:off x="4818888" y="3986784"/>
            <a:ext cx="2651760" cy="201168"/>
          </a:xfrm>
          <a:prstGeom prst="rect">
            <a:avLst/>
          </a:prstGeom>
          <a:noFill/>
          <a:ln/>
        </p:spPr>
        <p:txBody>
          <a:bodyPr wrap="square" lIns="0" tIns="0" rIns="0" bIns="0" rtlCol="0" anchor="ctr"/>
          <a:lstStyle/>
          <a:p>
            <a:pPr algn="ctr" indent="0" marL="0">
              <a:buNone/>
            </a:pPr>
            <a:r>
              <a:rPr lang="en-US" sz="800" b="1" dirty="0">
                <a:solidFill>
                  <a:srgbClr val="06B6D4"/>
                </a:solidFill>
              </a:rPr>
              <a:t>🔍 DIFFERENTIATION FROM PRIOR ART</a:t>
            </a:r>
            <a:endParaRPr lang="en-US" sz="800" dirty="0"/>
          </a:p>
        </p:txBody>
      </p:sp>
      <p:sp>
        <p:nvSpPr>
          <p:cNvPr id="42" name="Text 40"/>
          <p:cNvSpPr/>
          <p:nvPr/>
        </p:nvSpPr>
        <p:spPr>
          <a:xfrm>
            <a:off x="4818888" y="4206240"/>
            <a:ext cx="3931920" cy="804672"/>
          </a:xfrm>
          <a:prstGeom prst="rect">
            <a:avLst/>
          </a:prstGeom>
          <a:noFill/>
          <a:ln/>
        </p:spPr>
        <p:txBody>
          <a:bodyPr wrap="square" lIns="25400" tIns="50800" rIns="0" bIns="0" rtlCol="0" anchor="ctr"/>
          <a:lstStyle/>
          <a:p>
            <a:pPr>
              <a:lnSpc>
                <a:spcPct val="130000"/>
              </a:lnSpc>
            </a:pPr>
            <a:r>
              <a:rPr lang="en-US" sz="850" dirty="0">
                <a:solidFill>
                  <a:srgbClr val="F8FAFC"/>
                </a:solidFill>
              </a:rPr>
              <a:t>EILS (arxiv:2512.22200): single-agent RL only; no multi-agent ISM coordination</a:t>
            </a:r>
            <a:endParaRPr lang="en-US" sz="850" dirty="0"/>
          </a:p>
          <a:p>
            <a:pPr>
              <a:lnSpc>
                <a:spcPct val="130000"/>
              </a:lnSpc>
            </a:pPr>
            <a:r>
              <a:rPr lang="en-US" sz="850" dirty="0">
                <a:solidFill>
                  <a:srgbClr val="F8FAFC"/>
                </a:solidFill>
              </a:rPr>
              <a:t>PAIR-Agent (arxiv:2511.07202): active inference for resilience, not per-agent emotional state modulation</a:t>
            </a:r>
            <a:endParaRPr lang="en-US" sz="850" dirty="0"/>
          </a:p>
          <a:p>
            <a:pPr>
              <a:lnSpc>
                <a:spcPct val="130000"/>
              </a:lnSpc>
            </a:pPr>
            <a:r>
              <a:rPr lang="en-US" sz="850" dirty="0">
                <a:solidFill>
                  <a:srgbClr val="F8FAFC"/>
                </a:solidFill>
              </a:rPr>
              <a:t>No patent applies homeostatic emotion-inspired signals to multi-agent orchestrator optimization</a:t>
            </a:r>
            <a:endParaRPr lang="en-US" sz="850" dirty="0"/>
          </a:p>
        </p:txBody>
      </p:sp>
      <p:sp>
        <p:nvSpPr>
          <p:cNvPr id="43" name="Text 41"/>
          <p:cNvSpPr/>
          <p:nvPr/>
        </p:nvSpPr>
        <p:spPr>
          <a:xfrm>
            <a:off x="8503920" y="4983480"/>
            <a:ext cx="457200" cy="164592"/>
          </a:xfrm>
          <a:prstGeom prst="rect">
            <a:avLst/>
          </a:prstGeom>
          <a:noFill/>
          <a:ln/>
        </p:spPr>
        <p:txBody>
          <a:bodyPr wrap="square" lIns="0" tIns="0" rIns="0" bIns="0" rtlCol="0" anchor="ctr"/>
          <a:lstStyle/>
          <a:p>
            <a:pPr algn="r" indent="0" marL="0">
              <a:buNone/>
            </a:pPr>
            <a:r>
              <a:rPr lang="en-US" sz="800" dirty="0">
                <a:solidFill>
                  <a:srgbClr val="94A3B8"/>
                </a:solidFill>
              </a:rPr>
              <a:t>1 / 10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10B981"/>
          </a:solidFill>
          <a:ln w="12700">
            <a:solidFill>
              <a:srgbClr val="10B981"/>
            </a:solidFill>
            <a:prstDash val="solid"/>
          </a:ln>
        </p:spPr>
      </p:sp>
      <p:sp>
        <p:nvSpPr>
          <p:cNvPr id="3" name="Shape 1"/>
          <p:cNvSpPr/>
          <p:nvPr/>
        </p:nvSpPr>
        <p:spPr>
          <a:xfrm>
            <a:off x="274320" y="91440"/>
            <a:ext cx="1325880" cy="347472"/>
          </a:xfrm>
          <a:prstGeom prst="roundRect">
            <a:avLst>
              <a:gd name="adj" fmla="val 15789"/>
            </a:avLst>
          </a:prstGeom>
          <a:solidFill>
            <a:srgbClr val="064E3B"/>
          </a:solidFill>
          <a:ln w="12700">
            <a:solidFill>
              <a:srgbClr val="10B981"/>
            </a:solidFill>
            <a:prstDash val="solid"/>
          </a:ln>
        </p:spPr>
      </p:sp>
      <p:sp>
        <p:nvSpPr>
          <p:cNvPr id="4" name="Text 2"/>
          <p:cNvSpPr/>
          <p:nvPr/>
        </p:nvSpPr>
        <p:spPr>
          <a:xfrm>
            <a:off x="274320" y="91440"/>
            <a:ext cx="1325880" cy="347472"/>
          </a:xfrm>
          <a:prstGeom prst="rect">
            <a:avLst/>
          </a:prstGeom>
          <a:noFill/>
          <a:ln/>
        </p:spPr>
        <p:txBody>
          <a:bodyPr wrap="square" lIns="0" tIns="0" rIns="0" bIns="0" rtlCol="0" anchor="ctr"/>
          <a:lstStyle/>
          <a:p>
            <a:pPr algn="ctr" indent="0" marL="0">
              <a:buNone/>
            </a:pPr>
            <a:r>
              <a:rPr lang="en-US" sz="900" b="1" dirty="0">
                <a:solidFill>
                  <a:srgbClr val="10B981"/>
                </a:solidFill>
              </a:rPr>
              <a:t>Patent Idea #2</a:t>
            </a:r>
            <a:endParaRPr lang="en-US" sz="900" dirty="0"/>
          </a:p>
        </p:txBody>
      </p:sp>
      <p:sp>
        <p:nvSpPr>
          <p:cNvPr id="5" name="Text 3"/>
          <p:cNvSpPr/>
          <p:nvPr/>
        </p:nvSpPr>
        <p:spPr>
          <a:xfrm>
            <a:off x="1691640" y="91440"/>
            <a:ext cx="7132320" cy="274320"/>
          </a:xfrm>
          <a:prstGeom prst="rect">
            <a:avLst/>
          </a:prstGeom>
          <a:noFill/>
          <a:ln/>
        </p:spPr>
        <p:txBody>
          <a:bodyPr wrap="square" lIns="0" tIns="0" rIns="0" bIns="0" rtlCol="0" anchor="ctr"/>
          <a:lstStyle/>
          <a:p>
            <a:pPr indent="0" marL="0">
              <a:buNone/>
            </a:pPr>
            <a:r>
              <a:rPr lang="en-US" sz="1450" b="1" dirty="0">
                <a:solidFill>
                  <a:srgbClr val="FFFFFF"/>
                </a:solidFill>
              </a:rPr>
              <a:t>Stigmergic Task-Pheromone Coordination Protocol (STPCP)</a:t>
            </a:r>
            <a:endParaRPr lang="en-US" sz="1450" dirty="0"/>
          </a:p>
        </p:txBody>
      </p:sp>
      <p:sp>
        <p:nvSpPr>
          <p:cNvPr id="6" name="Text 4"/>
          <p:cNvSpPr/>
          <p:nvPr/>
        </p:nvSpPr>
        <p:spPr>
          <a:xfrm>
            <a:off x="1691640" y="384048"/>
            <a:ext cx="7132320" cy="182880"/>
          </a:xfrm>
          <a:prstGeom prst="rect">
            <a:avLst/>
          </a:prstGeom>
          <a:noFill/>
          <a:ln/>
        </p:spPr>
        <p:txBody>
          <a:bodyPr wrap="square" lIns="0" tIns="0" rIns="0" bIns="0" rtlCol="0" anchor="t"/>
          <a:lstStyle/>
          <a:p>
            <a:pPr indent="0" marL="0">
              <a:buNone/>
            </a:pPr>
            <a:r>
              <a:rPr lang="en-US" sz="900" dirty="0">
                <a:solidFill>
                  <a:srgbClr val="94A3B8"/>
                </a:solidFill>
              </a:rPr>
              <a:t>Agents deposit and evaporate task-trace signals in a shared environment to coordinate without direct communication</a:t>
            </a:r>
            <a:endParaRPr lang="en-US" sz="900" dirty="0"/>
          </a:p>
        </p:txBody>
      </p:sp>
      <p:sp>
        <p:nvSpPr>
          <p:cNvPr id="7" name="Shape 5"/>
          <p:cNvSpPr/>
          <p:nvPr/>
        </p:nvSpPr>
        <p:spPr>
          <a:xfrm>
            <a:off x="1691640" y="594360"/>
            <a:ext cx="1367942" cy="201168"/>
          </a:xfrm>
          <a:prstGeom prst="roundRect">
            <a:avLst>
              <a:gd name="adj" fmla="val 18182"/>
            </a:avLst>
          </a:prstGeom>
          <a:solidFill>
            <a:srgbClr val="064E3B"/>
          </a:solidFill>
          <a:ln w="12700">
            <a:solidFill>
              <a:srgbClr val="064E3B"/>
            </a:solidFill>
            <a:prstDash val="solid"/>
          </a:ln>
        </p:spPr>
      </p:sp>
      <p:sp>
        <p:nvSpPr>
          <p:cNvPr id="8" name="Text 6"/>
          <p:cNvSpPr/>
          <p:nvPr/>
        </p:nvSpPr>
        <p:spPr>
          <a:xfrm>
            <a:off x="1691640" y="594360"/>
            <a:ext cx="1367942" cy="201168"/>
          </a:xfrm>
          <a:prstGeom prst="rect">
            <a:avLst/>
          </a:prstGeom>
          <a:noFill/>
          <a:ln/>
        </p:spPr>
        <p:txBody>
          <a:bodyPr wrap="square" lIns="0" tIns="0" rIns="0" bIns="0" rtlCol="0" anchor="ctr"/>
          <a:lstStyle/>
          <a:p>
            <a:pPr algn="ctr" indent="0" marL="0">
              <a:buNone/>
            </a:pPr>
            <a:r>
              <a:rPr lang="en-US" sz="800" b="1" dirty="0">
                <a:solidFill>
                  <a:srgbClr val="10B981"/>
                </a:solidFill>
              </a:rPr>
              <a:t>Ant Colony Biology</a:t>
            </a:r>
            <a:endParaRPr lang="en-US" sz="800" dirty="0"/>
          </a:p>
        </p:txBody>
      </p:sp>
      <p:sp>
        <p:nvSpPr>
          <p:cNvPr id="9" name="Shape 7"/>
          <p:cNvSpPr/>
          <p:nvPr/>
        </p:nvSpPr>
        <p:spPr>
          <a:xfrm>
            <a:off x="3151022" y="594360"/>
            <a:ext cx="1367942" cy="201168"/>
          </a:xfrm>
          <a:prstGeom prst="roundRect">
            <a:avLst>
              <a:gd name="adj" fmla="val 18182"/>
            </a:avLst>
          </a:prstGeom>
          <a:solidFill>
            <a:srgbClr val="064E3B"/>
          </a:solidFill>
          <a:ln w="12700">
            <a:solidFill>
              <a:srgbClr val="064E3B"/>
            </a:solidFill>
            <a:prstDash val="solid"/>
          </a:ln>
        </p:spPr>
      </p:sp>
      <p:sp>
        <p:nvSpPr>
          <p:cNvPr id="10" name="Text 8"/>
          <p:cNvSpPr/>
          <p:nvPr/>
        </p:nvSpPr>
        <p:spPr>
          <a:xfrm>
            <a:off x="3151022" y="594360"/>
            <a:ext cx="1367942" cy="201168"/>
          </a:xfrm>
          <a:prstGeom prst="rect">
            <a:avLst/>
          </a:prstGeom>
          <a:noFill/>
          <a:ln/>
        </p:spPr>
        <p:txBody>
          <a:bodyPr wrap="square" lIns="0" tIns="0" rIns="0" bIns="0" rtlCol="0" anchor="ctr"/>
          <a:lstStyle/>
          <a:p>
            <a:pPr algn="ctr" indent="0" marL="0">
              <a:buNone/>
            </a:pPr>
            <a:r>
              <a:rPr lang="en-US" sz="800" b="1" dirty="0">
                <a:solidFill>
                  <a:srgbClr val="10B981"/>
                </a:solidFill>
              </a:rPr>
              <a:t>Swarm Intelligence</a:t>
            </a:r>
            <a:endParaRPr lang="en-US" sz="800" dirty="0"/>
          </a:p>
        </p:txBody>
      </p:sp>
      <p:sp>
        <p:nvSpPr>
          <p:cNvPr id="11" name="Shape 9"/>
          <p:cNvSpPr/>
          <p:nvPr/>
        </p:nvSpPr>
        <p:spPr>
          <a:xfrm>
            <a:off x="4610405" y="594360"/>
            <a:ext cx="1631290" cy="201168"/>
          </a:xfrm>
          <a:prstGeom prst="roundRect">
            <a:avLst>
              <a:gd name="adj" fmla="val 18182"/>
            </a:avLst>
          </a:prstGeom>
          <a:solidFill>
            <a:srgbClr val="064E3B"/>
          </a:solidFill>
          <a:ln w="12700">
            <a:solidFill>
              <a:srgbClr val="064E3B"/>
            </a:solidFill>
            <a:prstDash val="solid"/>
          </a:ln>
        </p:spPr>
      </p:sp>
      <p:sp>
        <p:nvSpPr>
          <p:cNvPr id="12" name="Text 10"/>
          <p:cNvSpPr/>
          <p:nvPr/>
        </p:nvSpPr>
        <p:spPr>
          <a:xfrm>
            <a:off x="4610405" y="594360"/>
            <a:ext cx="1631290" cy="201168"/>
          </a:xfrm>
          <a:prstGeom prst="rect">
            <a:avLst/>
          </a:prstGeom>
          <a:noFill/>
          <a:ln/>
        </p:spPr>
        <p:txBody>
          <a:bodyPr wrap="square" lIns="0" tIns="0" rIns="0" bIns="0" rtlCol="0" anchor="ctr"/>
          <a:lstStyle/>
          <a:p>
            <a:pPr algn="ctr" indent="0" marL="0">
              <a:buNone/>
            </a:pPr>
            <a:r>
              <a:rPr lang="en-US" sz="800" b="1" dirty="0">
                <a:solidFill>
                  <a:srgbClr val="10B981"/>
                </a:solidFill>
              </a:rPr>
              <a:t>Indirect Communication</a:t>
            </a:r>
            <a:endParaRPr lang="en-US" sz="800" dirty="0"/>
          </a:p>
        </p:txBody>
      </p:sp>
      <p:sp>
        <p:nvSpPr>
          <p:cNvPr id="13" name="Shape 11"/>
          <p:cNvSpPr/>
          <p:nvPr/>
        </p:nvSpPr>
        <p:spPr>
          <a:xfrm>
            <a:off x="6333134" y="594360"/>
            <a:ext cx="1565453" cy="201168"/>
          </a:xfrm>
          <a:prstGeom prst="roundRect">
            <a:avLst>
              <a:gd name="adj" fmla="val 18182"/>
            </a:avLst>
          </a:prstGeom>
          <a:solidFill>
            <a:srgbClr val="064E3B"/>
          </a:solidFill>
          <a:ln w="12700">
            <a:solidFill>
              <a:srgbClr val="064E3B"/>
            </a:solidFill>
            <a:prstDash val="solid"/>
          </a:ln>
        </p:spPr>
      </p:sp>
      <p:sp>
        <p:nvSpPr>
          <p:cNvPr id="14" name="Text 12"/>
          <p:cNvSpPr/>
          <p:nvPr/>
        </p:nvSpPr>
        <p:spPr>
          <a:xfrm>
            <a:off x="6333134" y="594360"/>
            <a:ext cx="1565453" cy="201168"/>
          </a:xfrm>
          <a:prstGeom prst="rect">
            <a:avLst/>
          </a:prstGeom>
          <a:noFill/>
          <a:ln/>
        </p:spPr>
        <p:txBody>
          <a:bodyPr wrap="square" lIns="0" tIns="0" rIns="0" bIns="0" rtlCol="0" anchor="ctr"/>
          <a:lstStyle/>
          <a:p>
            <a:pPr algn="ctr" indent="0" marL="0">
              <a:buNone/>
            </a:pPr>
            <a:r>
              <a:rPr lang="en-US" sz="800" b="1" dirty="0">
                <a:solidFill>
                  <a:srgbClr val="10B981"/>
                </a:solidFill>
              </a:rPr>
              <a:t>Emergent Coordination</a:t>
            </a:r>
            <a:endParaRPr lang="en-US" sz="800" dirty="0"/>
          </a:p>
        </p:txBody>
      </p:sp>
      <p:sp>
        <p:nvSpPr>
          <p:cNvPr id="15" name="Shape 13"/>
          <p:cNvSpPr/>
          <p:nvPr/>
        </p:nvSpPr>
        <p:spPr>
          <a:xfrm>
            <a:off x="274320" y="868680"/>
            <a:ext cx="1389888" cy="658368"/>
          </a:xfrm>
          <a:prstGeom prst="roundRect">
            <a:avLst>
              <a:gd name="adj" fmla="val 9722"/>
            </a:avLst>
          </a:prstGeom>
          <a:solidFill>
            <a:srgbClr val="064E3B"/>
          </a:solidFill>
          <a:ln w="19050">
            <a:solidFill>
              <a:srgbClr val="34D399"/>
            </a:solidFill>
            <a:prstDash val="solid"/>
          </a:ln>
        </p:spPr>
      </p:sp>
      <p:sp>
        <p:nvSpPr>
          <p:cNvPr id="16" name="Text 14"/>
          <p:cNvSpPr/>
          <p:nvPr/>
        </p:nvSpPr>
        <p:spPr>
          <a:xfrm>
            <a:off x="27432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ACCEPTANCE</a:t>
            </a:r>
            <a:endParaRPr lang="en-US" sz="750" dirty="0"/>
          </a:p>
        </p:txBody>
      </p:sp>
      <p:sp>
        <p:nvSpPr>
          <p:cNvPr id="17" name="Text 15"/>
          <p:cNvSpPr/>
          <p:nvPr/>
        </p:nvSpPr>
        <p:spPr>
          <a:xfrm>
            <a:off x="27432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74%</a:t>
            </a:r>
            <a:endParaRPr lang="en-US" sz="2000" dirty="0"/>
          </a:p>
        </p:txBody>
      </p:sp>
      <p:sp>
        <p:nvSpPr>
          <p:cNvPr id="18" name="Shape 16"/>
          <p:cNvSpPr/>
          <p:nvPr/>
        </p:nvSpPr>
        <p:spPr>
          <a:xfrm>
            <a:off x="1828800" y="868680"/>
            <a:ext cx="1389888" cy="658368"/>
          </a:xfrm>
          <a:prstGeom prst="roundRect">
            <a:avLst>
              <a:gd name="adj" fmla="val 9722"/>
            </a:avLst>
          </a:prstGeom>
          <a:solidFill>
            <a:srgbClr val="064E3B"/>
          </a:solidFill>
          <a:ln w="19050">
            <a:solidFill>
              <a:srgbClr val="34D399"/>
            </a:solidFill>
            <a:prstDash val="solid"/>
          </a:ln>
        </p:spPr>
      </p:sp>
      <p:sp>
        <p:nvSpPr>
          <p:cNvPr id="19" name="Text 17"/>
          <p:cNvSpPr/>
          <p:nvPr/>
        </p:nvSpPr>
        <p:spPr>
          <a:xfrm>
            <a:off x="182880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OVERLAP</a:t>
            </a:r>
            <a:endParaRPr lang="en-US" sz="750" dirty="0"/>
          </a:p>
        </p:txBody>
      </p:sp>
      <p:sp>
        <p:nvSpPr>
          <p:cNvPr id="20" name="Text 18"/>
          <p:cNvSpPr/>
          <p:nvPr/>
        </p:nvSpPr>
        <p:spPr>
          <a:xfrm>
            <a:off x="182880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16%</a:t>
            </a:r>
            <a:endParaRPr lang="en-US" sz="2000" dirty="0"/>
          </a:p>
        </p:txBody>
      </p:sp>
      <p:sp>
        <p:nvSpPr>
          <p:cNvPr id="21" name="Shape 19"/>
          <p:cNvSpPr/>
          <p:nvPr/>
        </p:nvSpPr>
        <p:spPr>
          <a:xfrm>
            <a:off x="3383280" y="868680"/>
            <a:ext cx="1389888" cy="658368"/>
          </a:xfrm>
          <a:prstGeom prst="roundRect">
            <a:avLst>
              <a:gd name="adj" fmla="val 9722"/>
            </a:avLst>
          </a:prstGeom>
          <a:solidFill>
            <a:srgbClr val="2D1B69"/>
          </a:solidFill>
          <a:ln w="19050">
            <a:solidFill>
              <a:srgbClr val="A78BFA"/>
            </a:solidFill>
            <a:prstDash val="solid"/>
          </a:ln>
        </p:spPr>
      </p:sp>
      <p:sp>
        <p:nvSpPr>
          <p:cNvPr id="22" name="Text 20"/>
          <p:cNvSpPr/>
          <p:nvPr/>
        </p:nvSpPr>
        <p:spPr>
          <a:xfrm>
            <a:off x="3383280" y="905256"/>
            <a:ext cx="1389888" cy="219456"/>
          </a:xfrm>
          <a:prstGeom prst="rect">
            <a:avLst/>
          </a:prstGeom>
          <a:noFill/>
          <a:ln/>
        </p:spPr>
        <p:txBody>
          <a:bodyPr wrap="square" lIns="0" tIns="0" rIns="0" bIns="0" rtlCol="0" anchor="ctr"/>
          <a:lstStyle/>
          <a:p>
            <a:pPr algn="ctr" indent="0" marL="0">
              <a:buNone/>
            </a:pPr>
            <a:r>
              <a:rPr lang="en-US" sz="750" b="1" dirty="0">
                <a:solidFill>
                  <a:srgbClr val="A78BFA"/>
                </a:solidFill>
              </a:rPr>
              <a:t>EST. NOVELTY</a:t>
            </a:r>
            <a:endParaRPr lang="en-US" sz="750" dirty="0"/>
          </a:p>
        </p:txBody>
      </p:sp>
      <p:sp>
        <p:nvSpPr>
          <p:cNvPr id="23" name="Text 21"/>
          <p:cNvSpPr/>
          <p:nvPr/>
        </p:nvSpPr>
        <p:spPr>
          <a:xfrm>
            <a:off x="3383280" y="1124712"/>
            <a:ext cx="1389888" cy="347472"/>
          </a:xfrm>
          <a:prstGeom prst="rect">
            <a:avLst/>
          </a:prstGeom>
          <a:noFill/>
          <a:ln/>
        </p:spPr>
        <p:txBody>
          <a:bodyPr wrap="square" lIns="0" tIns="0" rIns="0" bIns="0" rtlCol="0" anchor="ctr"/>
          <a:lstStyle/>
          <a:p>
            <a:pPr algn="ctr" indent="0" marL="0">
              <a:buNone/>
            </a:pPr>
            <a:r>
              <a:rPr lang="en-US" sz="2000" b="1" dirty="0">
                <a:solidFill>
                  <a:srgbClr val="A78BFA"/>
                </a:solidFill>
              </a:rPr>
              <a:t>84%</a:t>
            </a:r>
            <a:endParaRPr lang="en-US" sz="2000" dirty="0"/>
          </a:p>
        </p:txBody>
      </p:sp>
      <p:sp>
        <p:nvSpPr>
          <p:cNvPr id="24" name="Shape 22"/>
          <p:cNvSpPr/>
          <p:nvPr/>
        </p:nvSpPr>
        <p:spPr>
          <a:xfrm>
            <a:off x="274320" y="1627632"/>
            <a:ext cx="8595360" cy="685800"/>
          </a:xfrm>
          <a:prstGeom prst="roundRect">
            <a:avLst>
              <a:gd name="adj" fmla="val 9333"/>
            </a:avLst>
          </a:prstGeom>
          <a:solidFill>
            <a:srgbClr val="064E3B"/>
          </a:solidFill>
          <a:ln w="12700">
            <a:solidFill>
              <a:srgbClr val="10B981"/>
            </a:solidFill>
            <a:prstDash val="solid"/>
          </a:ln>
        </p:spPr>
      </p:sp>
      <p:sp>
        <p:nvSpPr>
          <p:cNvPr id="25" name="Text 23"/>
          <p:cNvSpPr/>
          <p:nvPr/>
        </p:nvSpPr>
        <p:spPr>
          <a:xfrm>
            <a:off x="402336" y="1682496"/>
            <a:ext cx="2011680" cy="201168"/>
          </a:xfrm>
          <a:prstGeom prst="rect">
            <a:avLst/>
          </a:prstGeom>
          <a:noFill/>
          <a:ln/>
        </p:spPr>
        <p:txBody>
          <a:bodyPr wrap="square" lIns="0" tIns="0" rIns="0" bIns="0" rtlCol="0" anchor="ctr"/>
          <a:lstStyle/>
          <a:p>
            <a:pPr indent="0" marL="0">
              <a:buNone/>
            </a:pPr>
            <a:r>
              <a:rPr lang="en-US" sz="850" b="1" dirty="0">
                <a:solidFill>
                  <a:srgbClr val="10B981"/>
                </a:solidFill>
              </a:rPr>
              <a:t>💡 Cross-Domain Insight</a:t>
            </a:r>
            <a:endParaRPr lang="en-US" sz="850" dirty="0"/>
          </a:p>
        </p:txBody>
      </p:sp>
      <p:sp>
        <p:nvSpPr>
          <p:cNvPr id="26" name="Text 24"/>
          <p:cNvSpPr/>
          <p:nvPr/>
        </p:nvSpPr>
        <p:spPr>
          <a:xfrm>
            <a:off x="402336" y="1865376"/>
            <a:ext cx="8321040" cy="402336"/>
          </a:xfrm>
          <a:prstGeom prst="rect">
            <a:avLst/>
          </a:prstGeom>
          <a:noFill/>
          <a:ln/>
        </p:spPr>
        <p:txBody>
          <a:bodyPr wrap="square" lIns="0" tIns="0" rIns="0" bIns="0" rtlCol="0" anchor="ctr"/>
          <a:lstStyle/>
          <a:p>
            <a:pPr indent="0" marL="0">
              <a:lnSpc>
                <a:spcPct val="125000"/>
              </a:lnSpc>
              <a:buNone/>
            </a:pPr>
            <a:r>
              <a:rPr lang="en-US" sz="900" dirty="0">
                <a:solidFill>
                  <a:srgbClr val="F8FAFC"/>
                </a:solidFill>
              </a:rPr>
              <a:t>Ants achieve sophisticated coordination through stigmergy — modifying the environment rather than communicating directly. Digital pheromones in ACO systems demonstrate scalability without centralized control. No LLM multi-agent system uses a stigmergic shared environment layer for coordination at scale.</a:t>
            </a:r>
            <a:endParaRPr lang="en-US" sz="900" dirty="0"/>
          </a:p>
        </p:txBody>
      </p:sp>
      <p:sp>
        <p:nvSpPr>
          <p:cNvPr id="27" name="Shape 25"/>
          <p:cNvSpPr/>
          <p:nvPr/>
        </p:nvSpPr>
        <p:spPr>
          <a:xfrm>
            <a:off x="274320" y="2423160"/>
            <a:ext cx="4160520" cy="1188720"/>
          </a:xfrm>
          <a:prstGeom prst="roundRect">
            <a:avLst>
              <a:gd name="adj" fmla="val 5385"/>
            </a:avLst>
          </a:prstGeom>
          <a:solidFill>
            <a:srgbClr val="1A2235"/>
          </a:solidFill>
          <a:ln w="6350">
            <a:solidFill>
              <a:srgbClr val="2D3748"/>
            </a:solidFill>
            <a:prstDash val="solid"/>
          </a:ln>
        </p:spPr>
      </p:sp>
      <p:sp>
        <p:nvSpPr>
          <p:cNvPr id="28" name="Shape 26"/>
          <p:cNvSpPr/>
          <p:nvPr/>
        </p:nvSpPr>
        <p:spPr>
          <a:xfrm>
            <a:off x="384048" y="2487168"/>
            <a:ext cx="1737360" cy="201168"/>
          </a:xfrm>
          <a:prstGeom prst="roundRect">
            <a:avLst>
              <a:gd name="adj" fmla="val 18182"/>
            </a:avLst>
          </a:prstGeom>
          <a:solidFill>
            <a:srgbClr val="111827"/>
          </a:solidFill>
          <a:ln w="15240">
            <a:solidFill>
              <a:srgbClr val="10B981"/>
            </a:solidFill>
            <a:prstDash val="solid"/>
          </a:ln>
        </p:spPr>
      </p:sp>
      <p:sp>
        <p:nvSpPr>
          <p:cNvPr id="29" name="Text 27"/>
          <p:cNvSpPr/>
          <p:nvPr/>
        </p:nvSpPr>
        <p:spPr>
          <a:xfrm>
            <a:off x="384048" y="2496312"/>
            <a:ext cx="1737360" cy="201168"/>
          </a:xfrm>
          <a:prstGeom prst="rect">
            <a:avLst/>
          </a:prstGeom>
          <a:noFill/>
          <a:ln/>
        </p:spPr>
        <p:txBody>
          <a:bodyPr wrap="square" lIns="0" tIns="0" rIns="0" bIns="0" rtlCol="0" anchor="ctr"/>
          <a:lstStyle/>
          <a:p>
            <a:pPr algn="ctr" indent="0" marL="0">
              <a:buNone/>
            </a:pPr>
            <a:r>
              <a:rPr lang="en-US" sz="800" b="1" dirty="0">
                <a:solidFill>
                  <a:srgbClr val="10B981"/>
                </a:solidFill>
              </a:rPr>
              <a:t>⚡ PROBLEM SOLVED</a:t>
            </a:r>
            <a:endParaRPr lang="en-US" sz="800" dirty="0"/>
          </a:p>
        </p:txBody>
      </p:sp>
      <p:sp>
        <p:nvSpPr>
          <p:cNvPr id="30" name="Text 28"/>
          <p:cNvSpPr/>
          <p:nvPr/>
        </p:nvSpPr>
        <p:spPr>
          <a:xfrm>
            <a:off x="384048" y="2715768"/>
            <a:ext cx="3931920" cy="822960"/>
          </a:xfrm>
          <a:prstGeom prst="rect">
            <a:avLst/>
          </a:prstGeom>
          <a:noFill/>
          <a:ln/>
        </p:spPr>
        <p:txBody>
          <a:bodyPr wrap="square" lIns="0" tIns="0" rIns="0" bIns="0" rtlCol="0" anchor="ctr"/>
          <a:lstStyle/>
          <a:p>
            <a:pPr indent="0" marL="0">
              <a:lnSpc>
                <a:spcPct val="130000"/>
              </a:lnSpc>
              <a:buNone/>
            </a:pPr>
            <a:r>
              <a:rPr lang="en-US" sz="900" dirty="0">
                <a:solidFill>
                  <a:srgbClr val="94A3B8"/>
                </a:solidFill>
              </a:rPr>
              <a:t>Current multi-agent LLM coordination requires direct message passing between agents — this creates O(n²) communication overhead, single-point failures, and consensus bottlenecks. As agent count scales, explicit coordination becomes the bottleneck.</a:t>
            </a:r>
            <a:endParaRPr lang="en-US" sz="900" dirty="0"/>
          </a:p>
        </p:txBody>
      </p:sp>
      <p:sp>
        <p:nvSpPr>
          <p:cNvPr id="31" name="Shape 29"/>
          <p:cNvSpPr/>
          <p:nvPr/>
        </p:nvSpPr>
        <p:spPr>
          <a:xfrm>
            <a:off x="274320" y="3675888"/>
            <a:ext cx="4160520" cy="1389888"/>
          </a:xfrm>
          <a:prstGeom prst="roundRect">
            <a:avLst>
              <a:gd name="adj" fmla="val 4605"/>
            </a:avLst>
          </a:prstGeom>
          <a:solidFill>
            <a:srgbClr val="1A2235"/>
          </a:solidFill>
          <a:ln w="6350">
            <a:solidFill>
              <a:srgbClr val="2D3748"/>
            </a:solidFill>
            <a:prstDash val="solid"/>
          </a:ln>
        </p:spPr>
      </p:sp>
      <p:sp>
        <p:nvSpPr>
          <p:cNvPr id="32" name="Shape 30"/>
          <p:cNvSpPr/>
          <p:nvPr/>
        </p:nvSpPr>
        <p:spPr>
          <a:xfrm>
            <a:off x="384048" y="3739896"/>
            <a:ext cx="2743200" cy="201168"/>
          </a:xfrm>
          <a:prstGeom prst="roundRect">
            <a:avLst>
              <a:gd name="adj" fmla="val 18182"/>
            </a:avLst>
          </a:prstGeom>
          <a:solidFill>
            <a:srgbClr val="111827"/>
          </a:solidFill>
          <a:ln w="15240">
            <a:solidFill>
              <a:srgbClr val="333333"/>
            </a:solidFill>
            <a:prstDash val="solid"/>
          </a:ln>
        </p:spPr>
      </p:sp>
      <p:sp>
        <p:nvSpPr>
          <p:cNvPr id="33" name="Text 31"/>
          <p:cNvSpPr/>
          <p:nvPr/>
        </p:nvSpPr>
        <p:spPr>
          <a:xfrm>
            <a:off x="384048" y="3749040"/>
            <a:ext cx="2743200" cy="201168"/>
          </a:xfrm>
          <a:prstGeom prst="rect">
            <a:avLst/>
          </a:prstGeom>
          <a:noFill/>
          <a:ln/>
        </p:spPr>
        <p:txBody>
          <a:bodyPr wrap="square" lIns="0" tIns="0" rIns="0" bIns="0" rtlCol="0" anchor="ctr"/>
          <a:lstStyle/>
          <a:p>
            <a:pPr algn="ctr" indent="0" marL="0">
              <a:buNone/>
            </a:pPr>
            <a:r>
              <a:rPr lang="en-US" sz="800" b="1" dirty="0">
                <a:solidFill>
                  <a:srgbClr val="000000"/>
                </a:solidFill>
              </a:rPr>
              <a:t>🔬 NOVEL APPROACH (NUMBERED STEPS)</a:t>
            </a:r>
            <a:endParaRPr lang="en-US" sz="800" dirty="0"/>
          </a:p>
        </p:txBody>
      </p:sp>
      <p:sp>
        <p:nvSpPr>
          <p:cNvPr id="34" name="Text 32"/>
          <p:cNvSpPr/>
          <p:nvPr/>
        </p:nvSpPr>
        <p:spPr>
          <a:xfrm>
            <a:off x="384048" y="3977640"/>
            <a:ext cx="3931920" cy="1024128"/>
          </a:xfrm>
          <a:prstGeom prst="rect">
            <a:avLst/>
          </a:prstGeom>
          <a:noFill/>
          <a:ln/>
        </p:spPr>
        <p:txBody>
          <a:bodyPr wrap="square" lIns="25400" tIns="50800" rIns="0" bIns="0" rtlCol="0" anchor="ctr"/>
          <a:lstStyle/>
          <a:p>
            <a:pPr marL="342900" indent="-342900">
              <a:lnSpc>
                <a:spcPct val="130000"/>
              </a:lnSpc>
              <a:buSzPct val="100000"/>
              <a:buFont typeface="+mj-lt"/>
              <a:buAutoNum type="arabicPeriod" startAt="1"/>
            </a:pPr>
            <a:r>
              <a:rPr lang="en-US" sz="850" dirty="0">
                <a:solidFill>
                  <a:srgbClr val="F8FAFC"/>
                </a:solidFill>
              </a:rPr>
              <a:t>Shared stigmergic substrate: a key-value store where agents deposit task-pheromones (trails of partial work, confidence scores, failure flags)</a:t>
            </a:r>
            <a:endParaRPr lang="en-US" sz="850" dirty="0"/>
          </a:p>
          <a:p>
            <a:pPr marL="342900" indent="-342900">
              <a:lnSpc>
                <a:spcPct val="130000"/>
              </a:lnSpc>
              <a:buSzPct val="100000"/>
              <a:buFont typeface="+mj-lt"/>
              <a:buAutoNum type="arabicPeriod" startAt="1"/>
            </a:pPr>
            <a:r>
              <a:rPr lang="en-US" sz="850" dirty="0">
                <a:solidFill>
                  <a:srgbClr val="F8FAFC"/>
                </a:solidFill>
              </a:rPr>
              <a:t>Pheromone evaporation: task-pheromone strength decays exponentially over time; popular/successful paths are reinforced by agent traversal</a:t>
            </a:r>
            <a:endParaRPr lang="en-US" sz="850" dirty="0"/>
          </a:p>
          <a:p>
            <a:pPr marL="342900" indent="-342900">
              <a:lnSpc>
                <a:spcPct val="130000"/>
              </a:lnSpc>
              <a:buSzPct val="100000"/>
              <a:buFont typeface="+mj-lt"/>
              <a:buAutoNum type="arabicPeriod" startAt="1"/>
            </a:pPr>
            <a:r>
              <a:rPr lang="en-US" sz="850" dirty="0">
                <a:solidFill>
                  <a:srgbClr val="F8FAFC"/>
                </a:solidFill>
              </a:rPr>
              <a:t>Agent behavior rules: agents sense local pheromone gradients and probabilistically choose high-pheromone (proven) vs low-pheromone (exploratory) task paths</a:t>
            </a:r>
            <a:endParaRPr lang="en-US" sz="850" dirty="0"/>
          </a:p>
          <a:p>
            <a:pPr marL="342900" indent="-342900">
              <a:lnSpc>
                <a:spcPct val="130000"/>
              </a:lnSpc>
              <a:buSzPct val="100000"/>
              <a:buFont typeface="+mj-lt"/>
              <a:buAutoNum type="arabicPeriod" startAt="1"/>
            </a:pPr>
            <a:r>
              <a:rPr lang="en-US" sz="850" dirty="0">
                <a:solidFill>
                  <a:srgbClr val="F8FAFC"/>
                </a:solidFill>
              </a:rPr>
              <a:t>Failure pheromones: failed tool calls or constraint violations deposit inhibitory pheromones that repel subsequent agents from the same path</a:t>
            </a:r>
            <a:endParaRPr lang="en-US" sz="850" dirty="0"/>
          </a:p>
        </p:txBody>
      </p:sp>
      <p:sp>
        <p:nvSpPr>
          <p:cNvPr id="35" name="Shape 33"/>
          <p:cNvSpPr/>
          <p:nvPr/>
        </p:nvSpPr>
        <p:spPr>
          <a:xfrm>
            <a:off x="4709160" y="2423160"/>
            <a:ext cx="4160520" cy="1417320"/>
          </a:xfrm>
          <a:prstGeom prst="roundRect">
            <a:avLst>
              <a:gd name="adj" fmla="val 4516"/>
            </a:avLst>
          </a:prstGeom>
          <a:solidFill>
            <a:srgbClr val="1A2235"/>
          </a:solidFill>
          <a:ln w="6350">
            <a:solidFill>
              <a:srgbClr val="2D3748"/>
            </a:solidFill>
            <a:prstDash val="solid"/>
          </a:ln>
        </p:spPr>
      </p:sp>
      <p:sp>
        <p:nvSpPr>
          <p:cNvPr id="36" name="Shape 34"/>
          <p:cNvSpPr/>
          <p:nvPr/>
        </p:nvSpPr>
        <p:spPr>
          <a:xfrm>
            <a:off x="4818888" y="2487168"/>
            <a:ext cx="1828800" cy="201168"/>
          </a:xfrm>
          <a:prstGeom prst="roundRect">
            <a:avLst>
              <a:gd name="adj" fmla="val 18182"/>
            </a:avLst>
          </a:prstGeom>
          <a:solidFill>
            <a:srgbClr val="111827"/>
          </a:solidFill>
          <a:ln w="15240">
            <a:solidFill>
              <a:srgbClr val="10B981"/>
            </a:solidFill>
            <a:prstDash val="solid"/>
          </a:ln>
        </p:spPr>
      </p:sp>
      <p:sp>
        <p:nvSpPr>
          <p:cNvPr id="37" name="Text 35"/>
          <p:cNvSpPr/>
          <p:nvPr/>
        </p:nvSpPr>
        <p:spPr>
          <a:xfrm>
            <a:off x="4818888" y="2496312"/>
            <a:ext cx="1828800" cy="201168"/>
          </a:xfrm>
          <a:prstGeom prst="rect">
            <a:avLst/>
          </a:prstGeom>
          <a:noFill/>
          <a:ln/>
        </p:spPr>
        <p:txBody>
          <a:bodyPr wrap="square" lIns="0" tIns="0" rIns="0" bIns="0" rtlCol="0" anchor="ctr"/>
          <a:lstStyle/>
          <a:p>
            <a:pPr algn="ctr" indent="0" marL="0">
              <a:buNone/>
            </a:pPr>
            <a:r>
              <a:rPr lang="en-US" sz="800" b="1" dirty="0">
                <a:solidFill>
                  <a:srgbClr val="10B981"/>
                </a:solidFill>
              </a:rPr>
              <a:t>📋 KEY PATENT CLAIMS</a:t>
            </a:r>
            <a:endParaRPr lang="en-US" sz="800" dirty="0"/>
          </a:p>
        </p:txBody>
      </p:sp>
      <p:sp>
        <p:nvSpPr>
          <p:cNvPr id="38" name="Text 36"/>
          <p:cNvSpPr/>
          <p:nvPr/>
        </p:nvSpPr>
        <p:spPr>
          <a:xfrm>
            <a:off x="4818888" y="2715768"/>
            <a:ext cx="3931920" cy="1051560"/>
          </a:xfrm>
          <a:prstGeom prst="rect">
            <a:avLst/>
          </a:prstGeom>
          <a:noFill/>
          <a:ln/>
        </p:spPr>
        <p:txBody>
          <a:bodyPr wrap="square" lIns="25400" tIns="50800" rIns="0" bIns="0" rtlCol="0" anchor="ctr"/>
          <a:lstStyle/>
          <a:p>
            <a:pPr>
              <a:lnSpc>
                <a:spcPct val="130000"/>
              </a:lnSpc>
            </a:pPr>
            <a:r>
              <a:rPr lang="en-US" sz="850" dirty="0">
                <a:solidFill>
                  <a:srgbClr val="F8FAFC"/>
                </a:solidFill>
              </a:rPr>
              <a:t>Shared stigmergic substrate for LLM multi-agent systems with task-pheromone deposit, reinforcement, and time-decay evaporation</a:t>
            </a:r>
            <a:endParaRPr lang="en-US" sz="850" dirty="0"/>
          </a:p>
          <a:p>
            <a:pPr>
              <a:lnSpc>
                <a:spcPct val="130000"/>
              </a:lnSpc>
            </a:pPr>
            <a:r>
              <a:rPr lang="en-US" sz="850" dirty="0">
                <a:solidFill>
                  <a:srgbClr val="F8FAFC"/>
                </a:solidFill>
              </a:rPr>
              <a:t>Failure pheromone protocol: agents deposit inhibitory markers on failed execution paths that decay over configurable windows</a:t>
            </a:r>
            <a:endParaRPr lang="en-US" sz="850" dirty="0"/>
          </a:p>
          <a:p>
            <a:pPr>
              <a:lnSpc>
                <a:spcPct val="130000"/>
              </a:lnSpc>
            </a:pPr>
            <a:r>
              <a:rPr lang="en-US" sz="850" dirty="0">
                <a:solidFill>
                  <a:srgbClr val="F8FAFC"/>
                </a:solidFill>
              </a:rPr>
              <a:t>Probabilistic task-path selection algorithm based on pheromone gradient sensing without direct inter-agent communication</a:t>
            </a:r>
            <a:endParaRPr lang="en-US" sz="850" dirty="0"/>
          </a:p>
          <a:p>
            <a:pPr>
              <a:lnSpc>
                <a:spcPct val="130000"/>
              </a:lnSpc>
            </a:pPr>
            <a:r>
              <a:rPr lang="en-US" sz="850" dirty="0">
                <a:solidFill>
                  <a:srgbClr val="F8FAFC"/>
                </a:solidFill>
              </a:rPr>
              <a:t>Emergent global coordination from local pheromone rules — no orchestrator required for task distribution</a:t>
            </a:r>
            <a:endParaRPr lang="en-US" sz="850" dirty="0"/>
          </a:p>
        </p:txBody>
      </p:sp>
      <p:sp>
        <p:nvSpPr>
          <p:cNvPr id="39" name="Shape 37"/>
          <p:cNvSpPr/>
          <p:nvPr/>
        </p:nvSpPr>
        <p:spPr>
          <a:xfrm>
            <a:off x="4709160" y="3913632"/>
            <a:ext cx="4160520" cy="1152144"/>
          </a:xfrm>
          <a:prstGeom prst="roundRect">
            <a:avLst>
              <a:gd name="adj" fmla="val 5556"/>
            </a:avLst>
          </a:prstGeom>
          <a:solidFill>
            <a:srgbClr val="0D1117"/>
          </a:solidFill>
          <a:ln w="12700">
            <a:solidFill>
              <a:srgbClr val="10B981"/>
            </a:solidFill>
            <a:prstDash val="solid"/>
          </a:ln>
        </p:spPr>
      </p:sp>
      <p:sp>
        <p:nvSpPr>
          <p:cNvPr id="40" name="Shape 38"/>
          <p:cNvSpPr/>
          <p:nvPr/>
        </p:nvSpPr>
        <p:spPr>
          <a:xfrm>
            <a:off x="4818888" y="3977640"/>
            <a:ext cx="2651760" cy="201168"/>
          </a:xfrm>
          <a:prstGeom prst="roundRect">
            <a:avLst>
              <a:gd name="adj" fmla="val 18182"/>
            </a:avLst>
          </a:prstGeom>
          <a:solidFill>
            <a:srgbClr val="111827"/>
          </a:solidFill>
          <a:ln w="15240">
            <a:solidFill>
              <a:srgbClr val="10B981"/>
            </a:solidFill>
            <a:prstDash val="solid"/>
          </a:ln>
        </p:spPr>
      </p:sp>
      <p:sp>
        <p:nvSpPr>
          <p:cNvPr id="41" name="Text 39"/>
          <p:cNvSpPr/>
          <p:nvPr/>
        </p:nvSpPr>
        <p:spPr>
          <a:xfrm>
            <a:off x="4818888" y="3986784"/>
            <a:ext cx="2651760" cy="201168"/>
          </a:xfrm>
          <a:prstGeom prst="rect">
            <a:avLst/>
          </a:prstGeom>
          <a:noFill/>
          <a:ln/>
        </p:spPr>
        <p:txBody>
          <a:bodyPr wrap="square" lIns="0" tIns="0" rIns="0" bIns="0" rtlCol="0" anchor="ctr"/>
          <a:lstStyle/>
          <a:p>
            <a:pPr algn="ctr" indent="0" marL="0">
              <a:buNone/>
            </a:pPr>
            <a:r>
              <a:rPr lang="en-US" sz="800" b="1" dirty="0">
                <a:solidFill>
                  <a:srgbClr val="10B981"/>
                </a:solidFill>
              </a:rPr>
              <a:t>🔍 DIFFERENTIATION FROM PRIOR ART</a:t>
            </a:r>
            <a:endParaRPr lang="en-US" sz="800" dirty="0"/>
          </a:p>
        </p:txBody>
      </p:sp>
      <p:sp>
        <p:nvSpPr>
          <p:cNvPr id="42" name="Text 40"/>
          <p:cNvSpPr/>
          <p:nvPr/>
        </p:nvSpPr>
        <p:spPr>
          <a:xfrm>
            <a:off x="4818888" y="4206240"/>
            <a:ext cx="3931920" cy="804672"/>
          </a:xfrm>
          <a:prstGeom prst="rect">
            <a:avLst/>
          </a:prstGeom>
          <a:noFill/>
          <a:ln/>
        </p:spPr>
        <p:txBody>
          <a:bodyPr wrap="square" lIns="25400" tIns="50800" rIns="0" bIns="0" rtlCol="0" anchor="ctr"/>
          <a:lstStyle/>
          <a:p>
            <a:pPr>
              <a:lnSpc>
                <a:spcPct val="130000"/>
              </a:lnSpc>
            </a:pPr>
            <a:r>
              <a:rPr lang="en-US" sz="850" dirty="0">
                <a:solidFill>
                  <a:srgbClr val="F8FAFC"/>
                </a:solidFill>
              </a:rPr>
              <a:t>ACO algorithms: combinatorial optimisation only; no LLM agent execution layer or failure pheromone concept</a:t>
            </a:r>
            <a:endParaRPr lang="en-US" sz="850" dirty="0"/>
          </a:p>
          <a:p>
            <a:pPr>
              <a:lnSpc>
                <a:spcPct val="130000"/>
              </a:lnSpc>
            </a:pPr>
            <a:r>
              <a:rPr lang="en-US" sz="850" dirty="0">
                <a:solidFill>
                  <a:srgbClr val="F8FAFC"/>
                </a:solidFill>
              </a:rPr>
              <a:t>HIVE framework: natural language coordination for agent swarms but uses centralized planner, not stigmergy</a:t>
            </a:r>
            <a:endParaRPr lang="en-US" sz="850" dirty="0"/>
          </a:p>
          <a:p>
            <a:pPr>
              <a:lnSpc>
                <a:spcPct val="130000"/>
              </a:lnSpc>
            </a:pPr>
            <a:r>
              <a:rPr lang="en-US" sz="850" dirty="0">
                <a:solidFill>
                  <a:srgbClr val="F8FAFC"/>
                </a:solidFill>
              </a:rPr>
              <a:t>PolySwarm (arxiv:2604.03888): prediction market trading, not execution-layer task coordination via pheromones</a:t>
            </a:r>
            <a:endParaRPr lang="en-US" sz="850" dirty="0"/>
          </a:p>
          <a:p>
            <a:pPr>
              <a:lnSpc>
                <a:spcPct val="130000"/>
              </a:lnSpc>
            </a:pPr>
            <a:r>
              <a:rPr lang="en-US" sz="850" dirty="0">
                <a:solidFill>
                  <a:srgbClr val="F8FAFC"/>
                </a:solidFill>
              </a:rPr>
              <a:t>No patent implements stigmergic pheromone substrate for LLM tool-execution coordination</a:t>
            </a:r>
            <a:endParaRPr lang="en-US" sz="850" dirty="0"/>
          </a:p>
        </p:txBody>
      </p:sp>
      <p:sp>
        <p:nvSpPr>
          <p:cNvPr id="43" name="Text 41"/>
          <p:cNvSpPr/>
          <p:nvPr/>
        </p:nvSpPr>
        <p:spPr>
          <a:xfrm>
            <a:off x="8503920" y="4983480"/>
            <a:ext cx="457200" cy="164592"/>
          </a:xfrm>
          <a:prstGeom prst="rect">
            <a:avLst/>
          </a:prstGeom>
          <a:noFill/>
          <a:ln/>
        </p:spPr>
        <p:txBody>
          <a:bodyPr wrap="square" lIns="0" tIns="0" rIns="0" bIns="0" rtlCol="0" anchor="ctr"/>
          <a:lstStyle/>
          <a:p>
            <a:pPr algn="r" indent="0" marL="0">
              <a:buNone/>
            </a:pPr>
            <a:r>
              <a:rPr lang="en-US" sz="800" dirty="0">
                <a:solidFill>
                  <a:srgbClr val="94A3B8"/>
                </a:solidFill>
              </a:rPr>
              <a:t>2 / 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F59E0B"/>
          </a:solidFill>
          <a:ln w="12700">
            <a:solidFill>
              <a:srgbClr val="F59E0B"/>
            </a:solidFill>
            <a:prstDash val="solid"/>
          </a:ln>
        </p:spPr>
      </p:sp>
      <p:sp>
        <p:nvSpPr>
          <p:cNvPr id="3" name="Shape 1"/>
          <p:cNvSpPr/>
          <p:nvPr/>
        </p:nvSpPr>
        <p:spPr>
          <a:xfrm>
            <a:off x="274320" y="91440"/>
            <a:ext cx="1325880" cy="347472"/>
          </a:xfrm>
          <a:prstGeom prst="roundRect">
            <a:avLst>
              <a:gd name="adj" fmla="val 15789"/>
            </a:avLst>
          </a:prstGeom>
          <a:solidFill>
            <a:srgbClr val="78350F"/>
          </a:solidFill>
          <a:ln w="12700">
            <a:solidFill>
              <a:srgbClr val="F59E0B"/>
            </a:solidFill>
            <a:prstDash val="solid"/>
          </a:ln>
        </p:spPr>
      </p:sp>
      <p:sp>
        <p:nvSpPr>
          <p:cNvPr id="4" name="Text 2"/>
          <p:cNvSpPr/>
          <p:nvPr/>
        </p:nvSpPr>
        <p:spPr>
          <a:xfrm>
            <a:off x="274320" y="91440"/>
            <a:ext cx="1325880" cy="347472"/>
          </a:xfrm>
          <a:prstGeom prst="rect">
            <a:avLst/>
          </a:prstGeom>
          <a:noFill/>
          <a:ln/>
        </p:spPr>
        <p:txBody>
          <a:bodyPr wrap="square" lIns="0" tIns="0" rIns="0" bIns="0" rtlCol="0" anchor="ctr"/>
          <a:lstStyle/>
          <a:p>
            <a:pPr algn="ctr" indent="0" marL="0">
              <a:buNone/>
            </a:pPr>
            <a:r>
              <a:rPr lang="en-US" sz="900" b="1" dirty="0">
                <a:solidFill>
                  <a:srgbClr val="F59E0B"/>
                </a:solidFill>
              </a:rPr>
              <a:t>Patent Idea #3</a:t>
            </a:r>
            <a:endParaRPr lang="en-US" sz="900" dirty="0"/>
          </a:p>
        </p:txBody>
      </p:sp>
      <p:sp>
        <p:nvSpPr>
          <p:cNvPr id="5" name="Text 3"/>
          <p:cNvSpPr/>
          <p:nvPr/>
        </p:nvSpPr>
        <p:spPr>
          <a:xfrm>
            <a:off x="1691640" y="91440"/>
            <a:ext cx="7132320" cy="274320"/>
          </a:xfrm>
          <a:prstGeom prst="rect">
            <a:avLst/>
          </a:prstGeom>
          <a:noFill/>
          <a:ln/>
        </p:spPr>
        <p:txBody>
          <a:bodyPr wrap="square" lIns="0" tIns="0" rIns="0" bIns="0" rtlCol="0" anchor="ctr"/>
          <a:lstStyle/>
          <a:p>
            <a:pPr indent="0" marL="0">
              <a:buNone/>
            </a:pPr>
            <a:r>
              <a:rPr lang="en-US" sz="1450" b="1" dirty="0">
                <a:solidFill>
                  <a:srgbClr val="FFFFFF"/>
                </a:solidFill>
              </a:rPr>
              <a:t>Morphogenetic Role Differentiation Engine (MRDE)</a:t>
            </a:r>
            <a:endParaRPr lang="en-US" sz="1450" dirty="0"/>
          </a:p>
        </p:txBody>
      </p:sp>
      <p:sp>
        <p:nvSpPr>
          <p:cNvPr id="6" name="Text 4"/>
          <p:cNvSpPr/>
          <p:nvPr/>
        </p:nvSpPr>
        <p:spPr>
          <a:xfrm>
            <a:off x="1691640" y="384048"/>
            <a:ext cx="7132320" cy="182880"/>
          </a:xfrm>
          <a:prstGeom prst="rect">
            <a:avLst/>
          </a:prstGeom>
          <a:noFill/>
          <a:ln/>
        </p:spPr>
        <p:txBody>
          <a:bodyPr wrap="square" lIns="0" tIns="0" rIns="0" bIns="0" rtlCol="0" anchor="t"/>
          <a:lstStyle/>
          <a:p>
            <a:pPr indent="0" marL="0">
              <a:buNone/>
            </a:pPr>
            <a:r>
              <a:rPr lang="en-US" sz="900" dirty="0">
                <a:solidFill>
                  <a:srgbClr val="94A3B8"/>
                </a:solidFill>
              </a:rPr>
              <a:t>Turing reaction-diffusion dynamics spontaneously differentiate undifferentiated agents into specialized roles</a:t>
            </a:r>
            <a:endParaRPr lang="en-US" sz="900" dirty="0"/>
          </a:p>
        </p:txBody>
      </p:sp>
      <p:sp>
        <p:nvSpPr>
          <p:cNvPr id="7" name="Shape 5"/>
          <p:cNvSpPr/>
          <p:nvPr/>
        </p:nvSpPr>
        <p:spPr>
          <a:xfrm>
            <a:off x="1691640" y="594360"/>
            <a:ext cx="1565453" cy="201168"/>
          </a:xfrm>
          <a:prstGeom prst="roundRect">
            <a:avLst>
              <a:gd name="adj" fmla="val 18182"/>
            </a:avLst>
          </a:prstGeom>
          <a:solidFill>
            <a:srgbClr val="78350F"/>
          </a:solidFill>
          <a:ln w="12700">
            <a:solidFill>
              <a:srgbClr val="78350F"/>
            </a:solidFill>
            <a:prstDash val="solid"/>
          </a:ln>
        </p:spPr>
      </p:sp>
      <p:sp>
        <p:nvSpPr>
          <p:cNvPr id="8" name="Text 6"/>
          <p:cNvSpPr/>
          <p:nvPr/>
        </p:nvSpPr>
        <p:spPr>
          <a:xfrm>
            <a:off x="1691640" y="594360"/>
            <a:ext cx="1565453" cy="201168"/>
          </a:xfrm>
          <a:prstGeom prst="rect">
            <a:avLst/>
          </a:prstGeom>
          <a:noFill/>
          <a:ln/>
        </p:spPr>
        <p:txBody>
          <a:bodyPr wrap="square" lIns="0" tIns="0" rIns="0" bIns="0" rtlCol="0" anchor="ctr"/>
          <a:lstStyle/>
          <a:p>
            <a:pPr algn="ctr" indent="0" marL="0">
              <a:buNone/>
            </a:pPr>
            <a:r>
              <a:rPr lang="en-US" sz="800" b="1" dirty="0">
                <a:solidFill>
                  <a:srgbClr val="F59E0B"/>
                </a:solidFill>
              </a:rPr>
              <a:t>Developmental Biology</a:t>
            </a:r>
            <a:endParaRPr lang="en-US" sz="800" dirty="0"/>
          </a:p>
        </p:txBody>
      </p:sp>
      <p:sp>
        <p:nvSpPr>
          <p:cNvPr id="9" name="Shape 7"/>
          <p:cNvSpPr/>
          <p:nvPr/>
        </p:nvSpPr>
        <p:spPr>
          <a:xfrm>
            <a:off x="3348533" y="594360"/>
            <a:ext cx="1170432" cy="201168"/>
          </a:xfrm>
          <a:prstGeom prst="roundRect">
            <a:avLst>
              <a:gd name="adj" fmla="val 18182"/>
            </a:avLst>
          </a:prstGeom>
          <a:solidFill>
            <a:srgbClr val="78350F"/>
          </a:solidFill>
          <a:ln w="12700">
            <a:solidFill>
              <a:srgbClr val="78350F"/>
            </a:solidFill>
            <a:prstDash val="solid"/>
          </a:ln>
        </p:spPr>
      </p:sp>
      <p:sp>
        <p:nvSpPr>
          <p:cNvPr id="10" name="Text 8"/>
          <p:cNvSpPr/>
          <p:nvPr/>
        </p:nvSpPr>
        <p:spPr>
          <a:xfrm>
            <a:off x="3348533" y="594360"/>
            <a:ext cx="1170432" cy="201168"/>
          </a:xfrm>
          <a:prstGeom prst="rect">
            <a:avLst/>
          </a:prstGeom>
          <a:noFill/>
          <a:ln/>
        </p:spPr>
        <p:txBody>
          <a:bodyPr wrap="square" lIns="0" tIns="0" rIns="0" bIns="0" rtlCol="0" anchor="ctr"/>
          <a:lstStyle/>
          <a:p>
            <a:pPr algn="ctr" indent="0" marL="0">
              <a:buNone/>
            </a:pPr>
            <a:r>
              <a:rPr lang="en-US" sz="800" b="1" dirty="0">
                <a:solidFill>
                  <a:srgbClr val="F59E0B"/>
                </a:solidFill>
              </a:rPr>
              <a:t>Turing Patterns</a:t>
            </a:r>
            <a:endParaRPr lang="en-US" sz="800" dirty="0"/>
          </a:p>
        </p:txBody>
      </p:sp>
      <p:sp>
        <p:nvSpPr>
          <p:cNvPr id="11" name="Shape 9"/>
          <p:cNvSpPr/>
          <p:nvPr/>
        </p:nvSpPr>
        <p:spPr>
          <a:xfrm>
            <a:off x="4610405" y="594360"/>
            <a:ext cx="1367942" cy="201168"/>
          </a:xfrm>
          <a:prstGeom prst="roundRect">
            <a:avLst>
              <a:gd name="adj" fmla="val 18182"/>
            </a:avLst>
          </a:prstGeom>
          <a:solidFill>
            <a:srgbClr val="78350F"/>
          </a:solidFill>
          <a:ln w="12700">
            <a:solidFill>
              <a:srgbClr val="78350F"/>
            </a:solidFill>
            <a:prstDash val="solid"/>
          </a:ln>
        </p:spPr>
      </p:sp>
      <p:sp>
        <p:nvSpPr>
          <p:cNvPr id="12" name="Text 10"/>
          <p:cNvSpPr/>
          <p:nvPr/>
        </p:nvSpPr>
        <p:spPr>
          <a:xfrm>
            <a:off x="4610405" y="594360"/>
            <a:ext cx="1367942" cy="201168"/>
          </a:xfrm>
          <a:prstGeom prst="rect">
            <a:avLst/>
          </a:prstGeom>
          <a:noFill/>
          <a:ln/>
        </p:spPr>
        <p:txBody>
          <a:bodyPr wrap="square" lIns="0" tIns="0" rIns="0" bIns="0" rtlCol="0" anchor="ctr"/>
          <a:lstStyle/>
          <a:p>
            <a:pPr algn="ctr" indent="0" marL="0">
              <a:buNone/>
            </a:pPr>
            <a:r>
              <a:rPr lang="en-US" sz="800" b="1" dirty="0">
                <a:solidFill>
                  <a:srgbClr val="F59E0B"/>
                </a:solidFill>
              </a:rPr>
              <a:t>Reaction-Diffusion</a:t>
            </a:r>
            <a:endParaRPr lang="en-US" sz="800" dirty="0"/>
          </a:p>
        </p:txBody>
      </p:sp>
      <p:sp>
        <p:nvSpPr>
          <p:cNvPr id="13" name="Shape 11"/>
          <p:cNvSpPr/>
          <p:nvPr/>
        </p:nvSpPr>
        <p:spPr>
          <a:xfrm>
            <a:off x="6069787" y="594360"/>
            <a:ext cx="1302106" cy="201168"/>
          </a:xfrm>
          <a:prstGeom prst="roundRect">
            <a:avLst>
              <a:gd name="adj" fmla="val 18182"/>
            </a:avLst>
          </a:prstGeom>
          <a:solidFill>
            <a:srgbClr val="78350F"/>
          </a:solidFill>
          <a:ln w="12700">
            <a:solidFill>
              <a:srgbClr val="78350F"/>
            </a:solidFill>
            <a:prstDash val="solid"/>
          </a:ln>
        </p:spPr>
      </p:sp>
      <p:sp>
        <p:nvSpPr>
          <p:cNvPr id="14" name="Text 12"/>
          <p:cNvSpPr/>
          <p:nvPr/>
        </p:nvSpPr>
        <p:spPr>
          <a:xfrm>
            <a:off x="6069787" y="594360"/>
            <a:ext cx="1302106" cy="201168"/>
          </a:xfrm>
          <a:prstGeom prst="rect">
            <a:avLst/>
          </a:prstGeom>
          <a:noFill/>
          <a:ln/>
        </p:spPr>
        <p:txBody>
          <a:bodyPr wrap="square" lIns="0" tIns="0" rIns="0" bIns="0" rtlCol="0" anchor="ctr"/>
          <a:lstStyle/>
          <a:p>
            <a:pPr algn="ctr" indent="0" marL="0">
              <a:buNone/>
            </a:pPr>
            <a:r>
              <a:rPr lang="en-US" sz="800" b="1" dirty="0">
                <a:solidFill>
                  <a:srgbClr val="F59E0B"/>
                </a:solidFill>
              </a:rPr>
              <a:t>Self-Organization</a:t>
            </a:r>
            <a:endParaRPr lang="en-US" sz="800" dirty="0"/>
          </a:p>
        </p:txBody>
      </p:sp>
      <p:sp>
        <p:nvSpPr>
          <p:cNvPr id="15" name="Shape 13"/>
          <p:cNvSpPr/>
          <p:nvPr/>
        </p:nvSpPr>
        <p:spPr>
          <a:xfrm>
            <a:off x="274320" y="868680"/>
            <a:ext cx="1389888" cy="658368"/>
          </a:xfrm>
          <a:prstGeom prst="roundRect">
            <a:avLst>
              <a:gd name="adj" fmla="val 9722"/>
            </a:avLst>
          </a:prstGeom>
          <a:solidFill>
            <a:srgbClr val="064E3B"/>
          </a:solidFill>
          <a:ln w="19050">
            <a:solidFill>
              <a:srgbClr val="34D399"/>
            </a:solidFill>
            <a:prstDash val="solid"/>
          </a:ln>
        </p:spPr>
      </p:sp>
      <p:sp>
        <p:nvSpPr>
          <p:cNvPr id="16" name="Text 14"/>
          <p:cNvSpPr/>
          <p:nvPr/>
        </p:nvSpPr>
        <p:spPr>
          <a:xfrm>
            <a:off x="27432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ACCEPTANCE</a:t>
            </a:r>
            <a:endParaRPr lang="en-US" sz="750" dirty="0"/>
          </a:p>
        </p:txBody>
      </p:sp>
      <p:sp>
        <p:nvSpPr>
          <p:cNvPr id="17" name="Text 15"/>
          <p:cNvSpPr/>
          <p:nvPr/>
        </p:nvSpPr>
        <p:spPr>
          <a:xfrm>
            <a:off x="27432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82%</a:t>
            </a:r>
            <a:endParaRPr lang="en-US" sz="2000" dirty="0"/>
          </a:p>
        </p:txBody>
      </p:sp>
      <p:sp>
        <p:nvSpPr>
          <p:cNvPr id="18" name="Shape 16"/>
          <p:cNvSpPr/>
          <p:nvPr/>
        </p:nvSpPr>
        <p:spPr>
          <a:xfrm>
            <a:off x="1828800" y="868680"/>
            <a:ext cx="1389888" cy="658368"/>
          </a:xfrm>
          <a:prstGeom prst="roundRect">
            <a:avLst>
              <a:gd name="adj" fmla="val 9722"/>
            </a:avLst>
          </a:prstGeom>
          <a:solidFill>
            <a:srgbClr val="064E3B"/>
          </a:solidFill>
          <a:ln w="19050">
            <a:solidFill>
              <a:srgbClr val="34D399"/>
            </a:solidFill>
            <a:prstDash val="solid"/>
          </a:ln>
        </p:spPr>
      </p:sp>
      <p:sp>
        <p:nvSpPr>
          <p:cNvPr id="19" name="Text 17"/>
          <p:cNvSpPr/>
          <p:nvPr/>
        </p:nvSpPr>
        <p:spPr>
          <a:xfrm>
            <a:off x="182880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OVERLAP</a:t>
            </a:r>
            <a:endParaRPr lang="en-US" sz="750" dirty="0"/>
          </a:p>
        </p:txBody>
      </p:sp>
      <p:sp>
        <p:nvSpPr>
          <p:cNvPr id="20" name="Text 18"/>
          <p:cNvSpPr/>
          <p:nvPr/>
        </p:nvSpPr>
        <p:spPr>
          <a:xfrm>
            <a:off x="182880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8%</a:t>
            </a:r>
            <a:endParaRPr lang="en-US" sz="2000" dirty="0"/>
          </a:p>
        </p:txBody>
      </p:sp>
      <p:sp>
        <p:nvSpPr>
          <p:cNvPr id="21" name="Shape 19"/>
          <p:cNvSpPr/>
          <p:nvPr/>
        </p:nvSpPr>
        <p:spPr>
          <a:xfrm>
            <a:off x="3383280" y="868680"/>
            <a:ext cx="1389888" cy="658368"/>
          </a:xfrm>
          <a:prstGeom prst="roundRect">
            <a:avLst>
              <a:gd name="adj" fmla="val 9722"/>
            </a:avLst>
          </a:prstGeom>
          <a:solidFill>
            <a:srgbClr val="2D1B69"/>
          </a:solidFill>
          <a:ln w="19050">
            <a:solidFill>
              <a:srgbClr val="A78BFA"/>
            </a:solidFill>
            <a:prstDash val="solid"/>
          </a:ln>
        </p:spPr>
      </p:sp>
      <p:sp>
        <p:nvSpPr>
          <p:cNvPr id="22" name="Text 20"/>
          <p:cNvSpPr/>
          <p:nvPr/>
        </p:nvSpPr>
        <p:spPr>
          <a:xfrm>
            <a:off x="3383280" y="905256"/>
            <a:ext cx="1389888" cy="219456"/>
          </a:xfrm>
          <a:prstGeom prst="rect">
            <a:avLst/>
          </a:prstGeom>
          <a:noFill/>
          <a:ln/>
        </p:spPr>
        <p:txBody>
          <a:bodyPr wrap="square" lIns="0" tIns="0" rIns="0" bIns="0" rtlCol="0" anchor="ctr"/>
          <a:lstStyle/>
          <a:p>
            <a:pPr algn="ctr" indent="0" marL="0">
              <a:buNone/>
            </a:pPr>
            <a:r>
              <a:rPr lang="en-US" sz="750" b="1" dirty="0">
                <a:solidFill>
                  <a:srgbClr val="A78BFA"/>
                </a:solidFill>
              </a:rPr>
              <a:t>EST. NOVELTY</a:t>
            </a:r>
            <a:endParaRPr lang="en-US" sz="750" dirty="0"/>
          </a:p>
        </p:txBody>
      </p:sp>
      <p:sp>
        <p:nvSpPr>
          <p:cNvPr id="23" name="Text 21"/>
          <p:cNvSpPr/>
          <p:nvPr/>
        </p:nvSpPr>
        <p:spPr>
          <a:xfrm>
            <a:off x="3383280" y="1124712"/>
            <a:ext cx="1389888" cy="347472"/>
          </a:xfrm>
          <a:prstGeom prst="rect">
            <a:avLst/>
          </a:prstGeom>
          <a:noFill/>
          <a:ln/>
        </p:spPr>
        <p:txBody>
          <a:bodyPr wrap="square" lIns="0" tIns="0" rIns="0" bIns="0" rtlCol="0" anchor="ctr"/>
          <a:lstStyle/>
          <a:p>
            <a:pPr algn="ctr" indent="0" marL="0">
              <a:buNone/>
            </a:pPr>
            <a:r>
              <a:rPr lang="en-US" sz="2000" b="1" dirty="0">
                <a:solidFill>
                  <a:srgbClr val="A78BFA"/>
                </a:solidFill>
              </a:rPr>
              <a:t>92%</a:t>
            </a:r>
            <a:endParaRPr lang="en-US" sz="2000" dirty="0"/>
          </a:p>
        </p:txBody>
      </p:sp>
      <p:sp>
        <p:nvSpPr>
          <p:cNvPr id="24" name="Shape 22"/>
          <p:cNvSpPr/>
          <p:nvPr/>
        </p:nvSpPr>
        <p:spPr>
          <a:xfrm>
            <a:off x="274320" y="1627632"/>
            <a:ext cx="8595360" cy="685800"/>
          </a:xfrm>
          <a:prstGeom prst="roundRect">
            <a:avLst>
              <a:gd name="adj" fmla="val 9333"/>
            </a:avLst>
          </a:prstGeom>
          <a:solidFill>
            <a:srgbClr val="78350F"/>
          </a:solidFill>
          <a:ln w="12700">
            <a:solidFill>
              <a:srgbClr val="F59E0B"/>
            </a:solidFill>
            <a:prstDash val="solid"/>
          </a:ln>
        </p:spPr>
      </p:sp>
      <p:sp>
        <p:nvSpPr>
          <p:cNvPr id="25" name="Text 23"/>
          <p:cNvSpPr/>
          <p:nvPr/>
        </p:nvSpPr>
        <p:spPr>
          <a:xfrm>
            <a:off x="402336" y="1682496"/>
            <a:ext cx="2011680" cy="201168"/>
          </a:xfrm>
          <a:prstGeom prst="rect">
            <a:avLst/>
          </a:prstGeom>
          <a:noFill/>
          <a:ln/>
        </p:spPr>
        <p:txBody>
          <a:bodyPr wrap="square" lIns="0" tIns="0" rIns="0" bIns="0" rtlCol="0" anchor="ctr"/>
          <a:lstStyle/>
          <a:p>
            <a:pPr indent="0" marL="0">
              <a:buNone/>
            </a:pPr>
            <a:r>
              <a:rPr lang="en-US" sz="850" b="1" dirty="0">
                <a:solidFill>
                  <a:srgbClr val="F59E0B"/>
                </a:solidFill>
              </a:rPr>
              <a:t>💡 Cross-Domain Insight</a:t>
            </a:r>
            <a:endParaRPr lang="en-US" sz="850" dirty="0"/>
          </a:p>
        </p:txBody>
      </p:sp>
      <p:sp>
        <p:nvSpPr>
          <p:cNvPr id="26" name="Text 24"/>
          <p:cNvSpPr/>
          <p:nvPr/>
        </p:nvSpPr>
        <p:spPr>
          <a:xfrm>
            <a:off x="402336" y="1865376"/>
            <a:ext cx="8321040" cy="402336"/>
          </a:xfrm>
          <a:prstGeom prst="rect">
            <a:avLst/>
          </a:prstGeom>
          <a:noFill/>
          <a:ln/>
        </p:spPr>
        <p:txBody>
          <a:bodyPr wrap="square" lIns="0" tIns="0" rIns="0" bIns="0" rtlCol="0" anchor="ctr"/>
          <a:lstStyle/>
          <a:p>
            <a:pPr indent="0" marL="0">
              <a:lnSpc>
                <a:spcPct val="125000"/>
              </a:lnSpc>
              <a:buNone/>
            </a:pPr>
            <a:r>
              <a:rPr lang="en-US" sz="900" dirty="0">
                <a:solidFill>
                  <a:srgbClr val="F8FAFC"/>
                </a:solidFill>
              </a:rPr>
              <a:t>Alan Turing's morphogenesis theory: two diffusing chemicals (activator + inhibitor) with different diffusion rates produce stable spatial patterns from homogeneous initial conditions. Applied to agents: 'capability signals' act as activators and 'load signals' as inhibitors — stable role differentiation emerges without central assignment.</a:t>
            </a:r>
            <a:endParaRPr lang="en-US" sz="900" dirty="0"/>
          </a:p>
        </p:txBody>
      </p:sp>
      <p:sp>
        <p:nvSpPr>
          <p:cNvPr id="27" name="Shape 25"/>
          <p:cNvSpPr/>
          <p:nvPr/>
        </p:nvSpPr>
        <p:spPr>
          <a:xfrm>
            <a:off x="274320" y="2423160"/>
            <a:ext cx="4160520" cy="1188720"/>
          </a:xfrm>
          <a:prstGeom prst="roundRect">
            <a:avLst>
              <a:gd name="adj" fmla="val 5385"/>
            </a:avLst>
          </a:prstGeom>
          <a:solidFill>
            <a:srgbClr val="1A2235"/>
          </a:solidFill>
          <a:ln w="6350">
            <a:solidFill>
              <a:srgbClr val="2D3748"/>
            </a:solidFill>
            <a:prstDash val="solid"/>
          </a:ln>
        </p:spPr>
      </p:sp>
      <p:sp>
        <p:nvSpPr>
          <p:cNvPr id="28" name="Shape 26"/>
          <p:cNvSpPr/>
          <p:nvPr/>
        </p:nvSpPr>
        <p:spPr>
          <a:xfrm>
            <a:off x="384048" y="2487168"/>
            <a:ext cx="1737360" cy="201168"/>
          </a:xfrm>
          <a:prstGeom prst="roundRect">
            <a:avLst>
              <a:gd name="adj" fmla="val 18182"/>
            </a:avLst>
          </a:prstGeom>
          <a:solidFill>
            <a:srgbClr val="111827"/>
          </a:solidFill>
          <a:ln w="15240">
            <a:solidFill>
              <a:srgbClr val="F59E0B"/>
            </a:solidFill>
            <a:prstDash val="solid"/>
          </a:ln>
        </p:spPr>
      </p:sp>
      <p:sp>
        <p:nvSpPr>
          <p:cNvPr id="29" name="Text 27"/>
          <p:cNvSpPr/>
          <p:nvPr/>
        </p:nvSpPr>
        <p:spPr>
          <a:xfrm>
            <a:off x="384048" y="2496312"/>
            <a:ext cx="1737360" cy="201168"/>
          </a:xfrm>
          <a:prstGeom prst="rect">
            <a:avLst/>
          </a:prstGeom>
          <a:noFill/>
          <a:ln/>
        </p:spPr>
        <p:txBody>
          <a:bodyPr wrap="square" lIns="0" tIns="0" rIns="0" bIns="0" rtlCol="0" anchor="ctr"/>
          <a:lstStyle/>
          <a:p>
            <a:pPr algn="ctr" indent="0" marL="0">
              <a:buNone/>
            </a:pPr>
            <a:r>
              <a:rPr lang="en-US" sz="800" b="1" dirty="0">
                <a:solidFill>
                  <a:srgbClr val="F59E0B"/>
                </a:solidFill>
              </a:rPr>
              <a:t>⚡ PROBLEM SOLVED</a:t>
            </a:r>
            <a:endParaRPr lang="en-US" sz="800" dirty="0"/>
          </a:p>
        </p:txBody>
      </p:sp>
      <p:sp>
        <p:nvSpPr>
          <p:cNvPr id="30" name="Text 28"/>
          <p:cNvSpPr/>
          <p:nvPr/>
        </p:nvSpPr>
        <p:spPr>
          <a:xfrm>
            <a:off x="384048" y="2715768"/>
            <a:ext cx="3931920" cy="822960"/>
          </a:xfrm>
          <a:prstGeom prst="rect">
            <a:avLst/>
          </a:prstGeom>
          <a:noFill/>
          <a:ln/>
        </p:spPr>
        <p:txBody>
          <a:bodyPr wrap="square" lIns="0" tIns="0" rIns="0" bIns="0" rtlCol="0" anchor="ctr"/>
          <a:lstStyle/>
          <a:p>
            <a:pPr indent="0" marL="0">
              <a:lnSpc>
                <a:spcPct val="130000"/>
              </a:lnSpc>
              <a:buNone/>
            </a:pPr>
            <a:r>
              <a:rPr lang="en-US" sz="900" dirty="0">
                <a:solidFill>
                  <a:srgbClr val="94A3B8"/>
                </a:solidFill>
              </a:rPr>
              <a:t>Multi-agent systems pre-assign static roles (planner, executor, verifier). When agents fail or load shifts, the system cannot dynamically redifferentiate roles. Central role assignment is a single point of failure and requires global state knowledge.</a:t>
            </a:r>
            <a:endParaRPr lang="en-US" sz="900" dirty="0"/>
          </a:p>
        </p:txBody>
      </p:sp>
      <p:sp>
        <p:nvSpPr>
          <p:cNvPr id="31" name="Shape 29"/>
          <p:cNvSpPr/>
          <p:nvPr/>
        </p:nvSpPr>
        <p:spPr>
          <a:xfrm>
            <a:off x="274320" y="3675888"/>
            <a:ext cx="4160520" cy="1389888"/>
          </a:xfrm>
          <a:prstGeom prst="roundRect">
            <a:avLst>
              <a:gd name="adj" fmla="val 4605"/>
            </a:avLst>
          </a:prstGeom>
          <a:solidFill>
            <a:srgbClr val="1A2235"/>
          </a:solidFill>
          <a:ln w="6350">
            <a:solidFill>
              <a:srgbClr val="2D3748"/>
            </a:solidFill>
            <a:prstDash val="solid"/>
          </a:ln>
        </p:spPr>
      </p:sp>
      <p:sp>
        <p:nvSpPr>
          <p:cNvPr id="32" name="Shape 30"/>
          <p:cNvSpPr/>
          <p:nvPr/>
        </p:nvSpPr>
        <p:spPr>
          <a:xfrm>
            <a:off x="384048" y="3739896"/>
            <a:ext cx="2743200" cy="201168"/>
          </a:xfrm>
          <a:prstGeom prst="roundRect">
            <a:avLst>
              <a:gd name="adj" fmla="val 18182"/>
            </a:avLst>
          </a:prstGeom>
          <a:solidFill>
            <a:srgbClr val="111827"/>
          </a:solidFill>
          <a:ln w="15240">
            <a:solidFill>
              <a:srgbClr val="333333"/>
            </a:solidFill>
            <a:prstDash val="solid"/>
          </a:ln>
        </p:spPr>
      </p:sp>
      <p:sp>
        <p:nvSpPr>
          <p:cNvPr id="33" name="Text 31"/>
          <p:cNvSpPr/>
          <p:nvPr/>
        </p:nvSpPr>
        <p:spPr>
          <a:xfrm>
            <a:off x="384048" y="3749040"/>
            <a:ext cx="2743200" cy="201168"/>
          </a:xfrm>
          <a:prstGeom prst="rect">
            <a:avLst/>
          </a:prstGeom>
          <a:noFill/>
          <a:ln/>
        </p:spPr>
        <p:txBody>
          <a:bodyPr wrap="square" lIns="0" tIns="0" rIns="0" bIns="0" rtlCol="0" anchor="ctr"/>
          <a:lstStyle/>
          <a:p>
            <a:pPr algn="ctr" indent="0" marL="0">
              <a:buNone/>
            </a:pPr>
            <a:r>
              <a:rPr lang="en-US" sz="800" b="1" dirty="0">
                <a:solidFill>
                  <a:srgbClr val="000000"/>
                </a:solidFill>
              </a:rPr>
              <a:t>🔬 NOVEL APPROACH (NUMBERED STEPS)</a:t>
            </a:r>
            <a:endParaRPr lang="en-US" sz="800" dirty="0"/>
          </a:p>
        </p:txBody>
      </p:sp>
      <p:sp>
        <p:nvSpPr>
          <p:cNvPr id="34" name="Text 32"/>
          <p:cNvSpPr/>
          <p:nvPr/>
        </p:nvSpPr>
        <p:spPr>
          <a:xfrm>
            <a:off x="384048" y="3977640"/>
            <a:ext cx="3931920" cy="1024128"/>
          </a:xfrm>
          <a:prstGeom prst="rect">
            <a:avLst/>
          </a:prstGeom>
          <a:noFill/>
          <a:ln/>
        </p:spPr>
        <p:txBody>
          <a:bodyPr wrap="square" lIns="25400" tIns="50800" rIns="0" bIns="0" rtlCol="0" anchor="ctr"/>
          <a:lstStyle/>
          <a:p>
            <a:pPr marL="342900" indent="-342900">
              <a:lnSpc>
                <a:spcPct val="130000"/>
              </a:lnSpc>
              <a:buSzPct val="100000"/>
              <a:buFont typeface="+mj-lt"/>
              <a:buAutoNum type="arabicPeriod" startAt="1"/>
            </a:pPr>
            <a:r>
              <a:rPr lang="en-US" sz="850" dirty="0">
                <a:solidFill>
                  <a:srgbClr val="F8FAFC"/>
                </a:solidFill>
              </a:rPr>
              <a:t>Agents broadcast two signals: activator (capability score for a task type) and inhibitor (current load/saturation level) — inhibitor diffuses faster across the agent network</a:t>
            </a:r>
            <a:endParaRPr lang="en-US" sz="850" dirty="0"/>
          </a:p>
          <a:p>
            <a:pPr marL="342900" indent="-342900">
              <a:lnSpc>
                <a:spcPct val="130000"/>
              </a:lnSpc>
              <a:buSzPct val="100000"/>
              <a:buFont typeface="+mj-lt"/>
              <a:buAutoNum type="arabicPeriod" startAt="1"/>
            </a:pPr>
            <a:r>
              <a:rPr lang="en-US" sz="850" dirty="0">
                <a:solidFill>
                  <a:srgbClr val="F8FAFC"/>
                </a:solidFill>
              </a:rPr>
              <a:t>Turing instability condition: when activator self-amplifies and inhibitor diffuses faster, stable spatial role patterns emerge spontaneously</a:t>
            </a:r>
            <a:endParaRPr lang="en-US" sz="850" dirty="0"/>
          </a:p>
          <a:p>
            <a:pPr marL="342900" indent="-342900">
              <a:lnSpc>
                <a:spcPct val="130000"/>
              </a:lnSpc>
              <a:buSzPct val="100000"/>
              <a:buFont typeface="+mj-lt"/>
              <a:buAutoNum type="arabicPeriod" startAt="1"/>
            </a:pPr>
            <a:r>
              <a:rPr lang="en-US" sz="850" dirty="0">
                <a:solidFill>
                  <a:srgbClr val="F8FAFC"/>
                </a:solidFill>
              </a:rPr>
              <a:t>Redifferentiation trigger: when load changes exceed a threshold, the reaction-diffusion system runs a new cycle, producing a new stable role configuration</a:t>
            </a:r>
            <a:endParaRPr lang="en-US" sz="850" dirty="0"/>
          </a:p>
          <a:p>
            <a:pPr marL="342900" indent="-342900">
              <a:lnSpc>
                <a:spcPct val="130000"/>
              </a:lnSpc>
              <a:buSzPct val="100000"/>
              <a:buFont typeface="+mj-lt"/>
              <a:buAutoNum type="arabicPeriod" startAt="1"/>
            </a:pPr>
            <a:r>
              <a:rPr lang="en-US" sz="850" dirty="0">
                <a:solidFill>
                  <a:srgbClr val="F8FAFC"/>
                </a:solidFill>
              </a:rPr>
              <a:t>Bifurcation parameter control: a global 'task pressure' signal modulates the Turing instability threshold, enabling rapid role reformation under crisis</a:t>
            </a:r>
            <a:endParaRPr lang="en-US" sz="850" dirty="0"/>
          </a:p>
        </p:txBody>
      </p:sp>
      <p:sp>
        <p:nvSpPr>
          <p:cNvPr id="35" name="Shape 33"/>
          <p:cNvSpPr/>
          <p:nvPr/>
        </p:nvSpPr>
        <p:spPr>
          <a:xfrm>
            <a:off x="4709160" y="2423160"/>
            <a:ext cx="4160520" cy="1417320"/>
          </a:xfrm>
          <a:prstGeom prst="roundRect">
            <a:avLst>
              <a:gd name="adj" fmla="val 4516"/>
            </a:avLst>
          </a:prstGeom>
          <a:solidFill>
            <a:srgbClr val="1A2235"/>
          </a:solidFill>
          <a:ln w="6350">
            <a:solidFill>
              <a:srgbClr val="2D3748"/>
            </a:solidFill>
            <a:prstDash val="solid"/>
          </a:ln>
        </p:spPr>
      </p:sp>
      <p:sp>
        <p:nvSpPr>
          <p:cNvPr id="36" name="Shape 34"/>
          <p:cNvSpPr/>
          <p:nvPr/>
        </p:nvSpPr>
        <p:spPr>
          <a:xfrm>
            <a:off x="4818888" y="2487168"/>
            <a:ext cx="1828800" cy="201168"/>
          </a:xfrm>
          <a:prstGeom prst="roundRect">
            <a:avLst>
              <a:gd name="adj" fmla="val 18182"/>
            </a:avLst>
          </a:prstGeom>
          <a:solidFill>
            <a:srgbClr val="111827"/>
          </a:solidFill>
          <a:ln w="15240">
            <a:solidFill>
              <a:srgbClr val="F59E0B"/>
            </a:solidFill>
            <a:prstDash val="solid"/>
          </a:ln>
        </p:spPr>
      </p:sp>
      <p:sp>
        <p:nvSpPr>
          <p:cNvPr id="37" name="Text 35"/>
          <p:cNvSpPr/>
          <p:nvPr/>
        </p:nvSpPr>
        <p:spPr>
          <a:xfrm>
            <a:off x="4818888" y="2496312"/>
            <a:ext cx="1828800" cy="201168"/>
          </a:xfrm>
          <a:prstGeom prst="rect">
            <a:avLst/>
          </a:prstGeom>
          <a:noFill/>
          <a:ln/>
        </p:spPr>
        <p:txBody>
          <a:bodyPr wrap="square" lIns="0" tIns="0" rIns="0" bIns="0" rtlCol="0" anchor="ctr"/>
          <a:lstStyle/>
          <a:p>
            <a:pPr algn="ctr" indent="0" marL="0">
              <a:buNone/>
            </a:pPr>
            <a:r>
              <a:rPr lang="en-US" sz="800" b="1" dirty="0">
                <a:solidFill>
                  <a:srgbClr val="F59E0B"/>
                </a:solidFill>
              </a:rPr>
              <a:t>📋 KEY PATENT CLAIMS</a:t>
            </a:r>
            <a:endParaRPr lang="en-US" sz="800" dirty="0"/>
          </a:p>
        </p:txBody>
      </p:sp>
      <p:sp>
        <p:nvSpPr>
          <p:cNvPr id="38" name="Text 36"/>
          <p:cNvSpPr/>
          <p:nvPr/>
        </p:nvSpPr>
        <p:spPr>
          <a:xfrm>
            <a:off x="4818888" y="2715768"/>
            <a:ext cx="3931920" cy="1051560"/>
          </a:xfrm>
          <a:prstGeom prst="rect">
            <a:avLst/>
          </a:prstGeom>
          <a:noFill/>
          <a:ln/>
        </p:spPr>
        <p:txBody>
          <a:bodyPr wrap="square" lIns="25400" tIns="50800" rIns="0" bIns="0" rtlCol="0" anchor="ctr"/>
          <a:lstStyle/>
          <a:p>
            <a:pPr>
              <a:lnSpc>
                <a:spcPct val="130000"/>
              </a:lnSpc>
            </a:pPr>
            <a:r>
              <a:rPr lang="en-US" sz="850" dirty="0">
                <a:solidFill>
                  <a:srgbClr val="F8FAFC"/>
                </a:solidFill>
              </a:rPr>
              <a:t>Multi-agent role differentiation system using Turing reaction-diffusion dynamics with agent-broadcast activator and inhibitor signals</a:t>
            </a:r>
            <a:endParaRPr lang="en-US" sz="850" dirty="0"/>
          </a:p>
          <a:p>
            <a:pPr>
              <a:lnSpc>
                <a:spcPct val="130000"/>
              </a:lnSpc>
            </a:pPr>
            <a:r>
              <a:rPr lang="en-US" sz="850" dirty="0">
                <a:solidFill>
                  <a:srgbClr val="F8FAFC"/>
                </a:solidFill>
              </a:rPr>
              <a:t>Self-organising role assignment: stable specialisation patterns emerge from local signal interactions without central coordinator</a:t>
            </a:r>
            <a:endParaRPr lang="en-US" sz="850" dirty="0"/>
          </a:p>
          <a:p>
            <a:pPr>
              <a:lnSpc>
                <a:spcPct val="130000"/>
              </a:lnSpc>
            </a:pPr>
            <a:r>
              <a:rPr lang="en-US" sz="850" dirty="0">
                <a:solidFill>
                  <a:srgbClr val="F8FAFC"/>
                </a:solidFill>
              </a:rPr>
              <a:t>Redifferentiation protocol triggered by load-shift detection that re-runs reaction-diffusion from current state as initial condition</a:t>
            </a:r>
            <a:endParaRPr lang="en-US" sz="850" dirty="0"/>
          </a:p>
          <a:p>
            <a:pPr>
              <a:lnSpc>
                <a:spcPct val="130000"/>
              </a:lnSpc>
            </a:pPr>
            <a:r>
              <a:rPr lang="en-US" sz="850" dirty="0">
                <a:solidFill>
                  <a:srgbClr val="F8FAFC"/>
                </a:solidFill>
              </a:rPr>
              <a:t>Bifurcation parameter controller that adjusts Turing instability threshold based on task pressure, enabling crisis-mode role collapse and reformation</a:t>
            </a:r>
            <a:endParaRPr lang="en-US" sz="850" dirty="0"/>
          </a:p>
        </p:txBody>
      </p:sp>
      <p:sp>
        <p:nvSpPr>
          <p:cNvPr id="39" name="Shape 37"/>
          <p:cNvSpPr/>
          <p:nvPr/>
        </p:nvSpPr>
        <p:spPr>
          <a:xfrm>
            <a:off x="4709160" y="3913632"/>
            <a:ext cx="4160520" cy="1152144"/>
          </a:xfrm>
          <a:prstGeom prst="roundRect">
            <a:avLst>
              <a:gd name="adj" fmla="val 5556"/>
            </a:avLst>
          </a:prstGeom>
          <a:solidFill>
            <a:srgbClr val="0D1117"/>
          </a:solidFill>
          <a:ln w="12700">
            <a:solidFill>
              <a:srgbClr val="F59E0B"/>
            </a:solidFill>
            <a:prstDash val="solid"/>
          </a:ln>
        </p:spPr>
      </p:sp>
      <p:sp>
        <p:nvSpPr>
          <p:cNvPr id="40" name="Shape 38"/>
          <p:cNvSpPr/>
          <p:nvPr/>
        </p:nvSpPr>
        <p:spPr>
          <a:xfrm>
            <a:off x="4818888" y="3977640"/>
            <a:ext cx="2651760" cy="201168"/>
          </a:xfrm>
          <a:prstGeom prst="roundRect">
            <a:avLst>
              <a:gd name="adj" fmla="val 18182"/>
            </a:avLst>
          </a:prstGeom>
          <a:solidFill>
            <a:srgbClr val="111827"/>
          </a:solidFill>
          <a:ln w="15240">
            <a:solidFill>
              <a:srgbClr val="F59E0B"/>
            </a:solidFill>
            <a:prstDash val="solid"/>
          </a:ln>
        </p:spPr>
      </p:sp>
      <p:sp>
        <p:nvSpPr>
          <p:cNvPr id="41" name="Text 39"/>
          <p:cNvSpPr/>
          <p:nvPr/>
        </p:nvSpPr>
        <p:spPr>
          <a:xfrm>
            <a:off x="4818888" y="3986784"/>
            <a:ext cx="2651760" cy="201168"/>
          </a:xfrm>
          <a:prstGeom prst="rect">
            <a:avLst/>
          </a:prstGeom>
          <a:noFill/>
          <a:ln/>
        </p:spPr>
        <p:txBody>
          <a:bodyPr wrap="square" lIns="0" tIns="0" rIns="0" bIns="0" rtlCol="0" anchor="ctr"/>
          <a:lstStyle/>
          <a:p>
            <a:pPr algn="ctr" indent="0" marL="0">
              <a:buNone/>
            </a:pPr>
            <a:r>
              <a:rPr lang="en-US" sz="800" b="1" dirty="0">
                <a:solidFill>
                  <a:srgbClr val="F59E0B"/>
                </a:solidFill>
              </a:rPr>
              <a:t>🔍 DIFFERENTIATION FROM PRIOR ART</a:t>
            </a:r>
            <a:endParaRPr lang="en-US" sz="800" dirty="0"/>
          </a:p>
        </p:txBody>
      </p:sp>
      <p:sp>
        <p:nvSpPr>
          <p:cNvPr id="42" name="Text 40"/>
          <p:cNvSpPr/>
          <p:nvPr/>
        </p:nvSpPr>
        <p:spPr>
          <a:xfrm>
            <a:off x="4818888" y="4206240"/>
            <a:ext cx="3931920" cy="804672"/>
          </a:xfrm>
          <a:prstGeom prst="rect">
            <a:avLst/>
          </a:prstGeom>
          <a:noFill/>
          <a:ln/>
        </p:spPr>
        <p:txBody>
          <a:bodyPr wrap="square" lIns="25400" tIns="50800" rIns="0" bIns="0" rtlCol="0" anchor="ctr"/>
          <a:lstStyle/>
          <a:p>
            <a:pPr>
              <a:lnSpc>
                <a:spcPct val="130000"/>
              </a:lnSpc>
            </a:pPr>
            <a:r>
              <a:rPr lang="en-US" sz="850" dirty="0">
                <a:solidFill>
                  <a:srgbClr val="F8FAFC"/>
                </a:solidFill>
              </a:rPr>
              <a:t>Morphogenetic metasurfaces (Nature Comms 2023): reaction-diffusion for electromagnetic design, not agent role assignment</a:t>
            </a:r>
            <a:endParaRPr lang="en-US" sz="850" dirty="0"/>
          </a:p>
          <a:p>
            <a:pPr>
              <a:lnSpc>
                <a:spcPct val="130000"/>
              </a:lnSpc>
            </a:pPr>
            <a:r>
              <a:rPr lang="en-US" sz="850" dirty="0">
                <a:solidFill>
                  <a:srgbClr val="F8FAFC"/>
                </a:solidFill>
              </a:rPr>
              <a:t>MAGNNET (arxiv:2502.02311): GNN task allocation with static role types, not emergent Turing-pattern differentiation</a:t>
            </a:r>
            <a:endParaRPr lang="en-US" sz="850" dirty="0"/>
          </a:p>
          <a:p>
            <a:pPr>
              <a:lnSpc>
                <a:spcPct val="130000"/>
              </a:lnSpc>
            </a:pPr>
            <a:r>
              <a:rPr lang="en-US" sz="850" dirty="0">
                <a:solidFill>
                  <a:srgbClr val="F8FAFC"/>
                </a:solidFill>
              </a:rPr>
              <a:t>No patent or paper applies Turing morphogenesis to LLM agent role differentiation</a:t>
            </a:r>
            <a:endParaRPr lang="en-US" sz="850" dirty="0"/>
          </a:p>
        </p:txBody>
      </p:sp>
      <p:sp>
        <p:nvSpPr>
          <p:cNvPr id="43" name="Text 41"/>
          <p:cNvSpPr/>
          <p:nvPr/>
        </p:nvSpPr>
        <p:spPr>
          <a:xfrm>
            <a:off x="8503920" y="4983480"/>
            <a:ext cx="457200" cy="164592"/>
          </a:xfrm>
          <a:prstGeom prst="rect">
            <a:avLst/>
          </a:prstGeom>
          <a:noFill/>
          <a:ln/>
        </p:spPr>
        <p:txBody>
          <a:bodyPr wrap="square" lIns="0" tIns="0" rIns="0" bIns="0" rtlCol="0" anchor="ctr"/>
          <a:lstStyle/>
          <a:p>
            <a:pPr algn="r" indent="0" marL="0">
              <a:buNone/>
            </a:pPr>
            <a:r>
              <a:rPr lang="en-US" sz="800" dirty="0">
                <a:solidFill>
                  <a:srgbClr val="94A3B8"/>
                </a:solidFill>
              </a:rPr>
              <a:t>3 / 10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3B82F6"/>
          </a:solidFill>
          <a:ln w="12700">
            <a:solidFill>
              <a:srgbClr val="3B82F6"/>
            </a:solidFill>
            <a:prstDash val="solid"/>
          </a:ln>
        </p:spPr>
      </p:sp>
      <p:sp>
        <p:nvSpPr>
          <p:cNvPr id="3" name="Shape 1"/>
          <p:cNvSpPr/>
          <p:nvPr/>
        </p:nvSpPr>
        <p:spPr>
          <a:xfrm>
            <a:off x="274320" y="91440"/>
            <a:ext cx="1325880" cy="347472"/>
          </a:xfrm>
          <a:prstGeom prst="roundRect">
            <a:avLst>
              <a:gd name="adj" fmla="val 15789"/>
            </a:avLst>
          </a:prstGeom>
          <a:solidFill>
            <a:srgbClr val="1E3A5F"/>
          </a:solidFill>
          <a:ln w="12700">
            <a:solidFill>
              <a:srgbClr val="3B82F6"/>
            </a:solidFill>
            <a:prstDash val="solid"/>
          </a:ln>
        </p:spPr>
      </p:sp>
      <p:sp>
        <p:nvSpPr>
          <p:cNvPr id="4" name="Text 2"/>
          <p:cNvSpPr/>
          <p:nvPr/>
        </p:nvSpPr>
        <p:spPr>
          <a:xfrm>
            <a:off x="274320" y="91440"/>
            <a:ext cx="1325880" cy="347472"/>
          </a:xfrm>
          <a:prstGeom prst="rect">
            <a:avLst/>
          </a:prstGeom>
          <a:noFill/>
          <a:ln/>
        </p:spPr>
        <p:txBody>
          <a:bodyPr wrap="square" lIns="0" tIns="0" rIns="0" bIns="0" rtlCol="0" anchor="ctr"/>
          <a:lstStyle/>
          <a:p>
            <a:pPr algn="ctr" indent="0" marL="0">
              <a:buNone/>
            </a:pPr>
            <a:r>
              <a:rPr lang="en-US" sz="900" b="1" dirty="0">
                <a:solidFill>
                  <a:srgbClr val="3B82F6"/>
                </a:solidFill>
              </a:rPr>
              <a:t>Patent Idea #4</a:t>
            </a:r>
            <a:endParaRPr lang="en-US" sz="900" dirty="0"/>
          </a:p>
        </p:txBody>
      </p:sp>
      <p:sp>
        <p:nvSpPr>
          <p:cNvPr id="5" name="Text 3"/>
          <p:cNvSpPr/>
          <p:nvPr/>
        </p:nvSpPr>
        <p:spPr>
          <a:xfrm>
            <a:off x="1691640" y="91440"/>
            <a:ext cx="7132320" cy="274320"/>
          </a:xfrm>
          <a:prstGeom prst="rect">
            <a:avLst/>
          </a:prstGeom>
          <a:noFill/>
          <a:ln/>
        </p:spPr>
        <p:txBody>
          <a:bodyPr wrap="square" lIns="0" tIns="0" rIns="0" bIns="0" rtlCol="0" anchor="ctr"/>
          <a:lstStyle/>
          <a:p>
            <a:pPr indent="0" marL="0">
              <a:buNone/>
            </a:pPr>
            <a:r>
              <a:rPr lang="en-US" sz="1450" b="1" dirty="0">
                <a:solidFill>
                  <a:srgbClr val="FFFFFF"/>
                </a:solidFill>
              </a:rPr>
              <a:t>Topological Error Correction Shell for Agent Plans (TECS)</a:t>
            </a:r>
            <a:endParaRPr lang="en-US" sz="1450" dirty="0"/>
          </a:p>
        </p:txBody>
      </p:sp>
      <p:sp>
        <p:nvSpPr>
          <p:cNvPr id="6" name="Text 4"/>
          <p:cNvSpPr/>
          <p:nvPr/>
        </p:nvSpPr>
        <p:spPr>
          <a:xfrm>
            <a:off x="1691640" y="384048"/>
            <a:ext cx="7132320" cy="182880"/>
          </a:xfrm>
          <a:prstGeom prst="rect">
            <a:avLst/>
          </a:prstGeom>
          <a:noFill/>
          <a:ln/>
        </p:spPr>
        <p:txBody>
          <a:bodyPr wrap="square" lIns="0" tIns="0" rIns="0" bIns="0" rtlCol="0" anchor="t"/>
          <a:lstStyle/>
          <a:p>
            <a:pPr indent="0" marL="0">
              <a:buNone/>
            </a:pPr>
            <a:r>
              <a:rPr lang="en-US" sz="900" dirty="0">
                <a:solidFill>
                  <a:srgbClr val="94A3B8"/>
                </a:solidFill>
              </a:rPr>
              <a:t>Surface-code-inspired logical plan encoding tolerates local agent errors without global re-planning</a:t>
            </a:r>
            <a:endParaRPr lang="en-US" sz="900" dirty="0"/>
          </a:p>
        </p:txBody>
      </p:sp>
      <p:sp>
        <p:nvSpPr>
          <p:cNvPr id="7" name="Shape 5"/>
          <p:cNvSpPr/>
          <p:nvPr/>
        </p:nvSpPr>
        <p:spPr>
          <a:xfrm>
            <a:off x="1691640" y="594360"/>
            <a:ext cx="1302106" cy="201168"/>
          </a:xfrm>
          <a:prstGeom prst="roundRect">
            <a:avLst>
              <a:gd name="adj" fmla="val 18182"/>
            </a:avLst>
          </a:prstGeom>
          <a:solidFill>
            <a:srgbClr val="1E3A5F"/>
          </a:solidFill>
          <a:ln w="12700">
            <a:solidFill>
              <a:srgbClr val="1E3A5F"/>
            </a:solidFill>
            <a:prstDash val="solid"/>
          </a:ln>
        </p:spPr>
      </p:sp>
      <p:sp>
        <p:nvSpPr>
          <p:cNvPr id="8" name="Text 6"/>
          <p:cNvSpPr/>
          <p:nvPr/>
        </p:nvSpPr>
        <p:spPr>
          <a:xfrm>
            <a:off x="1691640" y="594360"/>
            <a:ext cx="1302106" cy="201168"/>
          </a:xfrm>
          <a:prstGeom prst="rect">
            <a:avLst/>
          </a:prstGeom>
          <a:noFill/>
          <a:ln/>
        </p:spPr>
        <p:txBody>
          <a:bodyPr wrap="square" lIns="0" tIns="0" rIns="0" bIns="0" rtlCol="0" anchor="ctr"/>
          <a:lstStyle/>
          <a:p>
            <a:pPr algn="ctr" indent="0" marL="0">
              <a:buNone/>
            </a:pPr>
            <a:r>
              <a:rPr lang="en-US" sz="800" b="1" dirty="0">
                <a:solidFill>
                  <a:srgbClr val="3B82F6"/>
                </a:solidFill>
              </a:rPr>
              <a:t>Quantum Computing</a:t>
            </a:r>
            <a:endParaRPr lang="en-US" sz="800" dirty="0"/>
          </a:p>
        </p:txBody>
      </p:sp>
      <p:sp>
        <p:nvSpPr>
          <p:cNvPr id="9" name="Shape 7"/>
          <p:cNvSpPr/>
          <p:nvPr/>
        </p:nvSpPr>
        <p:spPr>
          <a:xfrm>
            <a:off x="3085186" y="594360"/>
            <a:ext cx="1302106" cy="201168"/>
          </a:xfrm>
          <a:prstGeom prst="roundRect">
            <a:avLst>
              <a:gd name="adj" fmla="val 18182"/>
            </a:avLst>
          </a:prstGeom>
          <a:solidFill>
            <a:srgbClr val="1E3A5F"/>
          </a:solidFill>
          <a:ln w="12700">
            <a:solidFill>
              <a:srgbClr val="1E3A5F"/>
            </a:solidFill>
            <a:prstDash val="solid"/>
          </a:ln>
        </p:spPr>
      </p:sp>
      <p:sp>
        <p:nvSpPr>
          <p:cNvPr id="10" name="Text 8"/>
          <p:cNvSpPr/>
          <p:nvPr/>
        </p:nvSpPr>
        <p:spPr>
          <a:xfrm>
            <a:off x="3085186" y="594360"/>
            <a:ext cx="1302106" cy="201168"/>
          </a:xfrm>
          <a:prstGeom prst="rect">
            <a:avLst/>
          </a:prstGeom>
          <a:noFill/>
          <a:ln/>
        </p:spPr>
        <p:txBody>
          <a:bodyPr wrap="square" lIns="0" tIns="0" rIns="0" bIns="0" rtlCol="0" anchor="ctr"/>
          <a:lstStyle/>
          <a:p>
            <a:pPr algn="ctr" indent="0" marL="0">
              <a:buNone/>
            </a:pPr>
            <a:r>
              <a:rPr lang="en-US" sz="800" b="1" dirty="0">
                <a:solidFill>
                  <a:srgbClr val="3B82F6"/>
                </a:solidFill>
              </a:rPr>
              <a:t>Topological Codes</a:t>
            </a:r>
            <a:endParaRPr lang="en-US" sz="800" dirty="0"/>
          </a:p>
        </p:txBody>
      </p:sp>
      <p:sp>
        <p:nvSpPr>
          <p:cNvPr id="11" name="Shape 9"/>
          <p:cNvSpPr/>
          <p:nvPr/>
        </p:nvSpPr>
        <p:spPr>
          <a:xfrm>
            <a:off x="4478731" y="594360"/>
            <a:ext cx="1038758" cy="201168"/>
          </a:xfrm>
          <a:prstGeom prst="roundRect">
            <a:avLst>
              <a:gd name="adj" fmla="val 18182"/>
            </a:avLst>
          </a:prstGeom>
          <a:solidFill>
            <a:srgbClr val="1E3A5F"/>
          </a:solidFill>
          <a:ln w="12700">
            <a:solidFill>
              <a:srgbClr val="1E3A5F"/>
            </a:solidFill>
            <a:prstDash val="solid"/>
          </a:ln>
        </p:spPr>
      </p:sp>
      <p:sp>
        <p:nvSpPr>
          <p:cNvPr id="12" name="Text 10"/>
          <p:cNvSpPr/>
          <p:nvPr/>
        </p:nvSpPr>
        <p:spPr>
          <a:xfrm>
            <a:off x="4478731" y="594360"/>
            <a:ext cx="1038758" cy="201168"/>
          </a:xfrm>
          <a:prstGeom prst="rect">
            <a:avLst/>
          </a:prstGeom>
          <a:noFill/>
          <a:ln/>
        </p:spPr>
        <p:txBody>
          <a:bodyPr wrap="square" lIns="0" tIns="0" rIns="0" bIns="0" rtlCol="0" anchor="ctr"/>
          <a:lstStyle/>
          <a:p>
            <a:pPr algn="ctr" indent="0" marL="0">
              <a:buNone/>
            </a:pPr>
            <a:r>
              <a:rPr lang="en-US" sz="800" b="1" dirty="0">
                <a:solidFill>
                  <a:srgbClr val="3B82F6"/>
                </a:solidFill>
              </a:rPr>
              <a:t>Surface Codes</a:t>
            </a:r>
            <a:endParaRPr lang="en-US" sz="800" dirty="0"/>
          </a:p>
        </p:txBody>
      </p:sp>
      <p:sp>
        <p:nvSpPr>
          <p:cNvPr id="13" name="Shape 11"/>
          <p:cNvSpPr/>
          <p:nvPr/>
        </p:nvSpPr>
        <p:spPr>
          <a:xfrm>
            <a:off x="5608930" y="594360"/>
            <a:ext cx="1894637" cy="201168"/>
          </a:xfrm>
          <a:prstGeom prst="roundRect">
            <a:avLst>
              <a:gd name="adj" fmla="val 18182"/>
            </a:avLst>
          </a:prstGeom>
          <a:solidFill>
            <a:srgbClr val="1E3A5F"/>
          </a:solidFill>
          <a:ln w="12700">
            <a:solidFill>
              <a:srgbClr val="1E3A5F"/>
            </a:solidFill>
            <a:prstDash val="solid"/>
          </a:ln>
        </p:spPr>
      </p:sp>
      <p:sp>
        <p:nvSpPr>
          <p:cNvPr id="14" name="Text 12"/>
          <p:cNvSpPr/>
          <p:nvPr/>
        </p:nvSpPr>
        <p:spPr>
          <a:xfrm>
            <a:off x="5608930" y="594360"/>
            <a:ext cx="1894637" cy="201168"/>
          </a:xfrm>
          <a:prstGeom prst="rect">
            <a:avLst/>
          </a:prstGeom>
          <a:noFill/>
          <a:ln/>
        </p:spPr>
        <p:txBody>
          <a:bodyPr wrap="square" lIns="0" tIns="0" rIns="0" bIns="0" rtlCol="0" anchor="ctr"/>
          <a:lstStyle/>
          <a:p>
            <a:pPr algn="ctr" indent="0" marL="0">
              <a:buNone/>
            </a:pPr>
            <a:r>
              <a:rPr lang="en-US" sz="800" b="1" dirty="0">
                <a:solidFill>
                  <a:srgbClr val="3B82F6"/>
                </a:solidFill>
              </a:rPr>
              <a:t>Fault-Tolerant Computation</a:t>
            </a:r>
            <a:endParaRPr lang="en-US" sz="800" dirty="0"/>
          </a:p>
        </p:txBody>
      </p:sp>
      <p:sp>
        <p:nvSpPr>
          <p:cNvPr id="15" name="Shape 13"/>
          <p:cNvSpPr/>
          <p:nvPr/>
        </p:nvSpPr>
        <p:spPr>
          <a:xfrm>
            <a:off x="274320" y="868680"/>
            <a:ext cx="1389888" cy="658368"/>
          </a:xfrm>
          <a:prstGeom prst="roundRect">
            <a:avLst>
              <a:gd name="adj" fmla="val 9722"/>
            </a:avLst>
          </a:prstGeom>
          <a:solidFill>
            <a:srgbClr val="064E3B"/>
          </a:solidFill>
          <a:ln w="19050">
            <a:solidFill>
              <a:srgbClr val="34D399"/>
            </a:solidFill>
            <a:prstDash val="solid"/>
          </a:ln>
        </p:spPr>
      </p:sp>
      <p:sp>
        <p:nvSpPr>
          <p:cNvPr id="16" name="Text 14"/>
          <p:cNvSpPr/>
          <p:nvPr/>
        </p:nvSpPr>
        <p:spPr>
          <a:xfrm>
            <a:off x="27432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ACCEPTANCE</a:t>
            </a:r>
            <a:endParaRPr lang="en-US" sz="750" dirty="0"/>
          </a:p>
        </p:txBody>
      </p:sp>
      <p:sp>
        <p:nvSpPr>
          <p:cNvPr id="17" name="Text 15"/>
          <p:cNvSpPr/>
          <p:nvPr/>
        </p:nvSpPr>
        <p:spPr>
          <a:xfrm>
            <a:off x="27432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79%</a:t>
            </a:r>
            <a:endParaRPr lang="en-US" sz="2000" dirty="0"/>
          </a:p>
        </p:txBody>
      </p:sp>
      <p:sp>
        <p:nvSpPr>
          <p:cNvPr id="18" name="Shape 16"/>
          <p:cNvSpPr/>
          <p:nvPr/>
        </p:nvSpPr>
        <p:spPr>
          <a:xfrm>
            <a:off x="1828800" y="868680"/>
            <a:ext cx="1389888" cy="658368"/>
          </a:xfrm>
          <a:prstGeom prst="roundRect">
            <a:avLst>
              <a:gd name="adj" fmla="val 9722"/>
            </a:avLst>
          </a:prstGeom>
          <a:solidFill>
            <a:srgbClr val="064E3B"/>
          </a:solidFill>
          <a:ln w="19050">
            <a:solidFill>
              <a:srgbClr val="34D399"/>
            </a:solidFill>
            <a:prstDash val="solid"/>
          </a:ln>
        </p:spPr>
      </p:sp>
      <p:sp>
        <p:nvSpPr>
          <p:cNvPr id="19" name="Text 17"/>
          <p:cNvSpPr/>
          <p:nvPr/>
        </p:nvSpPr>
        <p:spPr>
          <a:xfrm>
            <a:off x="182880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OVERLAP</a:t>
            </a:r>
            <a:endParaRPr lang="en-US" sz="750" dirty="0"/>
          </a:p>
        </p:txBody>
      </p:sp>
      <p:sp>
        <p:nvSpPr>
          <p:cNvPr id="20" name="Text 18"/>
          <p:cNvSpPr/>
          <p:nvPr/>
        </p:nvSpPr>
        <p:spPr>
          <a:xfrm>
            <a:off x="182880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11%</a:t>
            </a:r>
            <a:endParaRPr lang="en-US" sz="2000" dirty="0"/>
          </a:p>
        </p:txBody>
      </p:sp>
      <p:sp>
        <p:nvSpPr>
          <p:cNvPr id="21" name="Shape 19"/>
          <p:cNvSpPr/>
          <p:nvPr/>
        </p:nvSpPr>
        <p:spPr>
          <a:xfrm>
            <a:off x="3383280" y="868680"/>
            <a:ext cx="1389888" cy="658368"/>
          </a:xfrm>
          <a:prstGeom prst="roundRect">
            <a:avLst>
              <a:gd name="adj" fmla="val 9722"/>
            </a:avLst>
          </a:prstGeom>
          <a:solidFill>
            <a:srgbClr val="2D1B69"/>
          </a:solidFill>
          <a:ln w="19050">
            <a:solidFill>
              <a:srgbClr val="A78BFA"/>
            </a:solidFill>
            <a:prstDash val="solid"/>
          </a:ln>
        </p:spPr>
      </p:sp>
      <p:sp>
        <p:nvSpPr>
          <p:cNvPr id="22" name="Text 20"/>
          <p:cNvSpPr/>
          <p:nvPr/>
        </p:nvSpPr>
        <p:spPr>
          <a:xfrm>
            <a:off x="3383280" y="905256"/>
            <a:ext cx="1389888" cy="219456"/>
          </a:xfrm>
          <a:prstGeom prst="rect">
            <a:avLst/>
          </a:prstGeom>
          <a:noFill/>
          <a:ln/>
        </p:spPr>
        <p:txBody>
          <a:bodyPr wrap="square" lIns="0" tIns="0" rIns="0" bIns="0" rtlCol="0" anchor="ctr"/>
          <a:lstStyle/>
          <a:p>
            <a:pPr algn="ctr" indent="0" marL="0">
              <a:buNone/>
            </a:pPr>
            <a:r>
              <a:rPr lang="en-US" sz="750" b="1" dirty="0">
                <a:solidFill>
                  <a:srgbClr val="A78BFA"/>
                </a:solidFill>
              </a:rPr>
              <a:t>EST. NOVELTY</a:t>
            </a:r>
            <a:endParaRPr lang="en-US" sz="750" dirty="0"/>
          </a:p>
        </p:txBody>
      </p:sp>
      <p:sp>
        <p:nvSpPr>
          <p:cNvPr id="23" name="Text 21"/>
          <p:cNvSpPr/>
          <p:nvPr/>
        </p:nvSpPr>
        <p:spPr>
          <a:xfrm>
            <a:off x="3383280" y="1124712"/>
            <a:ext cx="1389888" cy="347472"/>
          </a:xfrm>
          <a:prstGeom prst="rect">
            <a:avLst/>
          </a:prstGeom>
          <a:noFill/>
          <a:ln/>
        </p:spPr>
        <p:txBody>
          <a:bodyPr wrap="square" lIns="0" tIns="0" rIns="0" bIns="0" rtlCol="0" anchor="ctr"/>
          <a:lstStyle/>
          <a:p>
            <a:pPr algn="ctr" indent="0" marL="0">
              <a:buNone/>
            </a:pPr>
            <a:r>
              <a:rPr lang="en-US" sz="2000" b="1" dirty="0">
                <a:solidFill>
                  <a:srgbClr val="A78BFA"/>
                </a:solidFill>
              </a:rPr>
              <a:t>89%</a:t>
            </a:r>
            <a:endParaRPr lang="en-US" sz="2000" dirty="0"/>
          </a:p>
        </p:txBody>
      </p:sp>
      <p:sp>
        <p:nvSpPr>
          <p:cNvPr id="24" name="Shape 22"/>
          <p:cNvSpPr/>
          <p:nvPr/>
        </p:nvSpPr>
        <p:spPr>
          <a:xfrm>
            <a:off x="274320" y="1627632"/>
            <a:ext cx="8595360" cy="685800"/>
          </a:xfrm>
          <a:prstGeom prst="roundRect">
            <a:avLst>
              <a:gd name="adj" fmla="val 9333"/>
            </a:avLst>
          </a:prstGeom>
          <a:solidFill>
            <a:srgbClr val="1E3A5F"/>
          </a:solidFill>
          <a:ln w="12700">
            <a:solidFill>
              <a:srgbClr val="3B82F6"/>
            </a:solidFill>
            <a:prstDash val="solid"/>
          </a:ln>
        </p:spPr>
      </p:sp>
      <p:sp>
        <p:nvSpPr>
          <p:cNvPr id="25" name="Text 23"/>
          <p:cNvSpPr/>
          <p:nvPr/>
        </p:nvSpPr>
        <p:spPr>
          <a:xfrm>
            <a:off x="402336" y="1682496"/>
            <a:ext cx="2011680" cy="201168"/>
          </a:xfrm>
          <a:prstGeom prst="rect">
            <a:avLst/>
          </a:prstGeom>
          <a:noFill/>
          <a:ln/>
        </p:spPr>
        <p:txBody>
          <a:bodyPr wrap="square" lIns="0" tIns="0" rIns="0" bIns="0" rtlCol="0" anchor="ctr"/>
          <a:lstStyle/>
          <a:p>
            <a:pPr indent="0" marL="0">
              <a:buNone/>
            </a:pPr>
            <a:r>
              <a:rPr lang="en-US" sz="850" b="1" dirty="0">
                <a:solidFill>
                  <a:srgbClr val="3B82F6"/>
                </a:solidFill>
              </a:rPr>
              <a:t>💡 Cross-Domain Insight</a:t>
            </a:r>
            <a:endParaRPr lang="en-US" sz="850" dirty="0"/>
          </a:p>
        </p:txBody>
      </p:sp>
      <p:sp>
        <p:nvSpPr>
          <p:cNvPr id="26" name="Text 24"/>
          <p:cNvSpPr/>
          <p:nvPr/>
        </p:nvSpPr>
        <p:spPr>
          <a:xfrm>
            <a:off x="402336" y="1865376"/>
            <a:ext cx="8321040" cy="402336"/>
          </a:xfrm>
          <a:prstGeom prst="rect">
            <a:avLst/>
          </a:prstGeom>
          <a:noFill/>
          <a:ln/>
        </p:spPr>
        <p:txBody>
          <a:bodyPr wrap="square" lIns="0" tIns="0" rIns="0" bIns="0" rtlCol="0" anchor="ctr"/>
          <a:lstStyle/>
          <a:p>
            <a:pPr indent="0" marL="0">
              <a:lnSpc>
                <a:spcPct val="125000"/>
              </a:lnSpc>
              <a:buNone/>
            </a:pPr>
            <a:r>
              <a:rPr lang="en-US" sz="900" dirty="0">
                <a:solidFill>
                  <a:srgbClr val="F8FAFC"/>
                </a:solidFill>
              </a:rPr>
              <a:t>Topological quantum error correction encodes logical qubits redundantly so that local errors (single qubit flips) do not corrupt the logical state — the logical information is stored in global topological properties, not local bits. The same principle can encode a multi-agent plan: local agent failures do not corrupt the logical plan.</a:t>
            </a:r>
            <a:endParaRPr lang="en-US" sz="900" dirty="0"/>
          </a:p>
        </p:txBody>
      </p:sp>
      <p:sp>
        <p:nvSpPr>
          <p:cNvPr id="27" name="Shape 25"/>
          <p:cNvSpPr/>
          <p:nvPr/>
        </p:nvSpPr>
        <p:spPr>
          <a:xfrm>
            <a:off x="274320" y="2423160"/>
            <a:ext cx="4160520" cy="1188720"/>
          </a:xfrm>
          <a:prstGeom prst="roundRect">
            <a:avLst>
              <a:gd name="adj" fmla="val 5385"/>
            </a:avLst>
          </a:prstGeom>
          <a:solidFill>
            <a:srgbClr val="1A2235"/>
          </a:solidFill>
          <a:ln w="6350">
            <a:solidFill>
              <a:srgbClr val="2D3748"/>
            </a:solidFill>
            <a:prstDash val="solid"/>
          </a:ln>
        </p:spPr>
      </p:sp>
      <p:sp>
        <p:nvSpPr>
          <p:cNvPr id="28" name="Shape 26"/>
          <p:cNvSpPr/>
          <p:nvPr/>
        </p:nvSpPr>
        <p:spPr>
          <a:xfrm>
            <a:off x="384048" y="2487168"/>
            <a:ext cx="1737360" cy="201168"/>
          </a:xfrm>
          <a:prstGeom prst="roundRect">
            <a:avLst>
              <a:gd name="adj" fmla="val 18182"/>
            </a:avLst>
          </a:prstGeom>
          <a:solidFill>
            <a:srgbClr val="111827"/>
          </a:solidFill>
          <a:ln w="15240">
            <a:solidFill>
              <a:srgbClr val="3B82F6"/>
            </a:solidFill>
            <a:prstDash val="solid"/>
          </a:ln>
        </p:spPr>
      </p:sp>
      <p:sp>
        <p:nvSpPr>
          <p:cNvPr id="29" name="Text 27"/>
          <p:cNvSpPr/>
          <p:nvPr/>
        </p:nvSpPr>
        <p:spPr>
          <a:xfrm>
            <a:off x="384048" y="2496312"/>
            <a:ext cx="1737360" cy="201168"/>
          </a:xfrm>
          <a:prstGeom prst="rect">
            <a:avLst/>
          </a:prstGeom>
          <a:noFill/>
          <a:ln/>
        </p:spPr>
        <p:txBody>
          <a:bodyPr wrap="square" lIns="0" tIns="0" rIns="0" bIns="0" rtlCol="0" anchor="ctr"/>
          <a:lstStyle/>
          <a:p>
            <a:pPr algn="ctr" indent="0" marL="0">
              <a:buNone/>
            </a:pPr>
            <a:r>
              <a:rPr lang="en-US" sz="800" b="1" dirty="0">
                <a:solidFill>
                  <a:srgbClr val="3B82F6"/>
                </a:solidFill>
              </a:rPr>
              <a:t>⚡ PROBLEM SOLVED</a:t>
            </a:r>
            <a:endParaRPr lang="en-US" sz="800" dirty="0"/>
          </a:p>
        </p:txBody>
      </p:sp>
      <p:sp>
        <p:nvSpPr>
          <p:cNvPr id="30" name="Text 28"/>
          <p:cNvSpPr/>
          <p:nvPr/>
        </p:nvSpPr>
        <p:spPr>
          <a:xfrm>
            <a:off x="384048" y="2715768"/>
            <a:ext cx="3931920" cy="822960"/>
          </a:xfrm>
          <a:prstGeom prst="rect">
            <a:avLst/>
          </a:prstGeom>
          <a:noFill/>
          <a:ln/>
        </p:spPr>
        <p:txBody>
          <a:bodyPr wrap="square" lIns="0" tIns="0" rIns="0" bIns="0" rtlCol="0" anchor="ctr"/>
          <a:lstStyle/>
          <a:p>
            <a:pPr indent="0" marL="0">
              <a:lnSpc>
                <a:spcPct val="130000"/>
              </a:lnSpc>
              <a:buNone/>
            </a:pPr>
            <a:r>
              <a:rPr lang="en-US" sz="900" dirty="0">
                <a:solidFill>
                  <a:srgbClr val="94A3B8"/>
                </a:solidFill>
              </a:rPr>
              <a:t>A single agent failure in a multi-step plan typically requires full re-planning from scratch. Plans have no intrinsic redundancy — any step failure cascades. There is no analogue to fault tolerance at the plan representation level.</a:t>
            </a:r>
            <a:endParaRPr lang="en-US" sz="900" dirty="0"/>
          </a:p>
        </p:txBody>
      </p:sp>
      <p:sp>
        <p:nvSpPr>
          <p:cNvPr id="31" name="Shape 29"/>
          <p:cNvSpPr/>
          <p:nvPr/>
        </p:nvSpPr>
        <p:spPr>
          <a:xfrm>
            <a:off x="274320" y="3675888"/>
            <a:ext cx="4160520" cy="1389888"/>
          </a:xfrm>
          <a:prstGeom prst="roundRect">
            <a:avLst>
              <a:gd name="adj" fmla="val 4605"/>
            </a:avLst>
          </a:prstGeom>
          <a:solidFill>
            <a:srgbClr val="1A2235"/>
          </a:solidFill>
          <a:ln w="6350">
            <a:solidFill>
              <a:srgbClr val="2D3748"/>
            </a:solidFill>
            <a:prstDash val="solid"/>
          </a:ln>
        </p:spPr>
      </p:sp>
      <p:sp>
        <p:nvSpPr>
          <p:cNvPr id="32" name="Shape 30"/>
          <p:cNvSpPr/>
          <p:nvPr/>
        </p:nvSpPr>
        <p:spPr>
          <a:xfrm>
            <a:off x="384048" y="3739896"/>
            <a:ext cx="2743200" cy="201168"/>
          </a:xfrm>
          <a:prstGeom prst="roundRect">
            <a:avLst>
              <a:gd name="adj" fmla="val 18182"/>
            </a:avLst>
          </a:prstGeom>
          <a:solidFill>
            <a:srgbClr val="111827"/>
          </a:solidFill>
          <a:ln w="15240">
            <a:solidFill>
              <a:srgbClr val="333333"/>
            </a:solidFill>
            <a:prstDash val="solid"/>
          </a:ln>
        </p:spPr>
      </p:sp>
      <p:sp>
        <p:nvSpPr>
          <p:cNvPr id="33" name="Text 31"/>
          <p:cNvSpPr/>
          <p:nvPr/>
        </p:nvSpPr>
        <p:spPr>
          <a:xfrm>
            <a:off x="384048" y="3749040"/>
            <a:ext cx="2743200" cy="201168"/>
          </a:xfrm>
          <a:prstGeom prst="rect">
            <a:avLst/>
          </a:prstGeom>
          <a:noFill/>
          <a:ln/>
        </p:spPr>
        <p:txBody>
          <a:bodyPr wrap="square" lIns="0" tIns="0" rIns="0" bIns="0" rtlCol="0" anchor="ctr"/>
          <a:lstStyle/>
          <a:p>
            <a:pPr algn="ctr" indent="0" marL="0">
              <a:buNone/>
            </a:pPr>
            <a:r>
              <a:rPr lang="en-US" sz="800" b="1" dirty="0">
                <a:solidFill>
                  <a:srgbClr val="000000"/>
                </a:solidFill>
              </a:rPr>
              <a:t>🔬 NOVEL APPROACH (NUMBERED STEPS)</a:t>
            </a:r>
            <a:endParaRPr lang="en-US" sz="800" dirty="0"/>
          </a:p>
        </p:txBody>
      </p:sp>
      <p:sp>
        <p:nvSpPr>
          <p:cNvPr id="34" name="Text 32"/>
          <p:cNvSpPr/>
          <p:nvPr/>
        </p:nvSpPr>
        <p:spPr>
          <a:xfrm>
            <a:off x="384048" y="3977640"/>
            <a:ext cx="3931920" cy="1024128"/>
          </a:xfrm>
          <a:prstGeom prst="rect">
            <a:avLst/>
          </a:prstGeom>
          <a:noFill/>
          <a:ln/>
        </p:spPr>
        <p:txBody>
          <a:bodyPr wrap="square" lIns="25400" tIns="50800" rIns="0" bIns="0" rtlCol="0" anchor="ctr"/>
          <a:lstStyle/>
          <a:p>
            <a:pPr marL="342900" indent="-342900">
              <a:lnSpc>
                <a:spcPct val="130000"/>
              </a:lnSpc>
              <a:buSzPct val="100000"/>
              <a:buFont typeface="+mj-lt"/>
              <a:buAutoNum type="arabicPeriod" startAt="1"/>
            </a:pPr>
            <a:r>
              <a:rPr lang="en-US" sz="850" dirty="0">
                <a:solidFill>
                  <a:srgbClr val="F8FAFC"/>
                </a:solidFill>
              </a:rPr>
              <a:t>Plan encoding: represent the multi-agent execution plan as a stabilizer code — each agent step is a physical qubit; logical plan is encoded in the global topological property of the plan graph</a:t>
            </a:r>
            <a:endParaRPr lang="en-US" sz="850" dirty="0"/>
          </a:p>
          <a:p>
            <a:pPr marL="342900" indent="-342900">
              <a:lnSpc>
                <a:spcPct val="130000"/>
              </a:lnSpc>
              <a:buSzPct val="100000"/>
              <a:buFont typeface="+mj-lt"/>
              <a:buAutoNum type="arabicPeriod" startAt="1"/>
            </a:pPr>
            <a:r>
              <a:rPr lang="en-US" sz="850" dirty="0">
                <a:solidFill>
                  <a:srgbClr val="F8FAFC"/>
                </a:solidFill>
              </a:rPr>
              <a:t>Error syndrome measurement: a lightweight monitor agent periodically checks stabilizer parities; a mismatch localises the failing agent without revealing which logical task was affected</a:t>
            </a:r>
            <a:endParaRPr lang="en-US" sz="850" dirty="0"/>
          </a:p>
          <a:p>
            <a:pPr marL="342900" indent="-342900">
              <a:lnSpc>
                <a:spcPct val="130000"/>
              </a:lnSpc>
              <a:buSzPct val="100000"/>
              <a:buFont typeface="+mj-lt"/>
              <a:buAutoNum type="arabicPeriod" startAt="1"/>
            </a:pPr>
            <a:r>
              <a:rPr lang="en-US" sz="850" dirty="0">
                <a:solidFill>
                  <a:srgbClr val="F8FAFC"/>
                </a:solidFill>
              </a:rPr>
              <a:t>Error correction: local correction (reassign step to backup agent) without altering the logical plan — exactly analogous to surface code error correction</a:t>
            </a:r>
            <a:endParaRPr lang="en-US" sz="850" dirty="0"/>
          </a:p>
          <a:p>
            <a:pPr marL="342900" indent="-342900">
              <a:lnSpc>
                <a:spcPct val="130000"/>
              </a:lnSpc>
              <a:buSzPct val="100000"/>
              <a:buFont typeface="+mj-lt"/>
              <a:buAutoNum type="arabicPeriod" startAt="1"/>
            </a:pPr>
            <a:r>
              <a:rPr lang="en-US" sz="850" dirty="0">
                <a:solidFill>
                  <a:srgbClr val="F8FAFC"/>
                </a:solidFill>
              </a:rPr>
              <a:t>Threshold theorem for agents: derive the maximum agent failure rate below which the logical plan succeeds with arbitrarily high probability (agent-fault threshold)</a:t>
            </a:r>
            <a:endParaRPr lang="en-US" sz="850" dirty="0"/>
          </a:p>
        </p:txBody>
      </p:sp>
      <p:sp>
        <p:nvSpPr>
          <p:cNvPr id="35" name="Shape 33"/>
          <p:cNvSpPr/>
          <p:nvPr/>
        </p:nvSpPr>
        <p:spPr>
          <a:xfrm>
            <a:off x="4709160" y="2423160"/>
            <a:ext cx="4160520" cy="1417320"/>
          </a:xfrm>
          <a:prstGeom prst="roundRect">
            <a:avLst>
              <a:gd name="adj" fmla="val 4516"/>
            </a:avLst>
          </a:prstGeom>
          <a:solidFill>
            <a:srgbClr val="1A2235"/>
          </a:solidFill>
          <a:ln w="6350">
            <a:solidFill>
              <a:srgbClr val="2D3748"/>
            </a:solidFill>
            <a:prstDash val="solid"/>
          </a:ln>
        </p:spPr>
      </p:sp>
      <p:sp>
        <p:nvSpPr>
          <p:cNvPr id="36" name="Shape 34"/>
          <p:cNvSpPr/>
          <p:nvPr/>
        </p:nvSpPr>
        <p:spPr>
          <a:xfrm>
            <a:off x="4818888" y="2487168"/>
            <a:ext cx="1828800" cy="201168"/>
          </a:xfrm>
          <a:prstGeom prst="roundRect">
            <a:avLst>
              <a:gd name="adj" fmla="val 18182"/>
            </a:avLst>
          </a:prstGeom>
          <a:solidFill>
            <a:srgbClr val="111827"/>
          </a:solidFill>
          <a:ln w="15240">
            <a:solidFill>
              <a:srgbClr val="3B82F6"/>
            </a:solidFill>
            <a:prstDash val="solid"/>
          </a:ln>
        </p:spPr>
      </p:sp>
      <p:sp>
        <p:nvSpPr>
          <p:cNvPr id="37" name="Text 35"/>
          <p:cNvSpPr/>
          <p:nvPr/>
        </p:nvSpPr>
        <p:spPr>
          <a:xfrm>
            <a:off x="4818888" y="2496312"/>
            <a:ext cx="1828800" cy="201168"/>
          </a:xfrm>
          <a:prstGeom prst="rect">
            <a:avLst/>
          </a:prstGeom>
          <a:noFill/>
          <a:ln/>
        </p:spPr>
        <p:txBody>
          <a:bodyPr wrap="square" lIns="0" tIns="0" rIns="0" bIns="0" rtlCol="0" anchor="ctr"/>
          <a:lstStyle/>
          <a:p>
            <a:pPr algn="ctr" indent="0" marL="0">
              <a:buNone/>
            </a:pPr>
            <a:r>
              <a:rPr lang="en-US" sz="800" b="1" dirty="0">
                <a:solidFill>
                  <a:srgbClr val="3B82F6"/>
                </a:solidFill>
              </a:rPr>
              <a:t>📋 KEY PATENT CLAIMS</a:t>
            </a:r>
            <a:endParaRPr lang="en-US" sz="800" dirty="0"/>
          </a:p>
        </p:txBody>
      </p:sp>
      <p:sp>
        <p:nvSpPr>
          <p:cNvPr id="38" name="Text 36"/>
          <p:cNvSpPr/>
          <p:nvPr/>
        </p:nvSpPr>
        <p:spPr>
          <a:xfrm>
            <a:off x="4818888" y="2715768"/>
            <a:ext cx="3931920" cy="1051560"/>
          </a:xfrm>
          <a:prstGeom prst="rect">
            <a:avLst/>
          </a:prstGeom>
          <a:noFill/>
          <a:ln/>
        </p:spPr>
        <p:txBody>
          <a:bodyPr wrap="square" lIns="25400" tIns="50800" rIns="0" bIns="0" rtlCol="0" anchor="ctr"/>
          <a:lstStyle/>
          <a:p>
            <a:pPr>
              <a:lnSpc>
                <a:spcPct val="130000"/>
              </a:lnSpc>
            </a:pPr>
            <a:r>
              <a:rPr lang="en-US" sz="850" dirty="0">
                <a:solidFill>
                  <a:srgbClr val="F8FAFC"/>
                </a:solidFill>
              </a:rPr>
              <a:t>Multi-agent plan representation as a topological stabilizer code with physical agents as qubits and logical task as encoded global property</a:t>
            </a:r>
            <a:endParaRPr lang="en-US" sz="850" dirty="0"/>
          </a:p>
          <a:p>
            <a:pPr>
              <a:lnSpc>
                <a:spcPct val="130000"/>
              </a:lnSpc>
            </a:pPr>
            <a:r>
              <a:rPr lang="en-US" sz="850" dirty="0">
                <a:solidFill>
                  <a:srgbClr val="F8FAFC"/>
                </a:solidFill>
              </a:rPr>
              <a:t>Syndrome measurement protocol for detecting agent failures without exposing logical plan structure to adversarial agents</a:t>
            </a:r>
            <a:endParaRPr lang="en-US" sz="850" dirty="0"/>
          </a:p>
          <a:p>
            <a:pPr>
              <a:lnSpc>
                <a:spcPct val="130000"/>
              </a:lnSpc>
            </a:pPr>
            <a:r>
              <a:rPr lang="en-US" sz="850" dirty="0">
                <a:solidFill>
                  <a:srgbClr val="F8FAFC"/>
                </a:solidFill>
              </a:rPr>
              <a:t>Local error correction that reassigns failed agent steps to backup agents without requiring logical plan re-derivation</a:t>
            </a:r>
            <a:endParaRPr lang="en-US" sz="850" dirty="0"/>
          </a:p>
          <a:p>
            <a:pPr>
              <a:lnSpc>
                <a:spcPct val="130000"/>
              </a:lnSpc>
            </a:pPr>
            <a:r>
              <a:rPr lang="en-US" sz="850" dirty="0">
                <a:solidFill>
                  <a:srgbClr val="F8FAFC"/>
                </a:solidFill>
              </a:rPr>
              <a:t>Agent-fault threshold theorem providing provable bound on tolerable agent failure rate for mission-critical plan success</a:t>
            </a:r>
            <a:endParaRPr lang="en-US" sz="850" dirty="0"/>
          </a:p>
        </p:txBody>
      </p:sp>
      <p:sp>
        <p:nvSpPr>
          <p:cNvPr id="39" name="Shape 37"/>
          <p:cNvSpPr/>
          <p:nvPr/>
        </p:nvSpPr>
        <p:spPr>
          <a:xfrm>
            <a:off x="4709160" y="3913632"/>
            <a:ext cx="4160520" cy="1152144"/>
          </a:xfrm>
          <a:prstGeom prst="roundRect">
            <a:avLst>
              <a:gd name="adj" fmla="val 5556"/>
            </a:avLst>
          </a:prstGeom>
          <a:solidFill>
            <a:srgbClr val="0D1117"/>
          </a:solidFill>
          <a:ln w="12700">
            <a:solidFill>
              <a:srgbClr val="3B82F6"/>
            </a:solidFill>
            <a:prstDash val="solid"/>
          </a:ln>
        </p:spPr>
      </p:sp>
      <p:sp>
        <p:nvSpPr>
          <p:cNvPr id="40" name="Shape 38"/>
          <p:cNvSpPr/>
          <p:nvPr/>
        </p:nvSpPr>
        <p:spPr>
          <a:xfrm>
            <a:off x="4818888" y="3977640"/>
            <a:ext cx="2651760" cy="201168"/>
          </a:xfrm>
          <a:prstGeom prst="roundRect">
            <a:avLst>
              <a:gd name="adj" fmla="val 18182"/>
            </a:avLst>
          </a:prstGeom>
          <a:solidFill>
            <a:srgbClr val="111827"/>
          </a:solidFill>
          <a:ln w="15240">
            <a:solidFill>
              <a:srgbClr val="3B82F6"/>
            </a:solidFill>
            <a:prstDash val="solid"/>
          </a:ln>
        </p:spPr>
      </p:sp>
      <p:sp>
        <p:nvSpPr>
          <p:cNvPr id="41" name="Text 39"/>
          <p:cNvSpPr/>
          <p:nvPr/>
        </p:nvSpPr>
        <p:spPr>
          <a:xfrm>
            <a:off x="4818888" y="3986784"/>
            <a:ext cx="2651760" cy="201168"/>
          </a:xfrm>
          <a:prstGeom prst="rect">
            <a:avLst/>
          </a:prstGeom>
          <a:noFill/>
          <a:ln/>
        </p:spPr>
        <p:txBody>
          <a:bodyPr wrap="square" lIns="0" tIns="0" rIns="0" bIns="0" rtlCol="0" anchor="ctr"/>
          <a:lstStyle/>
          <a:p>
            <a:pPr algn="ctr" indent="0" marL="0">
              <a:buNone/>
            </a:pPr>
            <a:r>
              <a:rPr lang="en-US" sz="800" b="1" dirty="0">
                <a:solidFill>
                  <a:srgbClr val="3B82F6"/>
                </a:solidFill>
              </a:rPr>
              <a:t>🔍 DIFFERENTIATION FROM PRIOR ART</a:t>
            </a:r>
            <a:endParaRPr lang="en-US" sz="800" dirty="0"/>
          </a:p>
        </p:txBody>
      </p:sp>
      <p:sp>
        <p:nvSpPr>
          <p:cNvPr id="42" name="Text 40"/>
          <p:cNvSpPr/>
          <p:nvPr/>
        </p:nvSpPr>
        <p:spPr>
          <a:xfrm>
            <a:off x="4818888" y="4206240"/>
            <a:ext cx="3931920" cy="804672"/>
          </a:xfrm>
          <a:prstGeom prst="rect">
            <a:avLst/>
          </a:prstGeom>
          <a:noFill/>
          <a:ln/>
        </p:spPr>
        <p:txBody>
          <a:bodyPr wrap="square" lIns="25400" tIns="50800" rIns="0" bIns="0" rtlCol="0" anchor="ctr"/>
          <a:lstStyle/>
          <a:p>
            <a:pPr>
              <a:lnSpc>
                <a:spcPct val="130000"/>
              </a:lnSpc>
            </a:pPr>
            <a:r>
              <a:rPr lang="en-US" sz="850" dirty="0">
                <a:solidFill>
                  <a:srgbClr val="F8FAFC"/>
                </a:solidFill>
              </a:rPr>
              <a:t>Topological QEC (arxiv:2506.15130): quantum hardware only; no agent orchestration application</a:t>
            </a:r>
            <a:endParaRPr lang="en-US" sz="850" dirty="0"/>
          </a:p>
          <a:p>
            <a:pPr>
              <a:lnSpc>
                <a:spcPct val="130000"/>
              </a:lnSpc>
            </a:pPr>
            <a:r>
              <a:rPr lang="en-US" sz="850" dirty="0">
                <a:solidFill>
                  <a:srgbClr val="F8FAFC"/>
                </a:solidFill>
              </a:rPr>
              <a:t>AgentVerify LTL model checking: formal verification but no redundant plan encoding or error correction</a:t>
            </a:r>
            <a:endParaRPr lang="en-US" sz="850" dirty="0"/>
          </a:p>
          <a:p>
            <a:pPr>
              <a:lnSpc>
                <a:spcPct val="130000"/>
              </a:lnSpc>
            </a:pPr>
            <a:r>
              <a:rPr lang="en-US" sz="850" dirty="0">
                <a:solidFill>
                  <a:srgbClr val="F8FAFC"/>
                </a:solidFill>
              </a:rPr>
              <a:t>DecentLLMs BFT quorum: tolerates corrupt agents in output selection, not in plan execution itself</a:t>
            </a:r>
            <a:endParaRPr lang="en-US" sz="850" dirty="0"/>
          </a:p>
          <a:p>
            <a:pPr>
              <a:lnSpc>
                <a:spcPct val="130000"/>
              </a:lnSpc>
            </a:pPr>
            <a:r>
              <a:rPr lang="en-US" sz="850" dirty="0">
                <a:solidFill>
                  <a:srgbClr val="F8FAFC"/>
                </a:solidFill>
              </a:rPr>
              <a:t>No patent applies topological error-correcting code theory to multi-agent plan encoding</a:t>
            </a:r>
            <a:endParaRPr lang="en-US" sz="850" dirty="0"/>
          </a:p>
        </p:txBody>
      </p:sp>
      <p:sp>
        <p:nvSpPr>
          <p:cNvPr id="43" name="Text 41"/>
          <p:cNvSpPr/>
          <p:nvPr/>
        </p:nvSpPr>
        <p:spPr>
          <a:xfrm>
            <a:off x="8503920" y="4983480"/>
            <a:ext cx="457200" cy="164592"/>
          </a:xfrm>
          <a:prstGeom prst="rect">
            <a:avLst/>
          </a:prstGeom>
          <a:noFill/>
          <a:ln/>
        </p:spPr>
        <p:txBody>
          <a:bodyPr wrap="square" lIns="0" tIns="0" rIns="0" bIns="0" rtlCol="0" anchor="ctr"/>
          <a:lstStyle/>
          <a:p>
            <a:pPr algn="r" indent="0" marL="0">
              <a:buNone/>
            </a:pPr>
            <a:r>
              <a:rPr lang="en-US" sz="800" dirty="0">
                <a:solidFill>
                  <a:srgbClr val="94A3B8"/>
                </a:solidFill>
              </a:rPr>
              <a:t>4 / 10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EC4899"/>
          </a:solidFill>
          <a:ln w="12700">
            <a:solidFill>
              <a:srgbClr val="EC4899"/>
            </a:solidFill>
            <a:prstDash val="solid"/>
          </a:ln>
        </p:spPr>
      </p:sp>
      <p:sp>
        <p:nvSpPr>
          <p:cNvPr id="3" name="Shape 1"/>
          <p:cNvSpPr/>
          <p:nvPr/>
        </p:nvSpPr>
        <p:spPr>
          <a:xfrm>
            <a:off x="274320" y="91440"/>
            <a:ext cx="1325880" cy="347472"/>
          </a:xfrm>
          <a:prstGeom prst="roundRect">
            <a:avLst>
              <a:gd name="adj" fmla="val 15789"/>
            </a:avLst>
          </a:prstGeom>
          <a:solidFill>
            <a:srgbClr val="500724"/>
          </a:solidFill>
          <a:ln w="12700">
            <a:solidFill>
              <a:srgbClr val="EC4899"/>
            </a:solidFill>
            <a:prstDash val="solid"/>
          </a:ln>
        </p:spPr>
      </p:sp>
      <p:sp>
        <p:nvSpPr>
          <p:cNvPr id="4" name="Text 2"/>
          <p:cNvSpPr/>
          <p:nvPr/>
        </p:nvSpPr>
        <p:spPr>
          <a:xfrm>
            <a:off x="274320" y="91440"/>
            <a:ext cx="1325880" cy="347472"/>
          </a:xfrm>
          <a:prstGeom prst="rect">
            <a:avLst/>
          </a:prstGeom>
          <a:noFill/>
          <a:ln/>
        </p:spPr>
        <p:txBody>
          <a:bodyPr wrap="square" lIns="0" tIns="0" rIns="0" bIns="0" rtlCol="0" anchor="ctr"/>
          <a:lstStyle/>
          <a:p>
            <a:pPr algn="ctr" indent="0" marL="0">
              <a:buNone/>
            </a:pPr>
            <a:r>
              <a:rPr lang="en-US" sz="900" b="1" dirty="0">
                <a:solidFill>
                  <a:srgbClr val="EC4899"/>
                </a:solidFill>
              </a:rPr>
              <a:t>Patent Idea #5</a:t>
            </a:r>
            <a:endParaRPr lang="en-US" sz="900" dirty="0"/>
          </a:p>
        </p:txBody>
      </p:sp>
      <p:sp>
        <p:nvSpPr>
          <p:cNvPr id="5" name="Text 3"/>
          <p:cNvSpPr/>
          <p:nvPr/>
        </p:nvSpPr>
        <p:spPr>
          <a:xfrm>
            <a:off x="1691640" y="91440"/>
            <a:ext cx="7132320" cy="274320"/>
          </a:xfrm>
          <a:prstGeom prst="rect">
            <a:avLst/>
          </a:prstGeom>
          <a:noFill/>
          <a:ln/>
        </p:spPr>
        <p:txBody>
          <a:bodyPr wrap="square" lIns="0" tIns="0" rIns="0" bIns="0" rtlCol="0" anchor="ctr"/>
          <a:lstStyle/>
          <a:p>
            <a:pPr indent="0" marL="0">
              <a:buNone/>
            </a:pPr>
            <a:r>
              <a:rPr lang="en-US" sz="1450" b="1" dirty="0">
                <a:solidFill>
                  <a:srgbClr val="FFFFFF"/>
                </a:solidFill>
              </a:rPr>
              <a:t>Ecological Succession-Driven Agent Lifecycle Manager (ESALM)</a:t>
            </a:r>
            <a:endParaRPr lang="en-US" sz="1450" dirty="0"/>
          </a:p>
        </p:txBody>
      </p:sp>
      <p:sp>
        <p:nvSpPr>
          <p:cNvPr id="6" name="Text 4"/>
          <p:cNvSpPr/>
          <p:nvPr/>
        </p:nvSpPr>
        <p:spPr>
          <a:xfrm>
            <a:off x="1691640" y="384048"/>
            <a:ext cx="7132320" cy="182880"/>
          </a:xfrm>
          <a:prstGeom prst="rect">
            <a:avLst/>
          </a:prstGeom>
          <a:noFill/>
          <a:ln/>
        </p:spPr>
        <p:txBody>
          <a:bodyPr wrap="square" lIns="0" tIns="0" rIns="0" bIns="0" rtlCol="0" anchor="t"/>
          <a:lstStyle/>
          <a:p>
            <a:pPr indent="0" marL="0">
              <a:buNone/>
            </a:pPr>
            <a:r>
              <a:rPr lang="en-US" sz="900" dirty="0">
                <a:solidFill>
                  <a:srgbClr val="94A3B8"/>
                </a:solidFill>
              </a:rPr>
              <a:t>Pioneer, intermediate, and climax agent roles emerge and are replaced based on task-environment maturity</a:t>
            </a:r>
            <a:endParaRPr lang="en-US" sz="900" dirty="0"/>
          </a:p>
        </p:txBody>
      </p:sp>
      <p:sp>
        <p:nvSpPr>
          <p:cNvPr id="7" name="Shape 5"/>
          <p:cNvSpPr/>
          <p:nvPr/>
        </p:nvSpPr>
        <p:spPr>
          <a:xfrm>
            <a:off x="1691640" y="594360"/>
            <a:ext cx="822960" cy="201168"/>
          </a:xfrm>
          <a:prstGeom prst="roundRect">
            <a:avLst>
              <a:gd name="adj" fmla="val 18182"/>
            </a:avLst>
          </a:prstGeom>
          <a:solidFill>
            <a:srgbClr val="500724"/>
          </a:solidFill>
          <a:ln w="12700">
            <a:solidFill>
              <a:srgbClr val="500724"/>
            </a:solidFill>
            <a:prstDash val="solid"/>
          </a:ln>
        </p:spPr>
      </p:sp>
      <p:sp>
        <p:nvSpPr>
          <p:cNvPr id="8" name="Text 6"/>
          <p:cNvSpPr/>
          <p:nvPr/>
        </p:nvSpPr>
        <p:spPr>
          <a:xfrm>
            <a:off x="1691640" y="594360"/>
            <a:ext cx="822960" cy="201168"/>
          </a:xfrm>
          <a:prstGeom prst="rect">
            <a:avLst/>
          </a:prstGeom>
          <a:noFill/>
          <a:ln/>
        </p:spPr>
        <p:txBody>
          <a:bodyPr wrap="square" lIns="0" tIns="0" rIns="0" bIns="0" rtlCol="0" anchor="ctr"/>
          <a:lstStyle/>
          <a:p>
            <a:pPr algn="ctr" indent="0" marL="0">
              <a:buNone/>
            </a:pPr>
            <a:r>
              <a:rPr lang="en-US" sz="800" b="1" dirty="0">
                <a:solidFill>
                  <a:srgbClr val="EC4899"/>
                </a:solidFill>
              </a:rPr>
              <a:t>Ecology</a:t>
            </a:r>
            <a:endParaRPr lang="en-US" sz="800" dirty="0"/>
          </a:p>
        </p:txBody>
      </p:sp>
      <p:sp>
        <p:nvSpPr>
          <p:cNvPr id="9" name="Shape 7"/>
          <p:cNvSpPr/>
          <p:nvPr/>
        </p:nvSpPr>
        <p:spPr>
          <a:xfrm>
            <a:off x="2606040" y="594360"/>
            <a:ext cx="1302106" cy="201168"/>
          </a:xfrm>
          <a:prstGeom prst="roundRect">
            <a:avLst>
              <a:gd name="adj" fmla="val 18182"/>
            </a:avLst>
          </a:prstGeom>
          <a:solidFill>
            <a:srgbClr val="500724"/>
          </a:solidFill>
          <a:ln w="12700">
            <a:solidFill>
              <a:srgbClr val="500724"/>
            </a:solidFill>
            <a:prstDash val="solid"/>
          </a:ln>
        </p:spPr>
      </p:sp>
      <p:sp>
        <p:nvSpPr>
          <p:cNvPr id="10" name="Text 8"/>
          <p:cNvSpPr/>
          <p:nvPr/>
        </p:nvSpPr>
        <p:spPr>
          <a:xfrm>
            <a:off x="2606040" y="594360"/>
            <a:ext cx="1302106" cy="201168"/>
          </a:xfrm>
          <a:prstGeom prst="rect">
            <a:avLst/>
          </a:prstGeom>
          <a:noFill/>
          <a:ln/>
        </p:spPr>
        <p:txBody>
          <a:bodyPr wrap="square" lIns="0" tIns="0" rIns="0" bIns="0" rtlCol="0" anchor="ctr"/>
          <a:lstStyle/>
          <a:p>
            <a:pPr algn="ctr" indent="0" marL="0">
              <a:buNone/>
            </a:pPr>
            <a:r>
              <a:rPr lang="en-US" sz="800" b="1" dirty="0">
                <a:solidFill>
                  <a:srgbClr val="EC4899"/>
                </a:solidFill>
              </a:rPr>
              <a:t>Succession Theory</a:t>
            </a:r>
            <a:endParaRPr lang="en-US" sz="800" dirty="0"/>
          </a:p>
        </p:txBody>
      </p:sp>
      <p:sp>
        <p:nvSpPr>
          <p:cNvPr id="11" name="Shape 9"/>
          <p:cNvSpPr/>
          <p:nvPr/>
        </p:nvSpPr>
        <p:spPr>
          <a:xfrm>
            <a:off x="3999586" y="594360"/>
            <a:ext cx="1236269" cy="201168"/>
          </a:xfrm>
          <a:prstGeom prst="roundRect">
            <a:avLst>
              <a:gd name="adj" fmla="val 18182"/>
            </a:avLst>
          </a:prstGeom>
          <a:solidFill>
            <a:srgbClr val="500724"/>
          </a:solidFill>
          <a:ln w="12700">
            <a:solidFill>
              <a:srgbClr val="500724"/>
            </a:solidFill>
            <a:prstDash val="solid"/>
          </a:ln>
        </p:spPr>
      </p:sp>
      <p:sp>
        <p:nvSpPr>
          <p:cNvPr id="12" name="Text 10"/>
          <p:cNvSpPr/>
          <p:nvPr/>
        </p:nvSpPr>
        <p:spPr>
          <a:xfrm>
            <a:off x="3999586" y="594360"/>
            <a:ext cx="1236269" cy="201168"/>
          </a:xfrm>
          <a:prstGeom prst="rect">
            <a:avLst/>
          </a:prstGeom>
          <a:noFill/>
          <a:ln/>
        </p:spPr>
        <p:txBody>
          <a:bodyPr wrap="square" lIns="0" tIns="0" rIns="0" bIns="0" rtlCol="0" anchor="ctr"/>
          <a:lstStyle/>
          <a:p>
            <a:pPr algn="ctr" indent="0" marL="0">
              <a:buNone/>
            </a:pPr>
            <a:r>
              <a:rPr lang="en-US" sz="800" b="1" dirty="0">
                <a:solidFill>
                  <a:srgbClr val="EC4899"/>
                </a:solidFill>
              </a:rPr>
              <a:t>Keystone Species</a:t>
            </a:r>
            <a:endParaRPr lang="en-US" sz="800" dirty="0"/>
          </a:p>
        </p:txBody>
      </p:sp>
      <p:sp>
        <p:nvSpPr>
          <p:cNvPr id="13" name="Shape 11"/>
          <p:cNvSpPr/>
          <p:nvPr/>
        </p:nvSpPr>
        <p:spPr>
          <a:xfrm>
            <a:off x="5327294" y="594360"/>
            <a:ext cx="1433779" cy="201168"/>
          </a:xfrm>
          <a:prstGeom prst="roundRect">
            <a:avLst>
              <a:gd name="adj" fmla="val 18182"/>
            </a:avLst>
          </a:prstGeom>
          <a:solidFill>
            <a:srgbClr val="500724"/>
          </a:solidFill>
          <a:ln w="12700">
            <a:solidFill>
              <a:srgbClr val="500724"/>
            </a:solidFill>
            <a:prstDash val="solid"/>
          </a:ln>
        </p:spPr>
      </p:sp>
      <p:sp>
        <p:nvSpPr>
          <p:cNvPr id="14" name="Text 12"/>
          <p:cNvSpPr/>
          <p:nvPr/>
        </p:nvSpPr>
        <p:spPr>
          <a:xfrm>
            <a:off x="5327294" y="594360"/>
            <a:ext cx="1433779" cy="201168"/>
          </a:xfrm>
          <a:prstGeom prst="rect">
            <a:avLst/>
          </a:prstGeom>
          <a:noFill/>
          <a:ln/>
        </p:spPr>
        <p:txBody>
          <a:bodyPr wrap="square" lIns="0" tIns="0" rIns="0" bIns="0" rtlCol="0" anchor="ctr"/>
          <a:lstStyle/>
          <a:p>
            <a:pPr algn="ctr" indent="0" marL="0">
              <a:buNone/>
            </a:pPr>
            <a:r>
              <a:rPr lang="en-US" sz="800" b="1" dirty="0">
                <a:solidFill>
                  <a:srgbClr val="EC4899"/>
                </a:solidFill>
              </a:rPr>
              <a:t>Disturbance Ecology</a:t>
            </a:r>
            <a:endParaRPr lang="en-US" sz="800" dirty="0"/>
          </a:p>
        </p:txBody>
      </p:sp>
      <p:sp>
        <p:nvSpPr>
          <p:cNvPr id="15" name="Shape 13"/>
          <p:cNvSpPr/>
          <p:nvPr/>
        </p:nvSpPr>
        <p:spPr>
          <a:xfrm>
            <a:off x="274320" y="868680"/>
            <a:ext cx="1389888" cy="658368"/>
          </a:xfrm>
          <a:prstGeom prst="roundRect">
            <a:avLst>
              <a:gd name="adj" fmla="val 9722"/>
            </a:avLst>
          </a:prstGeom>
          <a:solidFill>
            <a:srgbClr val="064E3B"/>
          </a:solidFill>
          <a:ln w="19050">
            <a:solidFill>
              <a:srgbClr val="34D399"/>
            </a:solidFill>
            <a:prstDash val="solid"/>
          </a:ln>
        </p:spPr>
      </p:sp>
      <p:sp>
        <p:nvSpPr>
          <p:cNvPr id="16" name="Text 14"/>
          <p:cNvSpPr/>
          <p:nvPr/>
        </p:nvSpPr>
        <p:spPr>
          <a:xfrm>
            <a:off x="27432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ACCEPTANCE</a:t>
            </a:r>
            <a:endParaRPr lang="en-US" sz="750" dirty="0"/>
          </a:p>
        </p:txBody>
      </p:sp>
      <p:sp>
        <p:nvSpPr>
          <p:cNvPr id="17" name="Text 15"/>
          <p:cNvSpPr/>
          <p:nvPr/>
        </p:nvSpPr>
        <p:spPr>
          <a:xfrm>
            <a:off x="27432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76%</a:t>
            </a:r>
            <a:endParaRPr lang="en-US" sz="2000" dirty="0"/>
          </a:p>
        </p:txBody>
      </p:sp>
      <p:sp>
        <p:nvSpPr>
          <p:cNvPr id="18" name="Shape 16"/>
          <p:cNvSpPr/>
          <p:nvPr/>
        </p:nvSpPr>
        <p:spPr>
          <a:xfrm>
            <a:off x="1828800" y="868680"/>
            <a:ext cx="1389888" cy="658368"/>
          </a:xfrm>
          <a:prstGeom prst="roundRect">
            <a:avLst>
              <a:gd name="adj" fmla="val 9722"/>
            </a:avLst>
          </a:prstGeom>
          <a:solidFill>
            <a:srgbClr val="064E3B"/>
          </a:solidFill>
          <a:ln w="19050">
            <a:solidFill>
              <a:srgbClr val="34D399"/>
            </a:solidFill>
            <a:prstDash val="solid"/>
          </a:ln>
        </p:spPr>
      </p:sp>
      <p:sp>
        <p:nvSpPr>
          <p:cNvPr id="19" name="Text 17"/>
          <p:cNvSpPr/>
          <p:nvPr/>
        </p:nvSpPr>
        <p:spPr>
          <a:xfrm>
            <a:off x="182880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OVERLAP</a:t>
            </a:r>
            <a:endParaRPr lang="en-US" sz="750" dirty="0"/>
          </a:p>
        </p:txBody>
      </p:sp>
      <p:sp>
        <p:nvSpPr>
          <p:cNvPr id="20" name="Text 18"/>
          <p:cNvSpPr/>
          <p:nvPr/>
        </p:nvSpPr>
        <p:spPr>
          <a:xfrm>
            <a:off x="182880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13%</a:t>
            </a:r>
            <a:endParaRPr lang="en-US" sz="2000" dirty="0"/>
          </a:p>
        </p:txBody>
      </p:sp>
      <p:sp>
        <p:nvSpPr>
          <p:cNvPr id="21" name="Shape 19"/>
          <p:cNvSpPr/>
          <p:nvPr/>
        </p:nvSpPr>
        <p:spPr>
          <a:xfrm>
            <a:off x="3383280" y="868680"/>
            <a:ext cx="1389888" cy="658368"/>
          </a:xfrm>
          <a:prstGeom prst="roundRect">
            <a:avLst>
              <a:gd name="adj" fmla="val 9722"/>
            </a:avLst>
          </a:prstGeom>
          <a:solidFill>
            <a:srgbClr val="2D1B69"/>
          </a:solidFill>
          <a:ln w="19050">
            <a:solidFill>
              <a:srgbClr val="A78BFA"/>
            </a:solidFill>
            <a:prstDash val="solid"/>
          </a:ln>
        </p:spPr>
      </p:sp>
      <p:sp>
        <p:nvSpPr>
          <p:cNvPr id="22" name="Text 20"/>
          <p:cNvSpPr/>
          <p:nvPr/>
        </p:nvSpPr>
        <p:spPr>
          <a:xfrm>
            <a:off x="3383280" y="905256"/>
            <a:ext cx="1389888" cy="219456"/>
          </a:xfrm>
          <a:prstGeom prst="rect">
            <a:avLst/>
          </a:prstGeom>
          <a:noFill/>
          <a:ln/>
        </p:spPr>
        <p:txBody>
          <a:bodyPr wrap="square" lIns="0" tIns="0" rIns="0" bIns="0" rtlCol="0" anchor="ctr"/>
          <a:lstStyle/>
          <a:p>
            <a:pPr algn="ctr" indent="0" marL="0">
              <a:buNone/>
            </a:pPr>
            <a:r>
              <a:rPr lang="en-US" sz="750" b="1" dirty="0">
                <a:solidFill>
                  <a:srgbClr val="A78BFA"/>
                </a:solidFill>
              </a:rPr>
              <a:t>EST. NOVELTY</a:t>
            </a:r>
            <a:endParaRPr lang="en-US" sz="750" dirty="0"/>
          </a:p>
        </p:txBody>
      </p:sp>
      <p:sp>
        <p:nvSpPr>
          <p:cNvPr id="23" name="Text 21"/>
          <p:cNvSpPr/>
          <p:nvPr/>
        </p:nvSpPr>
        <p:spPr>
          <a:xfrm>
            <a:off x="3383280" y="1124712"/>
            <a:ext cx="1389888" cy="347472"/>
          </a:xfrm>
          <a:prstGeom prst="rect">
            <a:avLst/>
          </a:prstGeom>
          <a:noFill/>
          <a:ln/>
        </p:spPr>
        <p:txBody>
          <a:bodyPr wrap="square" lIns="0" tIns="0" rIns="0" bIns="0" rtlCol="0" anchor="ctr"/>
          <a:lstStyle/>
          <a:p>
            <a:pPr algn="ctr" indent="0" marL="0">
              <a:buNone/>
            </a:pPr>
            <a:r>
              <a:rPr lang="en-US" sz="2000" b="1" dirty="0">
                <a:solidFill>
                  <a:srgbClr val="A78BFA"/>
                </a:solidFill>
              </a:rPr>
              <a:t>87%</a:t>
            </a:r>
            <a:endParaRPr lang="en-US" sz="2000" dirty="0"/>
          </a:p>
        </p:txBody>
      </p:sp>
      <p:sp>
        <p:nvSpPr>
          <p:cNvPr id="24" name="Shape 22"/>
          <p:cNvSpPr/>
          <p:nvPr/>
        </p:nvSpPr>
        <p:spPr>
          <a:xfrm>
            <a:off x="274320" y="1627632"/>
            <a:ext cx="8595360" cy="685800"/>
          </a:xfrm>
          <a:prstGeom prst="roundRect">
            <a:avLst>
              <a:gd name="adj" fmla="val 9333"/>
            </a:avLst>
          </a:prstGeom>
          <a:solidFill>
            <a:srgbClr val="500724"/>
          </a:solidFill>
          <a:ln w="12700">
            <a:solidFill>
              <a:srgbClr val="EC4899"/>
            </a:solidFill>
            <a:prstDash val="solid"/>
          </a:ln>
        </p:spPr>
      </p:sp>
      <p:sp>
        <p:nvSpPr>
          <p:cNvPr id="25" name="Text 23"/>
          <p:cNvSpPr/>
          <p:nvPr/>
        </p:nvSpPr>
        <p:spPr>
          <a:xfrm>
            <a:off x="402336" y="1682496"/>
            <a:ext cx="2011680" cy="201168"/>
          </a:xfrm>
          <a:prstGeom prst="rect">
            <a:avLst/>
          </a:prstGeom>
          <a:noFill/>
          <a:ln/>
        </p:spPr>
        <p:txBody>
          <a:bodyPr wrap="square" lIns="0" tIns="0" rIns="0" bIns="0" rtlCol="0" anchor="ctr"/>
          <a:lstStyle/>
          <a:p>
            <a:pPr indent="0" marL="0">
              <a:buNone/>
            </a:pPr>
            <a:r>
              <a:rPr lang="en-US" sz="850" b="1" dirty="0">
                <a:solidFill>
                  <a:srgbClr val="EC4899"/>
                </a:solidFill>
              </a:rPr>
              <a:t>💡 Cross-Domain Insight</a:t>
            </a:r>
            <a:endParaRPr lang="en-US" sz="850" dirty="0"/>
          </a:p>
        </p:txBody>
      </p:sp>
      <p:sp>
        <p:nvSpPr>
          <p:cNvPr id="26" name="Text 24"/>
          <p:cNvSpPr/>
          <p:nvPr/>
        </p:nvSpPr>
        <p:spPr>
          <a:xfrm>
            <a:off x="402336" y="1865376"/>
            <a:ext cx="8321040" cy="402336"/>
          </a:xfrm>
          <a:prstGeom prst="rect">
            <a:avLst/>
          </a:prstGeom>
          <a:noFill/>
          <a:ln/>
        </p:spPr>
        <p:txBody>
          <a:bodyPr wrap="square" lIns="0" tIns="0" rIns="0" bIns="0" rtlCol="0" anchor="ctr"/>
          <a:lstStyle/>
          <a:p>
            <a:pPr indent="0" marL="0">
              <a:lnSpc>
                <a:spcPct val="125000"/>
              </a:lnSpc>
              <a:buNone/>
            </a:pPr>
            <a:r>
              <a:rPr lang="en-US" sz="900" dirty="0">
                <a:solidFill>
                  <a:srgbClr val="F8FAFC"/>
                </a:solidFill>
              </a:rPr>
              <a:t>Ecological succession: pioneer species colonise disturbed areas (fast, cheap, opportunistic), are replaced by intermediate species (more specialist), which give way to climax species (slow, stable, deeply adapted). This exact dynamic maps to agent deployment: fast cheap explorers → mid-quality specialists → expensive reliable executors.</a:t>
            </a:r>
            <a:endParaRPr lang="en-US" sz="900" dirty="0"/>
          </a:p>
        </p:txBody>
      </p:sp>
      <p:sp>
        <p:nvSpPr>
          <p:cNvPr id="27" name="Shape 25"/>
          <p:cNvSpPr/>
          <p:nvPr/>
        </p:nvSpPr>
        <p:spPr>
          <a:xfrm>
            <a:off x="274320" y="2423160"/>
            <a:ext cx="4160520" cy="1188720"/>
          </a:xfrm>
          <a:prstGeom prst="roundRect">
            <a:avLst>
              <a:gd name="adj" fmla="val 5385"/>
            </a:avLst>
          </a:prstGeom>
          <a:solidFill>
            <a:srgbClr val="1A2235"/>
          </a:solidFill>
          <a:ln w="6350">
            <a:solidFill>
              <a:srgbClr val="2D3748"/>
            </a:solidFill>
            <a:prstDash val="solid"/>
          </a:ln>
        </p:spPr>
      </p:sp>
      <p:sp>
        <p:nvSpPr>
          <p:cNvPr id="28" name="Shape 26"/>
          <p:cNvSpPr/>
          <p:nvPr/>
        </p:nvSpPr>
        <p:spPr>
          <a:xfrm>
            <a:off x="384048" y="2487168"/>
            <a:ext cx="1737360" cy="201168"/>
          </a:xfrm>
          <a:prstGeom prst="roundRect">
            <a:avLst>
              <a:gd name="adj" fmla="val 18182"/>
            </a:avLst>
          </a:prstGeom>
          <a:solidFill>
            <a:srgbClr val="111827"/>
          </a:solidFill>
          <a:ln w="15240">
            <a:solidFill>
              <a:srgbClr val="EC4899"/>
            </a:solidFill>
            <a:prstDash val="solid"/>
          </a:ln>
        </p:spPr>
      </p:sp>
      <p:sp>
        <p:nvSpPr>
          <p:cNvPr id="29" name="Text 27"/>
          <p:cNvSpPr/>
          <p:nvPr/>
        </p:nvSpPr>
        <p:spPr>
          <a:xfrm>
            <a:off x="384048" y="2496312"/>
            <a:ext cx="1737360" cy="201168"/>
          </a:xfrm>
          <a:prstGeom prst="rect">
            <a:avLst/>
          </a:prstGeom>
          <a:noFill/>
          <a:ln/>
        </p:spPr>
        <p:txBody>
          <a:bodyPr wrap="square" lIns="0" tIns="0" rIns="0" bIns="0" rtlCol="0" anchor="ctr"/>
          <a:lstStyle/>
          <a:p>
            <a:pPr algn="ctr" indent="0" marL="0">
              <a:buNone/>
            </a:pPr>
            <a:r>
              <a:rPr lang="en-US" sz="800" b="1" dirty="0">
                <a:solidFill>
                  <a:srgbClr val="EC4899"/>
                </a:solidFill>
              </a:rPr>
              <a:t>⚡ PROBLEM SOLVED</a:t>
            </a:r>
            <a:endParaRPr lang="en-US" sz="800" dirty="0"/>
          </a:p>
        </p:txBody>
      </p:sp>
      <p:sp>
        <p:nvSpPr>
          <p:cNvPr id="30" name="Text 28"/>
          <p:cNvSpPr/>
          <p:nvPr/>
        </p:nvSpPr>
        <p:spPr>
          <a:xfrm>
            <a:off x="384048" y="2715768"/>
            <a:ext cx="3931920" cy="822960"/>
          </a:xfrm>
          <a:prstGeom prst="rect">
            <a:avLst/>
          </a:prstGeom>
          <a:noFill/>
          <a:ln/>
        </p:spPr>
        <p:txBody>
          <a:bodyPr wrap="square" lIns="0" tIns="0" rIns="0" bIns="0" rtlCol="0" anchor="ctr"/>
          <a:lstStyle/>
          <a:p>
            <a:pPr indent="0" marL="0">
              <a:lnSpc>
                <a:spcPct val="130000"/>
              </a:lnSpc>
              <a:buNone/>
            </a:pPr>
            <a:r>
              <a:rPr lang="en-US" sz="900" dirty="0">
                <a:solidFill>
                  <a:srgbClr val="94A3B8"/>
                </a:solidFill>
              </a:rPr>
              <a:t>Multi-agent systems deploy all agents at the same capability level, wasting expensive resources on simple subtasks and using cheap agents for complex ones. There is no dynamic promotion/replacement of agents as task understanding deepens.</a:t>
            </a:r>
            <a:endParaRPr lang="en-US" sz="900" dirty="0"/>
          </a:p>
        </p:txBody>
      </p:sp>
      <p:sp>
        <p:nvSpPr>
          <p:cNvPr id="31" name="Shape 29"/>
          <p:cNvSpPr/>
          <p:nvPr/>
        </p:nvSpPr>
        <p:spPr>
          <a:xfrm>
            <a:off x="274320" y="3675888"/>
            <a:ext cx="4160520" cy="1389888"/>
          </a:xfrm>
          <a:prstGeom prst="roundRect">
            <a:avLst>
              <a:gd name="adj" fmla="val 4605"/>
            </a:avLst>
          </a:prstGeom>
          <a:solidFill>
            <a:srgbClr val="1A2235"/>
          </a:solidFill>
          <a:ln w="6350">
            <a:solidFill>
              <a:srgbClr val="2D3748"/>
            </a:solidFill>
            <a:prstDash val="solid"/>
          </a:ln>
        </p:spPr>
      </p:sp>
      <p:sp>
        <p:nvSpPr>
          <p:cNvPr id="32" name="Shape 30"/>
          <p:cNvSpPr/>
          <p:nvPr/>
        </p:nvSpPr>
        <p:spPr>
          <a:xfrm>
            <a:off x="384048" y="3739896"/>
            <a:ext cx="2743200" cy="201168"/>
          </a:xfrm>
          <a:prstGeom prst="roundRect">
            <a:avLst>
              <a:gd name="adj" fmla="val 18182"/>
            </a:avLst>
          </a:prstGeom>
          <a:solidFill>
            <a:srgbClr val="111827"/>
          </a:solidFill>
          <a:ln w="15240">
            <a:solidFill>
              <a:srgbClr val="333333"/>
            </a:solidFill>
            <a:prstDash val="solid"/>
          </a:ln>
        </p:spPr>
      </p:sp>
      <p:sp>
        <p:nvSpPr>
          <p:cNvPr id="33" name="Text 31"/>
          <p:cNvSpPr/>
          <p:nvPr/>
        </p:nvSpPr>
        <p:spPr>
          <a:xfrm>
            <a:off x="384048" y="3749040"/>
            <a:ext cx="2743200" cy="201168"/>
          </a:xfrm>
          <a:prstGeom prst="rect">
            <a:avLst/>
          </a:prstGeom>
          <a:noFill/>
          <a:ln/>
        </p:spPr>
        <p:txBody>
          <a:bodyPr wrap="square" lIns="0" tIns="0" rIns="0" bIns="0" rtlCol="0" anchor="ctr"/>
          <a:lstStyle/>
          <a:p>
            <a:pPr algn="ctr" indent="0" marL="0">
              <a:buNone/>
            </a:pPr>
            <a:r>
              <a:rPr lang="en-US" sz="800" b="1" dirty="0">
                <a:solidFill>
                  <a:srgbClr val="000000"/>
                </a:solidFill>
              </a:rPr>
              <a:t>🔬 NOVEL APPROACH (NUMBERED STEPS)</a:t>
            </a:r>
            <a:endParaRPr lang="en-US" sz="800" dirty="0"/>
          </a:p>
        </p:txBody>
      </p:sp>
      <p:sp>
        <p:nvSpPr>
          <p:cNvPr id="34" name="Text 32"/>
          <p:cNvSpPr/>
          <p:nvPr/>
        </p:nvSpPr>
        <p:spPr>
          <a:xfrm>
            <a:off x="384048" y="3977640"/>
            <a:ext cx="3931920" cy="1024128"/>
          </a:xfrm>
          <a:prstGeom prst="rect">
            <a:avLst/>
          </a:prstGeom>
          <a:noFill/>
          <a:ln/>
        </p:spPr>
        <p:txBody>
          <a:bodyPr wrap="square" lIns="25400" tIns="50800" rIns="0" bIns="0" rtlCol="0" anchor="ctr"/>
          <a:lstStyle/>
          <a:p>
            <a:pPr marL="342900" indent="-342900">
              <a:lnSpc>
                <a:spcPct val="130000"/>
              </a:lnSpc>
              <a:buSzPct val="100000"/>
              <a:buFont typeface="+mj-lt"/>
              <a:buAutoNum type="arabicPeriod" startAt="1"/>
            </a:pPr>
            <a:r>
              <a:rPr lang="en-US" sz="850" dirty="0">
                <a:solidFill>
                  <a:srgbClr val="F8FAFC"/>
                </a:solidFill>
              </a:rPr>
              <a:t>Pioneer agents: fast, cheap, broad — probe the task space, produce rough decompositions and identify subtask difficulty (analogous to lichens weathering rock)</a:t>
            </a:r>
            <a:endParaRPr lang="en-US" sz="850" dirty="0"/>
          </a:p>
          <a:p>
            <a:pPr marL="342900" indent="-342900">
              <a:lnSpc>
                <a:spcPct val="130000"/>
              </a:lnSpc>
              <a:buSzPct val="100000"/>
              <a:buFont typeface="+mj-lt"/>
              <a:buAutoNum type="arabicPeriod" startAt="1"/>
            </a:pPr>
            <a:r>
              <a:rPr lang="en-US" sz="850" dirty="0">
                <a:solidFill>
                  <a:srgbClr val="F8FAFC"/>
                </a:solidFill>
              </a:rPr>
              <a:t>Intermediate agents: moderate cost/quality — refine pioneer outputs, build subtask scaffolding, identify resource requirements</a:t>
            </a:r>
            <a:endParaRPr lang="en-US" sz="850" dirty="0"/>
          </a:p>
          <a:p>
            <a:pPr marL="342900" indent="-342900">
              <a:lnSpc>
                <a:spcPct val="130000"/>
              </a:lnSpc>
              <a:buSzPct val="100000"/>
              <a:buFont typeface="+mj-lt"/>
              <a:buAutoNum type="arabicPeriod" startAt="1"/>
            </a:pPr>
            <a:r>
              <a:rPr lang="en-US" sz="850" dirty="0">
                <a:solidFill>
                  <a:srgbClr val="F8FAFC"/>
                </a:solidFill>
              </a:rPr>
              <a:t>Climax agents: expensive, specialist, slow — execute high-stakes subtasks identified by the succession process</a:t>
            </a:r>
            <a:endParaRPr lang="en-US" sz="850" dirty="0"/>
          </a:p>
          <a:p>
            <a:pPr marL="342900" indent="-342900">
              <a:lnSpc>
                <a:spcPct val="130000"/>
              </a:lnSpc>
              <a:buSzPct val="100000"/>
              <a:buFont typeface="+mj-lt"/>
              <a:buAutoNum type="arabicPeriod" startAt="1"/>
            </a:pPr>
            <a:r>
              <a:rPr lang="en-US" sz="850" dirty="0">
                <a:solidFill>
                  <a:srgbClr val="F8FAFC"/>
                </a:solidFill>
              </a:rPr>
              <a:t>Disturbance protocol: when a climax agent fails catastrophically, succession restarts from pioneer phase for that subtask branch — secondary succession (faster, soil already present)</a:t>
            </a:r>
            <a:endParaRPr lang="en-US" sz="850" dirty="0"/>
          </a:p>
        </p:txBody>
      </p:sp>
      <p:sp>
        <p:nvSpPr>
          <p:cNvPr id="35" name="Shape 33"/>
          <p:cNvSpPr/>
          <p:nvPr/>
        </p:nvSpPr>
        <p:spPr>
          <a:xfrm>
            <a:off x="4709160" y="2423160"/>
            <a:ext cx="4160520" cy="1417320"/>
          </a:xfrm>
          <a:prstGeom prst="roundRect">
            <a:avLst>
              <a:gd name="adj" fmla="val 4516"/>
            </a:avLst>
          </a:prstGeom>
          <a:solidFill>
            <a:srgbClr val="1A2235"/>
          </a:solidFill>
          <a:ln w="6350">
            <a:solidFill>
              <a:srgbClr val="2D3748"/>
            </a:solidFill>
            <a:prstDash val="solid"/>
          </a:ln>
        </p:spPr>
      </p:sp>
      <p:sp>
        <p:nvSpPr>
          <p:cNvPr id="36" name="Shape 34"/>
          <p:cNvSpPr/>
          <p:nvPr/>
        </p:nvSpPr>
        <p:spPr>
          <a:xfrm>
            <a:off x="4818888" y="2487168"/>
            <a:ext cx="1828800" cy="201168"/>
          </a:xfrm>
          <a:prstGeom prst="roundRect">
            <a:avLst>
              <a:gd name="adj" fmla="val 18182"/>
            </a:avLst>
          </a:prstGeom>
          <a:solidFill>
            <a:srgbClr val="111827"/>
          </a:solidFill>
          <a:ln w="15240">
            <a:solidFill>
              <a:srgbClr val="EC4899"/>
            </a:solidFill>
            <a:prstDash val="solid"/>
          </a:ln>
        </p:spPr>
      </p:sp>
      <p:sp>
        <p:nvSpPr>
          <p:cNvPr id="37" name="Text 35"/>
          <p:cNvSpPr/>
          <p:nvPr/>
        </p:nvSpPr>
        <p:spPr>
          <a:xfrm>
            <a:off x="4818888" y="2496312"/>
            <a:ext cx="1828800" cy="201168"/>
          </a:xfrm>
          <a:prstGeom prst="rect">
            <a:avLst/>
          </a:prstGeom>
          <a:noFill/>
          <a:ln/>
        </p:spPr>
        <p:txBody>
          <a:bodyPr wrap="square" lIns="0" tIns="0" rIns="0" bIns="0" rtlCol="0" anchor="ctr"/>
          <a:lstStyle/>
          <a:p>
            <a:pPr algn="ctr" indent="0" marL="0">
              <a:buNone/>
            </a:pPr>
            <a:r>
              <a:rPr lang="en-US" sz="800" b="1" dirty="0">
                <a:solidFill>
                  <a:srgbClr val="EC4899"/>
                </a:solidFill>
              </a:rPr>
              <a:t>📋 KEY PATENT CLAIMS</a:t>
            </a:r>
            <a:endParaRPr lang="en-US" sz="800" dirty="0"/>
          </a:p>
        </p:txBody>
      </p:sp>
      <p:sp>
        <p:nvSpPr>
          <p:cNvPr id="38" name="Text 36"/>
          <p:cNvSpPr/>
          <p:nvPr/>
        </p:nvSpPr>
        <p:spPr>
          <a:xfrm>
            <a:off x="4818888" y="2715768"/>
            <a:ext cx="3931920" cy="1051560"/>
          </a:xfrm>
          <a:prstGeom prst="rect">
            <a:avLst/>
          </a:prstGeom>
          <a:noFill/>
          <a:ln/>
        </p:spPr>
        <p:txBody>
          <a:bodyPr wrap="square" lIns="25400" tIns="50800" rIns="0" bIns="0" rtlCol="0" anchor="ctr"/>
          <a:lstStyle/>
          <a:p>
            <a:pPr>
              <a:lnSpc>
                <a:spcPct val="130000"/>
              </a:lnSpc>
            </a:pPr>
            <a:r>
              <a:rPr lang="en-US" sz="850" dirty="0">
                <a:solidFill>
                  <a:srgbClr val="F8FAFC"/>
                </a:solidFill>
              </a:rPr>
              <a:t>Three-tier agent lifecycle with pioneer/intermediate/climax roles and automatic promotion based on task-maturity signals</a:t>
            </a:r>
            <a:endParaRPr lang="en-US" sz="850" dirty="0"/>
          </a:p>
          <a:p>
            <a:pPr>
              <a:lnSpc>
                <a:spcPct val="130000"/>
              </a:lnSpc>
            </a:pPr>
            <a:r>
              <a:rPr lang="en-US" sz="850" dirty="0">
                <a:solidFill>
                  <a:srgbClr val="F8FAFC"/>
                </a:solidFill>
              </a:rPr>
              <a:t>Keystone agent identification: agents whose removal would cause disproportionate system-wide degradation, given extra redundancy and monitoring</a:t>
            </a:r>
            <a:endParaRPr lang="en-US" sz="850" dirty="0"/>
          </a:p>
          <a:p>
            <a:pPr>
              <a:lnSpc>
                <a:spcPct val="130000"/>
              </a:lnSpc>
            </a:pPr>
            <a:r>
              <a:rPr lang="en-US" sz="850" dirty="0">
                <a:solidFill>
                  <a:srgbClr val="F8FAFC"/>
                </a:solidFill>
              </a:rPr>
              <a:t>Secondary succession protocol: when mature agents fail, restart from intermediate phase (not pioneer) when prior scaffold work is preserved</a:t>
            </a:r>
            <a:endParaRPr lang="en-US" sz="850" dirty="0"/>
          </a:p>
          <a:p>
            <a:pPr>
              <a:lnSpc>
                <a:spcPct val="130000"/>
              </a:lnSpc>
            </a:pPr>
            <a:r>
              <a:rPr lang="en-US" sz="850" dirty="0">
                <a:solidFill>
                  <a:srgbClr val="F8FAFC"/>
                </a:solidFill>
              </a:rPr>
              <a:t>Disturbance-regime controller: configurable disturbance frequency that prevents climax lock-in by periodically forcing re-exploration of task decompositions</a:t>
            </a:r>
            <a:endParaRPr lang="en-US" sz="850" dirty="0"/>
          </a:p>
        </p:txBody>
      </p:sp>
      <p:sp>
        <p:nvSpPr>
          <p:cNvPr id="39" name="Shape 37"/>
          <p:cNvSpPr/>
          <p:nvPr/>
        </p:nvSpPr>
        <p:spPr>
          <a:xfrm>
            <a:off x="4709160" y="3913632"/>
            <a:ext cx="4160520" cy="1152144"/>
          </a:xfrm>
          <a:prstGeom prst="roundRect">
            <a:avLst>
              <a:gd name="adj" fmla="val 5556"/>
            </a:avLst>
          </a:prstGeom>
          <a:solidFill>
            <a:srgbClr val="0D1117"/>
          </a:solidFill>
          <a:ln w="12700">
            <a:solidFill>
              <a:srgbClr val="EC4899"/>
            </a:solidFill>
            <a:prstDash val="solid"/>
          </a:ln>
        </p:spPr>
      </p:sp>
      <p:sp>
        <p:nvSpPr>
          <p:cNvPr id="40" name="Shape 38"/>
          <p:cNvSpPr/>
          <p:nvPr/>
        </p:nvSpPr>
        <p:spPr>
          <a:xfrm>
            <a:off x="4818888" y="3977640"/>
            <a:ext cx="2651760" cy="201168"/>
          </a:xfrm>
          <a:prstGeom prst="roundRect">
            <a:avLst>
              <a:gd name="adj" fmla="val 18182"/>
            </a:avLst>
          </a:prstGeom>
          <a:solidFill>
            <a:srgbClr val="111827"/>
          </a:solidFill>
          <a:ln w="15240">
            <a:solidFill>
              <a:srgbClr val="EC4899"/>
            </a:solidFill>
            <a:prstDash val="solid"/>
          </a:ln>
        </p:spPr>
      </p:sp>
      <p:sp>
        <p:nvSpPr>
          <p:cNvPr id="41" name="Text 39"/>
          <p:cNvSpPr/>
          <p:nvPr/>
        </p:nvSpPr>
        <p:spPr>
          <a:xfrm>
            <a:off x="4818888" y="3986784"/>
            <a:ext cx="2651760" cy="201168"/>
          </a:xfrm>
          <a:prstGeom prst="rect">
            <a:avLst/>
          </a:prstGeom>
          <a:noFill/>
          <a:ln/>
        </p:spPr>
        <p:txBody>
          <a:bodyPr wrap="square" lIns="0" tIns="0" rIns="0" bIns="0" rtlCol="0" anchor="ctr"/>
          <a:lstStyle/>
          <a:p>
            <a:pPr algn="ctr" indent="0" marL="0">
              <a:buNone/>
            </a:pPr>
            <a:r>
              <a:rPr lang="en-US" sz="800" b="1" dirty="0">
                <a:solidFill>
                  <a:srgbClr val="EC4899"/>
                </a:solidFill>
              </a:rPr>
              <a:t>🔍 DIFFERENTIATION FROM PRIOR ART</a:t>
            </a:r>
            <a:endParaRPr lang="en-US" sz="800" dirty="0"/>
          </a:p>
        </p:txBody>
      </p:sp>
      <p:sp>
        <p:nvSpPr>
          <p:cNvPr id="42" name="Text 40"/>
          <p:cNvSpPr/>
          <p:nvPr/>
        </p:nvSpPr>
        <p:spPr>
          <a:xfrm>
            <a:off x="4818888" y="4206240"/>
            <a:ext cx="3931920" cy="804672"/>
          </a:xfrm>
          <a:prstGeom prst="rect">
            <a:avLst/>
          </a:prstGeom>
          <a:noFill/>
          <a:ln/>
        </p:spPr>
        <p:txBody>
          <a:bodyPr wrap="square" lIns="25400" tIns="50800" rIns="0" bIns="0" rtlCol="0" anchor="ctr"/>
          <a:lstStyle/>
          <a:p>
            <a:pPr>
              <a:lnSpc>
                <a:spcPct val="130000"/>
              </a:lnSpc>
            </a:pPr>
            <a:r>
              <a:rPr lang="en-US" sz="850" dirty="0">
                <a:solidFill>
                  <a:srgbClr val="F8FAFC"/>
                </a:solidFill>
              </a:rPr>
              <a:t>AgentBench and similar frameworks use static agent types — no succession-based lifecycle</a:t>
            </a:r>
            <a:endParaRPr lang="en-US" sz="850" dirty="0"/>
          </a:p>
          <a:p>
            <a:pPr>
              <a:lnSpc>
                <a:spcPct val="130000"/>
              </a:lnSpc>
            </a:pPr>
            <a:r>
              <a:rPr lang="en-US" sz="850" dirty="0">
                <a:solidFill>
                  <a:srgbClr val="F8FAFC"/>
                </a:solidFill>
              </a:rPr>
              <a:t>EFE-gated tool selection: governs individual tool calls, not the full agent lifecycle across task maturity</a:t>
            </a:r>
            <a:endParaRPr lang="en-US" sz="850" dirty="0"/>
          </a:p>
          <a:p>
            <a:pPr>
              <a:lnSpc>
                <a:spcPct val="130000"/>
              </a:lnSpc>
            </a:pPr>
            <a:r>
              <a:rPr lang="en-US" sz="850" dirty="0">
                <a:solidFill>
                  <a:srgbClr val="F8FAFC"/>
                </a:solidFill>
              </a:rPr>
              <a:t>MAST taxonomy (arxiv:2605.03310): classifies 14 failure modes but proposes no succession-inspired lifecycle</a:t>
            </a:r>
            <a:endParaRPr lang="en-US" sz="850" dirty="0"/>
          </a:p>
          <a:p>
            <a:pPr>
              <a:lnSpc>
                <a:spcPct val="130000"/>
              </a:lnSpc>
            </a:pPr>
            <a:r>
              <a:rPr lang="en-US" sz="850" dirty="0">
                <a:solidFill>
                  <a:srgbClr val="F8FAFC"/>
                </a:solidFill>
              </a:rPr>
              <a:t>No patent or paper applies ecological succession dynamics to multi-agent lifecycle management</a:t>
            </a:r>
            <a:endParaRPr lang="en-US" sz="850" dirty="0"/>
          </a:p>
        </p:txBody>
      </p:sp>
      <p:sp>
        <p:nvSpPr>
          <p:cNvPr id="43" name="Text 41"/>
          <p:cNvSpPr/>
          <p:nvPr/>
        </p:nvSpPr>
        <p:spPr>
          <a:xfrm>
            <a:off x="8503920" y="4983480"/>
            <a:ext cx="457200" cy="164592"/>
          </a:xfrm>
          <a:prstGeom prst="rect">
            <a:avLst/>
          </a:prstGeom>
          <a:noFill/>
          <a:ln/>
        </p:spPr>
        <p:txBody>
          <a:bodyPr wrap="square" lIns="0" tIns="0" rIns="0" bIns="0" rtlCol="0" anchor="ctr"/>
          <a:lstStyle/>
          <a:p>
            <a:pPr algn="r" indent="0" marL="0">
              <a:buNone/>
            </a:pPr>
            <a:r>
              <a:rPr lang="en-US" sz="800" dirty="0">
                <a:solidFill>
                  <a:srgbClr val="94A3B8"/>
                </a:solidFill>
              </a:rPr>
              <a:t>5 / 10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A855F7"/>
          </a:solidFill>
          <a:ln w="12700">
            <a:solidFill>
              <a:srgbClr val="A855F7"/>
            </a:solidFill>
            <a:prstDash val="solid"/>
          </a:ln>
        </p:spPr>
      </p:sp>
      <p:sp>
        <p:nvSpPr>
          <p:cNvPr id="3" name="Shape 1"/>
          <p:cNvSpPr/>
          <p:nvPr/>
        </p:nvSpPr>
        <p:spPr>
          <a:xfrm>
            <a:off x="274320" y="91440"/>
            <a:ext cx="1325880" cy="347472"/>
          </a:xfrm>
          <a:prstGeom prst="roundRect">
            <a:avLst>
              <a:gd name="adj" fmla="val 15789"/>
            </a:avLst>
          </a:prstGeom>
          <a:solidFill>
            <a:srgbClr val="3B0764"/>
          </a:solidFill>
          <a:ln w="12700">
            <a:solidFill>
              <a:srgbClr val="A855F7"/>
            </a:solidFill>
            <a:prstDash val="solid"/>
          </a:ln>
        </p:spPr>
      </p:sp>
      <p:sp>
        <p:nvSpPr>
          <p:cNvPr id="4" name="Text 2"/>
          <p:cNvSpPr/>
          <p:nvPr/>
        </p:nvSpPr>
        <p:spPr>
          <a:xfrm>
            <a:off x="274320" y="91440"/>
            <a:ext cx="1325880" cy="347472"/>
          </a:xfrm>
          <a:prstGeom prst="rect">
            <a:avLst/>
          </a:prstGeom>
          <a:noFill/>
          <a:ln/>
        </p:spPr>
        <p:txBody>
          <a:bodyPr wrap="square" lIns="0" tIns="0" rIns="0" bIns="0" rtlCol="0" anchor="ctr"/>
          <a:lstStyle/>
          <a:p>
            <a:pPr algn="ctr" indent="0" marL="0">
              <a:buNone/>
            </a:pPr>
            <a:r>
              <a:rPr lang="en-US" sz="900" b="1" dirty="0">
                <a:solidFill>
                  <a:srgbClr val="A855F7"/>
                </a:solidFill>
              </a:rPr>
              <a:t>Patent Idea #6</a:t>
            </a:r>
            <a:endParaRPr lang="en-US" sz="900" dirty="0"/>
          </a:p>
        </p:txBody>
      </p:sp>
      <p:sp>
        <p:nvSpPr>
          <p:cNvPr id="5" name="Text 3"/>
          <p:cNvSpPr/>
          <p:nvPr/>
        </p:nvSpPr>
        <p:spPr>
          <a:xfrm>
            <a:off x="1691640" y="91440"/>
            <a:ext cx="7132320" cy="274320"/>
          </a:xfrm>
          <a:prstGeom prst="rect">
            <a:avLst/>
          </a:prstGeom>
          <a:noFill/>
          <a:ln/>
        </p:spPr>
        <p:txBody>
          <a:bodyPr wrap="square" lIns="0" tIns="0" rIns="0" bIns="0" rtlCol="0" anchor="ctr"/>
          <a:lstStyle/>
          <a:p>
            <a:pPr indent="0" marL="0">
              <a:buNone/>
            </a:pPr>
            <a:r>
              <a:rPr lang="en-US" sz="1450" b="1" dirty="0">
                <a:solidFill>
                  <a:srgbClr val="FFFFFF"/>
                </a:solidFill>
              </a:rPr>
              <a:t>Epigenetic Memory Gating with Methylation-Analog Silencing (EMGMS)</a:t>
            </a:r>
            <a:endParaRPr lang="en-US" sz="1450" dirty="0"/>
          </a:p>
        </p:txBody>
      </p:sp>
      <p:sp>
        <p:nvSpPr>
          <p:cNvPr id="6" name="Text 4"/>
          <p:cNvSpPr/>
          <p:nvPr/>
        </p:nvSpPr>
        <p:spPr>
          <a:xfrm>
            <a:off x="1691640" y="384048"/>
            <a:ext cx="7132320" cy="182880"/>
          </a:xfrm>
          <a:prstGeom prst="rect">
            <a:avLst/>
          </a:prstGeom>
          <a:noFill/>
          <a:ln/>
        </p:spPr>
        <p:txBody>
          <a:bodyPr wrap="square" lIns="0" tIns="0" rIns="0" bIns="0" rtlCol="0" anchor="t"/>
          <a:lstStyle/>
          <a:p>
            <a:pPr indent="0" marL="0">
              <a:buNone/>
            </a:pPr>
            <a:r>
              <a:rPr lang="en-US" sz="900" dirty="0">
                <a:solidFill>
                  <a:srgbClr val="94A3B8"/>
                </a:solidFill>
              </a:rPr>
              <a:t>Context-dependent gene-expression logic gates selectively silence and re-express agent memory based on task context</a:t>
            </a:r>
            <a:endParaRPr lang="en-US" sz="900" dirty="0"/>
          </a:p>
        </p:txBody>
      </p:sp>
      <p:sp>
        <p:nvSpPr>
          <p:cNvPr id="7" name="Shape 5"/>
          <p:cNvSpPr/>
          <p:nvPr/>
        </p:nvSpPr>
        <p:spPr>
          <a:xfrm>
            <a:off x="1691640" y="594360"/>
            <a:ext cx="907085" cy="201168"/>
          </a:xfrm>
          <a:prstGeom prst="roundRect">
            <a:avLst>
              <a:gd name="adj" fmla="val 18182"/>
            </a:avLst>
          </a:prstGeom>
          <a:solidFill>
            <a:srgbClr val="3B0764"/>
          </a:solidFill>
          <a:ln w="12700">
            <a:solidFill>
              <a:srgbClr val="3B0764"/>
            </a:solidFill>
            <a:prstDash val="solid"/>
          </a:ln>
        </p:spPr>
      </p:sp>
      <p:sp>
        <p:nvSpPr>
          <p:cNvPr id="8" name="Text 6"/>
          <p:cNvSpPr/>
          <p:nvPr/>
        </p:nvSpPr>
        <p:spPr>
          <a:xfrm>
            <a:off x="1691640" y="594360"/>
            <a:ext cx="907085" cy="201168"/>
          </a:xfrm>
          <a:prstGeom prst="rect">
            <a:avLst/>
          </a:prstGeom>
          <a:noFill/>
          <a:ln/>
        </p:spPr>
        <p:txBody>
          <a:bodyPr wrap="square" lIns="0" tIns="0" rIns="0" bIns="0" rtlCol="0" anchor="ctr"/>
          <a:lstStyle/>
          <a:p>
            <a:pPr algn="ctr" indent="0" marL="0">
              <a:buNone/>
            </a:pPr>
            <a:r>
              <a:rPr lang="en-US" sz="800" b="1" dirty="0">
                <a:solidFill>
                  <a:srgbClr val="A855F7"/>
                </a:solidFill>
              </a:rPr>
              <a:t>Epigenetics</a:t>
            </a:r>
            <a:endParaRPr lang="en-US" sz="800" dirty="0"/>
          </a:p>
        </p:txBody>
      </p:sp>
      <p:sp>
        <p:nvSpPr>
          <p:cNvPr id="9" name="Shape 7"/>
          <p:cNvSpPr/>
          <p:nvPr/>
        </p:nvSpPr>
        <p:spPr>
          <a:xfrm>
            <a:off x="2690165" y="594360"/>
            <a:ext cx="1170432" cy="201168"/>
          </a:xfrm>
          <a:prstGeom prst="roundRect">
            <a:avLst>
              <a:gd name="adj" fmla="val 18182"/>
            </a:avLst>
          </a:prstGeom>
          <a:solidFill>
            <a:srgbClr val="3B0764"/>
          </a:solidFill>
          <a:ln w="12700">
            <a:solidFill>
              <a:srgbClr val="3B0764"/>
            </a:solidFill>
            <a:prstDash val="solid"/>
          </a:ln>
        </p:spPr>
      </p:sp>
      <p:sp>
        <p:nvSpPr>
          <p:cNvPr id="10" name="Text 8"/>
          <p:cNvSpPr/>
          <p:nvPr/>
        </p:nvSpPr>
        <p:spPr>
          <a:xfrm>
            <a:off x="2690165" y="594360"/>
            <a:ext cx="1170432" cy="201168"/>
          </a:xfrm>
          <a:prstGeom prst="rect">
            <a:avLst/>
          </a:prstGeom>
          <a:noFill/>
          <a:ln/>
        </p:spPr>
        <p:txBody>
          <a:bodyPr wrap="square" lIns="0" tIns="0" rIns="0" bIns="0" rtlCol="0" anchor="ctr"/>
          <a:lstStyle/>
          <a:p>
            <a:pPr algn="ctr" indent="0" marL="0">
              <a:buNone/>
            </a:pPr>
            <a:r>
              <a:rPr lang="en-US" sz="800" b="1" dirty="0">
                <a:solidFill>
                  <a:srgbClr val="A855F7"/>
                </a:solidFill>
              </a:rPr>
              <a:t>Gene Regulation</a:t>
            </a:r>
            <a:endParaRPr lang="en-US" sz="800" dirty="0"/>
          </a:p>
        </p:txBody>
      </p:sp>
      <p:sp>
        <p:nvSpPr>
          <p:cNvPr id="11" name="Shape 9"/>
          <p:cNvSpPr/>
          <p:nvPr/>
        </p:nvSpPr>
        <p:spPr>
          <a:xfrm>
            <a:off x="3952037" y="594360"/>
            <a:ext cx="1170432" cy="201168"/>
          </a:xfrm>
          <a:prstGeom prst="roundRect">
            <a:avLst>
              <a:gd name="adj" fmla="val 18182"/>
            </a:avLst>
          </a:prstGeom>
          <a:solidFill>
            <a:srgbClr val="3B0764"/>
          </a:solidFill>
          <a:ln w="12700">
            <a:solidFill>
              <a:srgbClr val="3B0764"/>
            </a:solidFill>
            <a:prstDash val="solid"/>
          </a:ln>
        </p:spPr>
      </p:sp>
      <p:sp>
        <p:nvSpPr>
          <p:cNvPr id="12" name="Text 10"/>
          <p:cNvSpPr/>
          <p:nvPr/>
        </p:nvSpPr>
        <p:spPr>
          <a:xfrm>
            <a:off x="3952037" y="594360"/>
            <a:ext cx="1170432" cy="201168"/>
          </a:xfrm>
          <a:prstGeom prst="rect">
            <a:avLst/>
          </a:prstGeom>
          <a:noFill/>
          <a:ln/>
        </p:spPr>
        <p:txBody>
          <a:bodyPr wrap="square" lIns="0" tIns="0" rIns="0" bIns="0" rtlCol="0" anchor="ctr"/>
          <a:lstStyle/>
          <a:p>
            <a:pPr algn="ctr" indent="0" marL="0">
              <a:buNone/>
            </a:pPr>
            <a:r>
              <a:rPr lang="en-US" sz="800" b="1" dirty="0">
                <a:solidFill>
                  <a:srgbClr val="A855F7"/>
                </a:solidFill>
              </a:rPr>
              <a:t>DNA Methylation</a:t>
            </a:r>
            <a:endParaRPr lang="en-US" sz="800" dirty="0"/>
          </a:p>
        </p:txBody>
      </p:sp>
      <p:sp>
        <p:nvSpPr>
          <p:cNvPr id="13" name="Shape 11"/>
          <p:cNvSpPr/>
          <p:nvPr/>
        </p:nvSpPr>
        <p:spPr>
          <a:xfrm>
            <a:off x="5213909" y="594360"/>
            <a:ext cx="1565453" cy="201168"/>
          </a:xfrm>
          <a:prstGeom prst="roundRect">
            <a:avLst>
              <a:gd name="adj" fmla="val 18182"/>
            </a:avLst>
          </a:prstGeom>
          <a:solidFill>
            <a:srgbClr val="3B0764"/>
          </a:solidFill>
          <a:ln w="12700">
            <a:solidFill>
              <a:srgbClr val="3B0764"/>
            </a:solidFill>
            <a:prstDash val="solid"/>
          </a:ln>
        </p:spPr>
      </p:sp>
      <p:sp>
        <p:nvSpPr>
          <p:cNvPr id="14" name="Text 12"/>
          <p:cNvSpPr/>
          <p:nvPr/>
        </p:nvSpPr>
        <p:spPr>
          <a:xfrm>
            <a:off x="5213909" y="594360"/>
            <a:ext cx="1565453" cy="201168"/>
          </a:xfrm>
          <a:prstGeom prst="rect">
            <a:avLst/>
          </a:prstGeom>
          <a:noFill/>
          <a:ln/>
        </p:spPr>
        <p:txBody>
          <a:bodyPr wrap="square" lIns="0" tIns="0" rIns="0" bIns="0" rtlCol="0" anchor="ctr"/>
          <a:lstStyle/>
          <a:p>
            <a:pPr algn="ctr" indent="0" marL="0">
              <a:buNone/>
            </a:pPr>
            <a:r>
              <a:rPr lang="en-US" sz="800" b="1" dirty="0">
                <a:solidFill>
                  <a:srgbClr val="A855F7"/>
                </a:solidFill>
              </a:rPr>
              <a:t>Chromatin Remodelling</a:t>
            </a:r>
            <a:endParaRPr lang="en-US" sz="800" dirty="0"/>
          </a:p>
        </p:txBody>
      </p:sp>
      <p:sp>
        <p:nvSpPr>
          <p:cNvPr id="15" name="Shape 13"/>
          <p:cNvSpPr/>
          <p:nvPr/>
        </p:nvSpPr>
        <p:spPr>
          <a:xfrm>
            <a:off x="274320" y="868680"/>
            <a:ext cx="1389888" cy="658368"/>
          </a:xfrm>
          <a:prstGeom prst="roundRect">
            <a:avLst>
              <a:gd name="adj" fmla="val 9722"/>
            </a:avLst>
          </a:prstGeom>
          <a:solidFill>
            <a:srgbClr val="064E3B"/>
          </a:solidFill>
          <a:ln w="19050">
            <a:solidFill>
              <a:srgbClr val="34D399"/>
            </a:solidFill>
            <a:prstDash val="solid"/>
          </a:ln>
        </p:spPr>
      </p:sp>
      <p:sp>
        <p:nvSpPr>
          <p:cNvPr id="16" name="Text 14"/>
          <p:cNvSpPr/>
          <p:nvPr/>
        </p:nvSpPr>
        <p:spPr>
          <a:xfrm>
            <a:off x="27432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ACCEPTANCE</a:t>
            </a:r>
            <a:endParaRPr lang="en-US" sz="750" dirty="0"/>
          </a:p>
        </p:txBody>
      </p:sp>
      <p:sp>
        <p:nvSpPr>
          <p:cNvPr id="17" name="Text 15"/>
          <p:cNvSpPr/>
          <p:nvPr/>
        </p:nvSpPr>
        <p:spPr>
          <a:xfrm>
            <a:off x="27432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80%</a:t>
            </a:r>
            <a:endParaRPr lang="en-US" sz="2000" dirty="0"/>
          </a:p>
        </p:txBody>
      </p:sp>
      <p:sp>
        <p:nvSpPr>
          <p:cNvPr id="18" name="Shape 16"/>
          <p:cNvSpPr/>
          <p:nvPr/>
        </p:nvSpPr>
        <p:spPr>
          <a:xfrm>
            <a:off x="1828800" y="868680"/>
            <a:ext cx="1389888" cy="658368"/>
          </a:xfrm>
          <a:prstGeom prst="roundRect">
            <a:avLst>
              <a:gd name="adj" fmla="val 9722"/>
            </a:avLst>
          </a:prstGeom>
          <a:solidFill>
            <a:srgbClr val="064E3B"/>
          </a:solidFill>
          <a:ln w="19050">
            <a:solidFill>
              <a:srgbClr val="34D399"/>
            </a:solidFill>
            <a:prstDash val="solid"/>
          </a:ln>
        </p:spPr>
      </p:sp>
      <p:sp>
        <p:nvSpPr>
          <p:cNvPr id="19" name="Text 17"/>
          <p:cNvSpPr/>
          <p:nvPr/>
        </p:nvSpPr>
        <p:spPr>
          <a:xfrm>
            <a:off x="182880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OVERLAP</a:t>
            </a:r>
            <a:endParaRPr lang="en-US" sz="750" dirty="0"/>
          </a:p>
        </p:txBody>
      </p:sp>
      <p:sp>
        <p:nvSpPr>
          <p:cNvPr id="20" name="Text 18"/>
          <p:cNvSpPr/>
          <p:nvPr/>
        </p:nvSpPr>
        <p:spPr>
          <a:xfrm>
            <a:off x="182880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9%</a:t>
            </a:r>
            <a:endParaRPr lang="en-US" sz="2000" dirty="0"/>
          </a:p>
        </p:txBody>
      </p:sp>
      <p:sp>
        <p:nvSpPr>
          <p:cNvPr id="21" name="Shape 19"/>
          <p:cNvSpPr/>
          <p:nvPr/>
        </p:nvSpPr>
        <p:spPr>
          <a:xfrm>
            <a:off x="3383280" y="868680"/>
            <a:ext cx="1389888" cy="658368"/>
          </a:xfrm>
          <a:prstGeom prst="roundRect">
            <a:avLst>
              <a:gd name="adj" fmla="val 9722"/>
            </a:avLst>
          </a:prstGeom>
          <a:solidFill>
            <a:srgbClr val="2D1B69"/>
          </a:solidFill>
          <a:ln w="19050">
            <a:solidFill>
              <a:srgbClr val="A78BFA"/>
            </a:solidFill>
            <a:prstDash val="solid"/>
          </a:ln>
        </p:spPr>
      </p:sp>
      <p:sp>
        <p:nvSpPr>
          <p:cNvPr id="22" name="Text 20"/>
          <p:cNvSpPr/>
          <p:nvPr/>
        </p:nvSpPr>
        <p:spPr>
          <a:xfrm>
            <a:off x="3383280" y="905256"/>
            <a:ext cx="1389888" cy="219456"/>
          </a:xfrm>
          <a:prstGeom prst="rect">
            <a:avLst/>
          </a:prstGeom>
          <a:noFill/>
          <a:ln/>
        </p:spPr>
        <p:txBody>
          <a:bodyPr wrap="square" lIns="0" tIns="0" rIns="0" bIns="0" rtlCol="0" anchor="ctr"/>
          <a:lstStyle/>
          <a:p>
            <a:pPr algn="ctr" indent="0" marL="0">
              <a:buNone/>
            </a:pPr>
            <a:r>
              <a:rPr lang="en-US" sz="750" b="1" dirty="0">
                <a:solidFill>
                  <a:srgbClr val="A78BFA"/>
                </a:solidFill>
              </a:rPr>
              <a:t>EST. NOVELTY</a:t>
            </a:r>
            <a:endParaRPr lang="en-US" sz="750" dirty="0"/>
          </a:p>
        </p:txBody>
      </p:sp>
      <p:sp>
        <p:nvSpPr>
          <p:cNvPr id="23" name="Text 21"/>
          <p:cNvSpPr/>
          <p:nvPr/>
        </p:nvSpPr>
        <p:spPr>
          <a:xfrm>
            <a:off x="3383280" y="1124712"/>
            <a:ext cx="1389888" cy="347472"/>
          </a:xfrm>
          <a:prstGeom prst="rect">
            <a:avLst/>
          </a:prstGeom>
          <a:noFill/>
          <a:ln/>
        </p:spPr>
        <p:txBody>
          <a:bodyPr wrap="square" lIns="0" tIns="0" rIns="0" bIns="0" rtlCol="0" anchor="ctr"/>
          <a:lstStyle/>
          <a:p>
            <a:pPr algn="ctr" indent="0" marL="0">
              <a:buNone/>
            </a:pPr>
            <a:r>
              <a:rPr lang="en-US" sz="2000" b="1" dirty="0">
                <a:solidFill>
                  <a:srgbClr val="A78BFA"/>
                </a:solidFill>
              </a:rPr>
              <a:t>91%</a:t>
            </a:r>
            <a:endParaRPr lang="en-US" sz="2000" dirty="0"/>
          </a:p>
        </p:txBody>
      </p:sp>
      <p:sp>
        <p:nvSpPr>
          <p:cNvPr id="24" name="Shape 22"/>
          <p:cNvSpPr/>
          <p:nvPr/>
        </p:nvSpPr>
        <p:spPr>
          <a:xfrm>
            <a:off x="274320" y="1627632"/>
            <a:ext cx="8595360" cy="685800"/>
          </a:xfrm>
          <a:prstGeom prst="roundRect">
            <a:avLst>
              <a:gd name="adj" fmla="val 9333"/>
            </a:avLst>
          </a:prstGeom>
          <a:solidFill>
            <a:srgbClr val="3B0764"/>
          </a:solidFill>
          <a:ln w="12700">
            <a:solidFill>
              <a:srgbClr val="A855F7"/>
            </a:solidFill>
            <a:prstDash val="solid"/>
          </a:ln>
        </p:spPr>
      </p:sp>
      <p:sp>
        <p:nvSpPr>
          <p:cNvPr id="25" name="Text 23"/>
          <p:cNvSpPr/>
          <p:nvPr/>
        </p:nvSpPr>
        <p:spPr>
          <a:xfrm>
            <a:off x="402336" y="1682496"/>
            <a:ext cx="2011680" cy="201168"/>
          </a:xfrm>
          <a:prstGeom prst="rect">
            <a:avLst/>
          </a:prstGeom>
          <a:noFill/>
          <a:ln/>
        </p:spPr>
        <p:txBody>
          <a:bodyPr wrap="square" lIns="0" tIns="0" rIns="0" bIns="0" rtlCol="0" anchor="ctr"/>
          <a:lstStyle/>
          <a:p>
            <a:pPr indent="0" marL="0">
              <a:buNone/>
            </a:pPr>
            <a:r>
              <a:rPr lang="en-US" sz="850" b="1" dirty="0">
                <a:solidFill>
                  <a:srgbClr val="A855F7"/>
                </a:solidFill>
              </a:rPr>
              <a:t>💡 Cross-Domain Insight</a:t>
            </a:r>
            <a:endParaRPr lang="en-US" sz="850" dirty="0"/>
          </a:p>
        </p:txBody>
      </p:sp>
      <p:sp>
        <p:nvSpPr>
          <p:cNvPr id="26" name="Text 24"/>
          <p:cNvSpPr/>
          <p:nvPr/>
        </p:nvSpPr>
        <p:spPr>
          <a:xfrm>
            <a:off x="402336" y="1865376"/>
            <a:ext cx="8321040" cy="402336"/>
          </a:xfrm>
          <a:prstGeom prst="rect">
            <a:avLst/>
          </a:prstGeom>
          <a:noFill/>
          <a:ln/>
        </p:spPr>
        <p:txBody>
          <a:bodyPr wrap="square" lIns="0" tIns="0" rIns="0" bIns="0" rtlCol="0" anchor="ctr"/>
          <a:lstStyle/>
          <a:p>
            <a:pPr indent="0" marL="0">
              <a:lnSpc>
                <a:spcPct val="125000"/>
              </a:lnSpc>
              <a:buNone/>
            </a:pPr>
            <a:r>
              <a:rPr lang="en-US" sz="900" dirty="0">
                <a:solidFill>
                  <a:srgbClr val="F8FAFC"/>
                </a:solidFill>
              </a:rPr>
              <a:t>Epigenetic regulation: the same DNA sequence is expressed differently in different cell types because methyl groups silence certain genes without deleting them. The silenced genes can be re-expressed by demethylation. Applied to agent memory: the same stored knowledge is selectively accessible or silenced based on task context — without deletion.</a:t>
            </a:r>
            <a:endParaRPr lang="en-US" sz="900" dirty="0"/>
          </a:p>
        </p:txBody>
      </p:sp>
      <p:sp>
        <p:nvSpPr>
          <p:cNvPr id="27" name="Shape 25"/>
          <p:cNvSpPr/>
          <p:nvPr/>
        </p:nvSpPr>
        <p:spPr>
          <a:xfrm>
            <a:off x="274320" y="2423160"/>
            <a:ext cx="4160520" cy="1188720"/>
          </a:xfrm>
          <a:prstGeom prst="roundRect">
            <a:avLst>
              <a:gd name="adj" fmla="val 5385"/>
            </a:avLst>
          </a:prstGeom>
          <a:solidFill>
            <a:srgbClr val="1A2235"/>
          </a:solidFill>
          <a:ln w="6350">
            <a:solidFill>
              <a:srgbClr val="2D3748"/>
            </a:solidFill>
            <a:prstDash val="solid"/>
          </a:ln>
        </p:spPr>
      </p:sp>
      <p:sp>
        <p:nvSpPr>
          <p:cNvPr id="28" name="Shape 26"/>
          <p:cNvSpPr/>
          <p:nvPr/>
        </p:nvSpPr>
        <p:spPr>
          <a:xfrm>
            <a:off x="384048" y="2487168"/>
            <a:ext cx="1737360" cy="201168"/>
          </a:xfrm>
          <a:prstGeom prst="roundRect">
            <a:avLst>
              <a:gd name="adj" fmla="val 18182"/>
            </a:avLst>
          </a:prstGeom>
          <a:solidFill>
            <a:srgbClr val="111827"/>
          </a:solidFill>
          <a:ln w="15240">
            <a:solidFill>
              <a:srgbClr val="A855F7"/>
            </a:solidFill>
            <a:prstDash val="solid"/>
          </a:ln>
        </p:spPr>
      </p:sp>
      <p:sp>
        <p:nvSpPr>
          <p:cNvPr id="29" name="Text 27"/>
          <p:cNvSpPr/>
          <p:nvPr/>
        </p:nvSpPr>
        <p:spPr>
          <a:xfrm>
            <a:off x="384048" y="2496312"/>
            <a:ext cx="1737360" cy="201168"/>
          </a:xfrm>
          <a:prstGeom prst="rect">
            <a:avLst/>
          </a:prstGeom>
          <a:noFill/>
          <a:ln/>
        </p:spPr>
        <p:txBody>
          <a:bodyPr wrap="square" lIns="0" tIns="0" rIns="0" bIns="0" rtlCol="0" anchor="ctr"/>
          <a:lstStyle/>
          <a:p>
            <a:pPr algn="ctr" indent="0" marL="0">
              <a:buNone/>
            </a:pPr>
            <a:r>
              <a:rPr lang="en-US" sz="800" b="1" dirty="0">
                <a:solidFill>
                  <a:srgbClr val="A855F7"/>
                </a:solidFill>
              </a:rPr>
              <a:t>⚡ PROBLEM SOLVED</a:t>
            </a:r>
            <a:endParaRPr lang="en-US" sz="800" dirty="0"/>
          </a:p>
        </p:txBody>
      </p:sp>
      <p:sp>
        <p:nvSpPr>
          <p:cNvPr id="30" name="Text 28"/>
          <p:cNvSpPr/>
          <p:nvPr/>
        </p:nvSpPr>
        <p:spPr>
          <a:xfrm>
            <a:off x="384048" y="2715768"/>
            <a:ext cx="3931920" cy="822960"/>
          </a:xfrm>
          <a:prstGeom prst="rect">
            <a:avLst/>
          </a:prstGeom>
          <a:noFill/>
          <a:ln/>
        </p:spPr>
        <p:txBody>
          <a:bodyPr wrap="square" lIns="0" tIns="0" rIns="0" bIns="0" rtlCol="0" anchor="ctr"/>
          <a:lstStyle/>
          <a:p>
            <a:pPr indent="0" marL="0">
              <a:lnSpc>
                <a:spcPct val="130000"/>
              </a:lnSpc>
              <a:buNone/>
            </a:pPr>
            <a:r>
              <a:rPr lang="en-US" sz="900" dirty="0">
                <a:solidFill>
                  <a:srgbClr val="94A3B8"/>
                </a:solidFill>
              </a:rPr>
              <a:t>Agent memory systems either retrieve everything (overload) or use semantic similarity for filtering (misses contextually-relevant but semantically-distant memories). There is no mechanism for context-specific gating that mirrors how cellular context governs gene expression.</a:t>
            </a:r>
            <a:endParaRPr lang="en-US" sz="900" dirty="0"/>
          </a:p>
        </p:txBody>
      </p:sp>
      <p:sp>
        <p:nvSpPr>
          <p:cNvPr id="31" name="Shape 29"/>
          <p:cNvSpPr/>
          <p:nvPr/>
        </p:nvSpPr>
        <p:spPr>
          <a:xfrm>
            <a:off x="274320" y="3675888"/>
            <a:ext cx="4160520" cy="1389888"/>
          </a:xfrm>
          <a:prstGeom prst="roundRect">
            <a:avLst>
              <a:gd name="adj" fmla="val 4605"/>
            </a:avLst>
          </a:prstGeom>
          <a:solidFill>
            <a:srgbClr val="1A2235"/>
          </a:solidFill>
          <a:ln w="6350">
            <a:solidFill>
              <a:srgbClr val="2D3748"/>
            </a:solidFill>
            <a:prstDash val="solid"/>
          </a:ln>
        </p:spPr>
      </p:sp>
      <p:sp>
        <p:nvSpPr>
          <p:cNvPr id="32" name="Shape 30"/>
          <p:cNvSpPr/>
          <p:nvPr/>
        </p:nvSpPr>
        <p:spPr>
          <a:xfrm>
            <a:off x="384048" y="3739896"/>
            <a:ext cx="2743200" cy="201168"/>
          </a:xfrm>
          <a:prstGeom prst="roundRect">
            <a:avLst>
              <a:gd name="adj" fmla="val 18182"/>
            </a:avLst>
          </a:prstGeom>
          <a:solidFill>
            <a:srgbClr val="111827"/>
          </a:solidFill>
          <a:ln w="15240">
            <a:solidFill>
              <a:srgbClr val="333333"/>
            </a:solidFill>
            <a:prstDash val="solid"/>
          </a:ln>
        </p:spPr>
      </p:sp>
      <p:sp>
        <p:nvSpPr>
          <p:cNvPr id="33" name="Text 31"/>
          <p:cNvSpPr/>
          <p:nvPr/>
        </p:nvSpPr>
        <p:spPr>
          <a:xfrm>
            <a:off x="384048" y="3749040"/>
            <a:ext cx="2743200" cy="201168"/>
          </a:xfrm>
          <a:prstGeom prst="rect">
            <a:avLst/>
          </a:prstGeom>
          <a:noFill/>
          <a:ln/>
        </p:spPr>
        <p:txBody>
          <a:bodyPr wrap="square" lIns="0" tIns="0" rIns="0" bIns="0" rtlCol="0" anchor="ctr"/>
          <a:lstStyle/>
          <a:p>
            <a:pPr algn="ctr" indent="0" marL="0">
              <a:buNone/>
            </a:pPr>
            <a:r>
              <a:rPr lang="en-US" sz="800" b="1" dirty="0">
                <a:solidFill>
                  <a:srgbClr val="000000"/>
                </a:solidFill>
              </a:rPr>
              <a:t>🔬 NOVEL APPROACH (NUMBERED STEPS)</a:t>
            </a:r>
            <a:endParaRPr lang="en-US" sz="800" dirty="0"/>
          </a:p>
        </p:txBody>
      </p:sp>
      <p:sp>
        <p:nvSpPr>
          <p:cNvPr id="34" name="Text 32"/>
          <p:cNvSpPr/>
          <p:nvPr/>
        </p:nvSpPr>
        <p:spPr>
          <a:xfrm>
            <a:off x="384048" y="3977640"/>
            <a:ext cx="3931920" cy="1024128"/>
          </a:xfrm>
          <a:prstGeom prst="rect">
            <a:avLst/>
          </a:prstGeom>
          <a:noFill/>
          <a:ln/>
        </p:spPr>
        <p:txBody>
          <a:bodyPr wrap="square" lIns="25400" tIns="50800" rIns="0" bIns="0" rtlCol="0" anchor="ctr"/>
          <a:lstStyle/>
          <a:p>
            <a:pPr marL="342900" indent="-342900">
              <a:lnSpc>
                <a:spcPct val="130000"/>
              </a:lnSpc>
              <a:buSzPct val="100000"/>
              <a:buFont typeface="+mj-lt"/>
              <a:buAutoNum type="arabicPeriod" startAt="1"/>
            </a:pPr>
            <a:r>
              <a:rPr lang="en-US" sz="850" dirty="0">
                <a:solidFill>
                  <a:srgbClr val="F8FAFC"/>
                </a:solidFill>
              </a:rPr>
              <a:t>Memory methylation: each memory chunk receives a context-tag vector; when the current task context differs from the tag, a methylation-analog bit silences the chunk from retrieval</a:t>
            </a:r>
            <a:endParaRPr lang="en-US" sz="850" dirty="0"/>
          </a:p>
          <a:p>
            <a:pPr marL="342900" indent="-342900">
              <a:lnSpc>
                <a:spcPct val="130000"/>
              </a:lnSpc>
              <a:buSzPct val="100000"/>
              <a:buFont typeface="+mj-lt"/>
              <a:buAutoNum type="arabicPeriod" startAt="1"/>
            </a:pPr>
            <a:r>
              <a:rPr lang="en-US" sz="850" dirty="0">
                <a:solidFill>
                  <a:srgbClr val="F8FAFC"/>
                </a:solidFill>
              </a:rPr>
              <a:t>Demethylation triggers: when a reasoning step produces surprise (low confidence output), the system demethylates chunks tagged with adjacent context vectors — expanding the active memory set</a:t>
            </a:r>
            <a:endParaRPr lang="en-US" sz="850" dirty="0"/>
          </a:p>
          <a:p>
            <a:pPr marL="342900" indent="-342900">
              <a:lnSpc>
                <a:spcPct val="130000"/>
              </a:lnSpc>
              <a:buSzPct val="100000"/>
              <a:buFont typeface="+mj-lt"/>
              <a:buAutoNum type="arabicPeriod" startAt="1"/>
            </a:pPr>
            <a:r>
              <a:rPr lang="en-US" sz="850" dirty="0">
                <a:solidFill>
                  <a:srgbClr val="F8FAFC"/>
                </a:solidFill>
              </a:rPr>
              <a:t>Chromatin-remodelling analog: memory consolidation periodically re-evaluates all methylation tags based on recent task contexts, promoting frequently-used chunks to unmethylated 'open chromatin' state</a:t>
            </a:r>
            <a:endParaRPr lang="en-US" sz="850" dirty="0"/>
          </a:p>
          <a:p>
            <a:pPr marL="342900" indent="-342900">
              <a:lnSpc>
                <a:spcPct val="130000"/>
              </a:lnSpc>
              <a:buSzPct val="100000"/>
              <a:buFont typeface="+mj-lt"/>
              <a:buAutoNum type="arabicPeriod" startAt="1"/>
            </a:pPr>
            <a:r>
              <a:rPr lang="en-US" sz="850" dirty="0">
                <a:solidFill>
                  <a:srgbClr val="F8FAFC"/>
                </a:solidFill>
              </a:rPr>
              <a:t>Imprinting: certain safety-critical memory chunks are permanently methylated (silenced) during task-irrelevant phases but permanently unmethylated (always active) regardless of context</a:t>
            </a:r>
            <a:endParaRPr lang="en-US" sz="850" dirty="0"/>
          </a:p>
        </p:txBody>
      </p:sp>
      <p:sp>
        <p:nvSpPr>
          <p:cNvPr id="35" name="Shape 33"/>
          <p:cNvSpPr/>
          <p:nvPr/>
        </p:nvSpPr>
        <p:spPr>
          <a:xfrm>
            <a:off x="4709160" y="2423160"/>
            <a:ext cx="4160520" cy="1417320"/>
          </a:xfrm>
          <a:prstGeom prst="roundRect">
            <a:avLst>
              <a:gd name="adj" fmla="val 4516"/>
            </a:avLst>
          </a:prstGeom>
          <a:solidFill>
            <a:srgbClr val="1A2235"/>
          </a:solidFill>
          <a:ln w="6350">
            <a:solidFill>
              <a:srgbClr val="2D3748"/>
            </a:solidFill>
            <a:prstDash val="solid"/>
          </a:ln>
        </p:spPr>
      </p:sp>
      <p:sp>
        <p:nvSpPr>
          <p:cNvPr id="36" name="Shape 34"/>
          <p:cNvSpPr/>
          <p:nvPr/>
        </p:nvSpPr>
        <p:spPr>
          <a:xfrm>
            <a:off x="4818888" y="2487168"/>
            <a:ext cx="1828800" cy="201168"/>
          </a:xfrm>
          <a:prstGeom prst="roundRect">
            <a:avLst>
              <a:gd name="adj" fmla="val 18182"/>
            </a:avLst>
          </a:prstGeom>
          <a:solidFill>
            <a:srgbClr val="111827"/>
          </a:solidFill>
          <a:ln w="15240">
            <a:solidFill>
              <a:srgbClr val="A855F7"/>
            </a:solidFill>
            <a:prstDash val="solid"/>
          </a:ln>
        </p:spPr>
      </p:sp>
      <p:sp>
        <p:nvSpPr>
          <p:cNvPr id="37" name="Text 35"/>
          <p:cNvSpPr/>
          <p:nvPr/>
        </p:nvSpPr>
        <p:spPr>
          <a:xfrm>
            <a:off x="4818888" y="2496312"/>
            <a:ext cx="1828800" cy="201168"/>
          </a:xfrm>
          <a:prstGeom prst="rect">
            <a:avLst/>
          </a:prstGeom>
          <a:noFill/>
          <a:ln/>
        </p:spPr>
        <p:txBody>
          <a:bodyPr wrap="square" lIns="0" tIns="0" rIns="0" bIns="0" rtlCol="0" anchor="ctr"/>
          <a:lstStyle/>
          <a:p>
            <a:pPr algn="ctr" indent="0" marL="0">
              <a:buNone/>
            </a:pPr>
            <a:r>
              <a:rPr lang="en-US" sz="800" b="1" dirty="0">
                <a:solidFill>
                  <a:srgbClr val="A855F7"/>
                </a:solidFill>
              </a:rPr>
              <a:t>📋 KEY PATENT CLAIMS</a:t>
            </a:r>
            <a:endParaRPr lang="en-US" sz="800" dirty="0"/>
          </a:p>
        </p:txBody>
      </p:sp>
      <p:sp>
        <p:nvSpPr>
          <p:cNvPr id="38" name="Text 36"/>
          <p:cNvSpPr/>
          <p:nvPr/>
        </p:nvSpPr>
        <p:spPr>
          <a:xfrm>
            <a:off x="4818888" y="2715768"/>
            <a:ext cx="3931920" cy="1051560"/>
          </a:xfrm>
          <a:prstGeom prst="rect">
            <a:avLst/>
          </a:prstGeom>
          <a:noFill/>
          <a:ln/>
        </p:spPr>
        <p:txBody>
          <a:bodyPr wrap="square" lIns="25400" tIns="50800" rIns="0" bIns="0" rtlCol="0" anchor="ctr"/>
          <a:lstStyle/>
          <a:p>
            <a:pPr>
              <a:lnSpc>
                <a:spcPct val="130000"/>
              </a:lnSpc>
            </a:pPr>
            <a:r>
              <a:rPr lang="en-US" sz="850" dirty="0">
                <a:solidFill>
                  <a:srgbClr val="F8FAFC"/>
                </a:solidFill>
              </a:rPr>
              <a:t>Context-dependent memory silencing system using methylation-analog bits that suppress retrieval of context-tagged memory chunks when task context diverges</a:t>
            </a:r>
            <a:endParaRPr lang="en-US" sz="850" dirty="0"/>
          </a:p>
          <a:p>
            <a:pPr>
              <a:lnSpc>
                <a:spcPct val="130000"/>
              </a:lnSpc>
            </a:pPr>
            <a:r>
              <a:rPr lang="en-US" sz="850" dirty="0">
                <a:solidFill>
                  <a:srgbClr val="F8FAFC"/>
                </a:solidFill>
              </a:rPr>
              <a:t>Surprise-triggered demethylation: low-confidence outputs trigger expansion of active memory set by demethylating adjacent-context chunks</a:t>
            </a:r>
            <a:endParaRPr lang="en-US" sz="850" dirty="0"/>
          </a:p>
          <a:p>
            <a:pPr>
              <a:lnSpc>
                <a:spcPct val="130000"/>
              </a:lnSpc>
            </a:pPr>
            <a:r>
              <a:rPr lang="en-US" sz="850" dirty="0">
                <a:solidFill>
                  <a:srgbClr val="F8FAFC"/>
                </a:solidFill>
              </a:rPr>
              <a:t>Periodic chromatin-remodelling consolidation that re-evaluates all methylation tags and promotes high-frequency chunks to permanently active state</a:t>
            </a:r>
            <a:endParaRPr lang="en-US" sz="850" dirty="0"/>
          </a:p>
          <a:p>
            <a:pPr>
              <a:lnSpc>
                <a:spcPct val="130000"/>
              </a:lnSpc>
            </a:pPr>
            <a:r>
              <a:rPr lang="en-US" sz="850" dirty="0">
                <a:solidFill>
                  <a:srgbClr val="F8FAFC"/>
                </a:solidFill>
              </a:rPr>
              <a:t>Safety-imprinting protocol: immutable methylation state for designated memory classes (safety rules, permission boundaries) regardless of task context</a:t>
            </a:r>
            <a:endParaRPr lang="en-US" sz="850" dirty="0"/>
          </a:p>
        </p:txBody>
      </p:sp>
      <p:sp>
        <p:nvSpPr>
          <p:cNvPr id="39" name="Shape 37"/>
          <p:cNvSpPr/>
          <p:nvPr/>
        </p:nvSpPr>
        <p:spPr>
          <a:xfrm>
            <a:off x="4709160" y="3913632"/>
            <a:ext cx="4160520" cy="1152144"/>
          </a:xfrm>
          <a:prstGeom prst="roundRect">
            <a:avLst>
              <a:gd name="adj" fmla="val 5556"/>
            </a:avLst>
          </a:prstGeom>
          <a:solidFill>
            <a:srgbClr val="0D1117"/>
          </a:solidFill>
          <a:ln w="12700">
            <a:solidFill>
              <a:srgbClr val="A855F7"/>
            </a:solidFill>
            <a:prstDash val="solid"/>
          </a:ln>
        </p:spPr>
      </p:sp>
      <p:sp>
        <p:nvSpPr>
          <p:cNvPr id="40" name="Shape 38"/>
          <p:cNvSpPr/>
          <p:nvPr/>
        </p:nvSpPr>
        <p:spPr>
          <a:xfrm>
            <a:off x="4818888" y="3977640"/>
            <a:ext cx="2651760" cy="201168"/>
          </a:xfrm>
          <a:prstGeom prst="roundRect">
            <a:avLst>
              <a:gd name="adj" fmla="val 18182"/>
            </a:avLst>
          </a:prstGeom>
          <a:solidFill>
            <a:srgbClr val="111827"/>
          </a:solidFill>
          <a:ln w="15240">
            <a:solidFill>
              <a:srgbClr val="A855F7"/>
            </a:solidFill>
            <a:prstDash val="solid"/>
          </a:ln>
        </p:spPr>
      </p:sp>
      <p:sp>
        <p:nvSpPr>
          <p:cNvPr id="41" name="Text 39"/>
          <p:cNvSpPr/>
          <p:nvPr/>
        </p:nvSpPr>
        <p:spPr>
          <a:xfrm>
            <a:off x="4818888" y="3986784"/>
            <a:ext cx="2651760" cy="201168"/>
          </a:xfrm>
          <a:prstGeom prst="rect">
            <a:avLst/>
          </a:prstGeom>
          <a:noFill/>
          <a:ln/>
        </p:spPr>
        <p:txBody>
          <a:bodyPr wrap="square" lIns="0" tIns="0" rIns="0" bIns="0" rtlCol="0" anchor="ctr"/>
          <a:lstStyle/>
          <a:p>
            <a:pPr algn="ctr" indent="0" marL="0">
              <a:buNone/>
            </a:pPr>
            <a:r>
              <a:rPr lang="en-US" sz="800" b="1" dirty="0">
                <a:solidFill>
                  <a:srgbClr val="A855F7"/>
                </a:solidFill>
              </a:rPr>
              <a:t>🔍 DIFFERENTIATION FROM PRIOR ART</a:t>
            </a:r>
            <a:endParaRPr lang="en-US" sz="800" dirty="0"/>
          </a:p>
        </p:txBody>
      </p:sp>
      <p:sp>
        <p:nvSpPr>
          <p:cNvPr id="42" name="Text 40"/>
          <p:cNvSpPr/>
          <p:nvPr/>
        </p:nvSpPr>
        <p:spPr>
          <a:xfrm>
            <a:off x="4818888" y="4206240"/>
            <a:ext cx="3931920" cy="804672"/>
          </a:xfrm>
          <a:prstGeom prst="rect">
            <a:avLst/>
          </a:prstGeom>
          <a:noFill/>
          <a:ln/>
        </p:spPr>
        <p:txBody>
          <a:bodyPr wrap="square" lIns="25400" tIns="50800" rIns="0" bIns="0" rtlCol="0" anchor="ctr"/>
          <a:lstStyle/>
          <a:p>
            <a:pPr>
              <a:lnSpc>
                <a:spcPct val="130000"/>
              </a:lnSpc>
            </a:pPr>
            <a:r>
              <a:rPr lang="en-US" sz="850" dirty="0">
                <a:solidFill>
                  <a:srgbClr val="F8FAFC"/>
                </a:solidFill>
              </a:rPr>
              <a:t>FadeMem (arxiv:2601.18642): biologically-inspired forgetting via decay, not context-dependent silencing/re-expression</a:t>
            </a:r>
            <a:endParaRPr lang="en-US" sz="850" dirty="0"/>
          </a:p>
          <a:p>
            <a:pPr>
              <a:lnSpc>
                <a:spcPct val="130000"/>
              </a:lnSpc>
            </a:pPr>
            <a:r>
              <a:rPr lang="en-US" sz="850" dirty="0">
                <a:solidFill>
                  <a:srgbClr val="F8FAFC"/>
                </a:solidFill>
              </a:rPr>
              <a:t>FSFM (arxiv:2604.20300): selective forgetting for GDPR compliance, not epigenetic gating</a:t>
            </a:r>
            <a:endParaRPr lang="en-US" sz="850" dirty="0"/>
          </a:p>
          <a:p>
            <a:pPr>
              <a:lnSpc>
                <a:spcPct val="130000"/>
              </a:lnSpc>
            </a:pPr>
            <a:r>
              <a:rPr lang="en-US" sz="850" dirty="0">
                <a:solidFill>
                  <a:srgbClr val="F8FAFC"/>
                </a:solidFill>
              </a:rPr>
              <a:t>ACT-R memory model: recency/frequency based, not context-vector methylation gating</a:t>
            </a:r>
            <a:endParaRPr lang="en-US" sz="850" dirty="0"/>
          </a:p>
          <a:p>
            <a:pPr>
              <a:lnSpc>
                <a:spcPct val="130000"/>
              </a:lnSpc>
            </a:pPr>
            <a:r>
              <a:rPr lang="en-US" sz="850" dirty="0">
                <a:solidFill>
                  <a:srgbClr val="F8FAFC"/>
                </a:solidFill>
              </a:rPr>
              <a:t>No patent applies epigenetic methylation-analog silencing to LLM agent memory retrieval</a:t>
            </a:r>
            <a:endParaRPr lang="en-US" sz="850" dirty="0"/>
          </a:p>
        </p:txBody>
      </p:sp>
      <p:sp>
        <p:nvSpPr>
          <p:cNvPr id="43" name="Text 41"/>
          <p:cNvSpPr/>
          <p:nvPr/>
        </p:nvSpPr>
        <p:spPr>
          <a:xfrm>
            <a:off x="8503920" y="4983480"/>
            <a:ext cx="457200" cy="164592"/>
          </a:xfrm>
          <a:prstGeom prst="rect">
            <a:avLst/>
          </a:prstGeom>
          <a:noFill/>
          <a:ln/>
        </p:spPr>
        <p:txBody>
          <a:bodyPr wrap="square" lIns="0" tIns="0" rIns="0" bIns="0" rtlCol="0" anchor="ctr"/>
          <a:lstStyle/>
          <a:p>
            <a:pPr algn="r" indent="0" marL="0">
              <a:buNone/>
            </a:pPr>
            <a:r>
              <a:rPr lang="en-US" sz="800" dirty="0">
                <a:solidFill>
                  <a:srgbClr val="94A3B8"/>
                </a:solidFill>
              </a:rPr>
              <a:t>6 / 10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06B6D4"/>
          </a:solidFill>
          <a:ln w="12700">
            <a:solidFill>
              <a:srgbClr val="06B6D4"/>
            </a:solidFill>
            <a:prstDash val="solid"/>
          </a:ln>
        </p:spPr>
      </p:sp>
      <p:sp>
        <p:nvSpPr>
          <p:cNvPr id="3" name="Shape 1"/>
          <p:cNvSpPr/>
          <p:nvPr/>
        </p:nvSpPr>
        <p:spPr>
          <a:xfrm>
            <a:off x="274320" y="91440"/>
            <a:ext cx="1325880" cy="347472"/>
          </a:xfrm>
          <a:prstGeom prst="roundRect">
            <a:avLst>
              <a:gd name="adj" fmla="val 15789"/>
            </a:avLst>
          </a:prstGeom>
          <a:solidFill>
            <a:srgbClr val="0C3A42"/>
          </a:solidFill>
          <a:ln w="12700">
            <a:solidFill>
              <a:srgbClr val="06B6D4"/>
            </a:solidFill>
            <a:prstDash val="solid"/>
          </a:ln>
        </p:spPr>
      </p:sp>
      <p:sp>
        <p:nvSpPr>
          <p:cNvPr id="4" name="Text 2"/>
          <p:cNvSpPr/>
          <p:nvPr/>
        </p:nvSpPr>
        <p:spPr>
          <a:xfrm>
            <a:off x="274320" y="91440"/>
            <a:ext cx="1325880" cy="347472"/>
          </a:xfrm>
          <a:prstGeom prst="rect">
            <a:avLst/>
          </a:prstGeom>
          <a:noFill/>
          <a:ln/>
        </p:spPr>
        <p:txBody>
          <a:bodyPr wrap="square" lIns="0" tIns="0" rIns="0" bIns="0" rtlCol="0" anchor="ctr"/>
          <a:lstStyle/>
          <a:p>
            <a:pPr algn="ctr" indent="0" marL="0">
              <a:buNone/>
            </a:pPr>
            <a:r>
              <a:rPr lang="en-US" sz="900" b="1" dirty="0">
                <a:solidFill>
                  <a:srgbClr val="06B6D4"/>
                </a:solidFill>
              </a:rPr>
              <a:t>Patent Idea #7</a:t>
            </a:r>
            <a:endParaRPr lang="en-US" sz="900" dirty="0"/>
          </a:p>
        </p:txBody>
      </p:sp>
      <p:sp>
        <p:nvSpPr>
          <p:cNvPr id="5" name="Text 3"/>
          <p:cNvSpPr/>
          <p:nvPr/>
        </p:nvSpPr>
        <p:spPr>
          <a:xfrm>
            <a:off x="1691640" y="91440"/>
            <a:ext cx="7132320" cy="274320"/>
          </a:xfrm>
          <a:prstGeom prst="rect">
            <a:avLst/>
          </a:prstGeom>
          <a:noFill/>
          <a:ln/>
        </p:spPr>
        <p:txBody>
          <a:bodyPr wrap="square" lIns="0" tIns="0" rIns="0" bIns="0" rtlCol="0" anchor="ctr"/>
          <a:lstStyle/>
          <a:p>
            <a:pPr indent="0" marL="0">
              <a:buNone/>
            </a:pPr>
            <a:r>
              <a:rPr lang="en-US" sz="1450" b="1" dirty="0">
                <a:solidFill>
                  <a:srgbClr val="FFFFFF"/>
                </a:solidFill>
              </a:rPr>
              <a:t>Tensegrity-Topology Agent Network (TTAN)</a:t>
            </a:r>
            <a:endParaRPr lang="en-US" sz="1450" dirty="0"/>
          </a:p>
        </p:txBody>
      </p:sp>
      <p:sp>
        <p:nvSpPr>
          <p:cNvPr id="6" name="Text 4"/>
          <p:cNvSpPr/>
          <p:nvPr/>
        </p:nvSpPr>
        <p:spPr>
          <a:xfrm>
            <a:off x="1691640" y="384048"/>
            <a:ext cx="7132320" cy="182880"/>
          </a:xfrm>
          <a:prstGeom prst="rect">
            <a:avLst/>
          </a:prstGeom>
          <a:noFill/>
          <a:ln/>
        </p:spPr>
        <p:txBody>
          <a:bodyPr wrap="square" lIns="0" tIns="0" rIns="0" bIns="0" rtlCol="0" anchor="t"/>
          <a:lstStyle/>
          <a:p>
            <a:pPr indent="0" marL="0">
              <a:buNone/>
            </a:pPr>
            <a:r>
              <a:rPr lang="en-US" sz="900" dirty="0">
                <a:solidFill>
                  <a:srgbClr val="94A3B8"/>
                </a:solidFill>
              </a:rPr>
              <a:t>Agent dependency graphs stabilised by prestress tension-compression duality — failure redistributes load without collapse</a:t>
            </a:r>
            <a:endParaRPr lang="en-US" sz="900" dirty="0"/>
          </a:p>
        </p:txBody>
      </p:sp>
      <p:sp>
        <p:nvSpPr>
          <p:cNvPr id="7" name="Shape 5"/>
          <p:cNvSpPr/>
          <p:nvPr/>
        </p:nvSpPr>
        <p:spPr>
          <a:xfrm>
            <a:off x="1691640" y="594360"/>
            <a:ext cx="1631290" cy="201168"/>
          </a:xfrm>
          <a:prstGeom prst="roundRect">
            <a:avLst>
              <a:gd name="adj" fmla="val 18182"/>
            </a:avLst>
          </a:prstGeom>
          <a:solidFill>
            <a:srgbClr val="0C3A42"/>
          </a:solidFill>
          <a:ln w="12700">
            <a:solidFill>
              <a:srgbClr val="0C3A42"/>
            </a:solidFill>
            <a:prstDash val="solid"/>
          </a:ln>
        </p:spPr>
      </p:sp>
      <p:sp>
        <p:nvSpPr>
          <p:cNvPr id="8" name="Text 6"/>
          <p:cNvSpPr/>
          <p:nvPr/>
        </p:nvSpPr>
        <p:spPr>
          <a:xfrm>
            <a:off x="1691640" y="594360"/>
            <a:ext cx="1631290" cy="201168"/>
          </a:xfrm>
          <a:prstGeom prst="rect">
            <a:avLst/>
          </a:prstGeom>
          <a:noFill/>
          <a:ln/>
        </p:spPr>
        <p:txBody>
          <a:bodyPr wrap="square" lIns="0" tIns="0" rIns="0" bIns="0" rtlCol="0" anchor="ctr"/>
          <a:lstStyle/>
          <a:p>
            <a:pPr algn="ctr" indent="0" marL="0">
              <a:buNone/>
            </a:pPr>
            <a:r>
              <a:rPr lang="en-US" sz="800" b="1" dirty="0">
                <a:solidFill>
                  <a:srgbClr val="06B6D4"/>
                </a:solidFill>
              </a:rPr>
              <a:t>Structural Engineering</a:t>
            </a:r>
            <a:endParaRPr lang="en-US" sz="800" dirty="0"/>
          </a:p>
        </p:txBody>
      </p:sp>
      <p:sp>
        <p:nvSpPr>
          <p:cNvPr id="9" name="Shape 7"/>
          <p:cNvSpPr/>
          <p:nvPr/>
        </p:nvSpPr>
        <p:spPr>
          <a:xfrm>
            <a:off x="3414370" y="594360"/>
            <a:ext cx="841248" cy="201168"/>
          </a:xfrm>
          <a:prstGeom prst="roundRect">
            <a:avLst>
              <a:gd name="adj" fmla="val 18182"/>
            </a:avLst>
          </a:prstGeom>
          <a:solidFill>
            <a:srgbClr val="0C3A42"/>
          </a:solidFill>
          <a:ln w="12700">
            <a:solidFill>
              <a:srgbClr val="0C3A42"/>
            </a:solidFill>
            <a:prstDash val="solid"/>
          </a:ln>
        </p:spPr>
      </p:sp>
      <p:sp>
        <p:nvSpPr>
          <p:cNvPr id="10" name="Text 8"/>
          <p:cNvSpPr/>
          <p:nvPr/>
        </p:nvSpPr>
        <p:spPr>
          <a:xfrm>
            <a:off x="3414370" y="594360"/>
            <a:ext cx="841248" cy="201168"/>
          </a:xfrm>
          <a:prstGeom prst="rect">
            <a:avLst/>
          </a:prstGeom>
          <a:noFill/>
          <a:ln/>
        </p:spPr>
        <p:txBody>
          <a:bodyPr wrap="square" lIns="0" tIns="0" rIns="0" bIns="0" rtlCol="0" anchor="ctr"/>
          <a:lstStyle/>
          <a:p>
            <a:pPr algn="ctr" indent="0" marL="0">
              <a:buNone/>
            </a:pPr>
            <a:r>
              <a:rPr lang="en-US" sz="800" b="1" dirty="0">
                <a:solidFill>
                  <a:srgbClr val="06B6D4"/>
                </a:solidFill>
              </a:rPr>
              <a:t>Tensegrity</a:t>
            </a:r>
            <a:endParaRPr lang="en-US" sz="800" dirty="0"/>
          </a:p>
        </p:txBody>
      </p:sp>
      <p:sp>
        <p:nvSpPr>
          <p:cNvPr id="11" name="Shape 9"/>
          <p:cNvSpPr/>
          <p:nvPr/>
        </p:nvSpPr>
        <p:spPr>
          <a:xfrm>
            <a:off x="4347058" y="594360"/>
            <a:ext cx="972922" cy="201168"/>
          </a:xfrm>
          <a:prstGeom prst="roundRect">
            <a:avLst>
              <a:gd name="adj" fmla="val 18182"/>
            </a:avLst>
          </a:prstGeom>
          <a:solidFill>
            <a:srgbClr val="0C3A42"/>
          </a:solidFill>
          <a:ln w="12700">
            <a:solidFill>
              <a:srgbClr val="0C3A42"/>
            </a:solidFill>
            <a:prstDash val="solid"/>
          </a:ln>
        </p:spPr>
      </p:sp>
      <p:sp>
        <p:nvSpPr>
          <p:cNvPr id="12" name="Text 10"/>
          <p:cNvSpPr/>
          <p:nvPr/>
        </p:nvSpPr>
        <p:spPr>
          <a:xfrm>
            <a:off x="4347058" y="594360"/>
            <a:ext cx="972922" cy="201168"/>
          </a:xfrm>
          <a:prstGeom prst="rect">
            <a:avLst/>
          </a:prstGeom>
          <a:noFill/>
          <a:ln/>
        </p:spPr>
        <p:txBody>
          <a:bodyPr wrap="square" lIns="0" tIns="0" rIns="0" bIns="0" rtlCol="0" anchor="ctr"/>
          <a:lstStyle/>
          <a:p>
            <a:pPr algn="ctr" indent="0" marL="0">
              <a:buNone/>
            </a:pPr>
            <a:r>
              <a:rPr lang="en-US" sz="800" b="1" dirty="0">
                <a:solidFill>
                  <a:srgbClr val="06B6D4"/>
                </a:solidFill>
              </a:rPr>
              <a:t>Biomechanics</a:t>
            </a:r>
            <a:endParaRPr lang="en-US" sz="800" dirty="0"/>
          </a:p>
        </p:txBody>
      </p:sp>
      <p:sp>
        <p:nvSpPr>
          <p:cNvPr id="13" name="Shape 11"/>
          <p:cNvSpPr/>
          <p:nvPr/>
        </p:nvSpPr>
        <p:spPr>
          <a:xfrm>
            <a:off x="5411419" y="594360"/>
            <a:ext cx="1433779" cy="201168"/>
          </a:xfrm>
          <a:prstGeom prst="roundRect">
            <a:avLst>
              <a:gd name="adj" fmla="val 18182"/>
            </a:avLst>
          </a:prstGeom>
          <a:solidFill>
            <a:srgbClr val="0C3A42"/>
          </a:solidFill>
          <a:ln w="12700">
            <a:solidFill>
              <a:srgbClr val="0C3A42"/>
            </a:solidFill>
            <a:prstDash val="solid"/>
          </a:ln>
        </p:spPr>
      </p:sp>
      <p:sp>
        <p:nvSpPr>
          <p:cNvPr id="14" name="Text 12"/>
          <p:cNvSpPr/>
          <p:nvPr/>
        </p:nvSpPr>
        <p:spPr>
          <a:xfrm>
            <a:off x="5411419" y="594360"/>
            <a:ext cx="1433779" cy="201168"/>
          </a:xfrm>
          <a:prstGeom prst="rect">
            <a:avLst/>
          </a:prstGeom>
          <a:noFill/>
          <a:ln/>
        </p:spPr>
        <p:txBody>
          <a:bodyPr wrap="square" lIns="0" tIns="0" rIns="0" bIns="0" rtlCol="0" anchor="ctr"/>
          <a:lstStyle/>
          <a:p>
            <a:pPr algn="ctr" indent="0" marL="0">
              <a:buNone/>
            </a:pPr>
            <a:r>
              <a:rPr lang="en-US" sz="800" b="1" dirty="0">
                <a:solidFill>
                  <a:srgbClr val="06B6D4"/>
                </a:solidFill>
              </a:rPr>
              <a:t>Distributed Systems</a:t>
            </a:r>
            <a:endParaRPr lang="en-US" sz="800" dirty="0"/>
          </a:p>
        </p:txBody>
      </p:sp>
      <p:sp>
        <p:nvSpPr>
          <p:cNvPr id="15" name="Shape 13"/>
          <p:cNvSpPr/>
          <p:nvPr/>
        </p:nvSpPr>
        <p:spPr>
          <a:xfrm>
            <a:off x="274320" y="868680"/>
            <a:ext cx="1389888" cy="658368"/>
          </a:xfrm>
          <a:prstGeom prst="roundRect">
            <a:avLst>
              <a:gd name="adj" fmla="val 9722"/>
            </a:avLst>
          </a:prstGeom>
          <a:solidFill>
            <a:srgbClr val="064E3B"/>
          </a:solidFill>
          <a:ln w="19050">
            <a:solidFill>
              <a:srgbClr val="34D399"/>
            </a:solidFill>
            <a:prstDash val="solid"/>
          </a:ln>
        </p:spPr>
      </p:sp>
      <p:sp>
        <p:nvSpPr>
          <p:cNvPr id="16" name="Text 14"/>
          <p:cNvSpPr/>
          <p:nvPr/>
        </p:nvSpPr>
        <p:spPr>
          <a:xfrm>
            <a:off x="27432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ACCEPTANCE</a:t>
            </a:r>
            <a:endParaRPr lang="en-US" sz="750" dirty="0"/>
          </a:p>
        </p:txBody>
      </p:sp>
      <p:sp>
        <p:nvSpPr>
          <p:cNvPr id="17" name="Text 15"/>
          <p:cNvSpPr/>
          <p:nvPr/>
        </p:nvSpPr>
        <p:spPr>
          <a:xfrm>
            <a:off x="27432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78%</a:t>
            </a:r>
            <a:endParaRPr lang="en-US" sz="2000" dirty="0"/>
          </a:p>
        </p:txBody>
      </p:sp>
      <p:sp>
        <p:nvSpPr>
          <p:cNvPr id="18" name="Shape 16"/>
          <p:cNvSpPr/>
          <p:nvPr/>
        </p:nvSpPr>
        <p:spPr>
          <a:xfrm>
            <a:off x="1828800" y="868680"/>
            <a:ext cx="1389888" cy="658368"/>
          </a:xfrm>
          <a:prstGeom prst="roundRect">
            <a:avLst>
              <a:gd name="adj" fmla="val 9722"/>
            </a:avLst>
          </a:prstGeom>
          <a:solidFill>
            <a:srgbClr val="064E3B"/>
          </a:solidFill>
          <a:ln w="19050">
            <a:solidFill>
              <a:srgbClr val="34D399"/>
            </a:solidFill>
            <a:prstDash val="solid"/>
          </a:ln>
        </p:spPr>
      </p:sp>
      <p:sp>
        <p:nvSpPr>
          <p:cNvPr id="19" name="Text 17"/>
          <p:cNvSpPr/>
          <p:nvPr/>
        </p:nvSpPr>
        <p:spPr>
          <a:xfrm>
            <a:off x="182880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OVERLAP</a:t>
            </a:r>
            <a:endParaRPr lang="en-US" sz="750" dirty="0"/>
          </a:p>
        </p:txBody>
      </p:sp>
      <p:sp>
        <p:nvSpPr>
          <p:cNvPr id="20" name="Text 18"/>
          <p:cNvSpPr/>
          <p:nvPr/>
        </p:nvSpPr>
        <p:spPr>
          <a:xfrm>
            <a:off x="182880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12%</a:t>
            </a:r>
            <a:endParaRPr lang="en-US" sz="2000" dirty="0"/>
          </a:p>
        </p:txBody>
      </p:sp>
      <p:sp>
        <p:nvSpPr>
          <p:cNvPr id="21" name="Shape 19"/>
          <p:cNvSpPr/>
          <p:nvPr/>
        </p:nvSpPr>
        <p:spPr>
          <a:xfrm>
            <a:off x="3383280" y="868680"/>
            <a:ext cx="1389888" cy="658368"/>
          </a:xfrm>
          <a:prstGeom prst="roundRect">
            <a:avLst>
              <a:gd name="adj" fmla="val 9722"/>
            </a:avLst>
          </a:prstGeom>
          <a:solidFill>
            <a:srgbClr val="2D1B69"/>
          </a:solidFill>
          <a:ln w="19050">
            <a:solidFill>
              <a:srgbClr val="A78BFA"/>
            </a:solidFill>
            <a:prstDash val="solid"/>
          </a:ln>
        </p:spPr>
      </p:sp>
      <p:sp>
        <p:nvSpPr>
          <p:cNvPr id="22" name="Text 20"/>
          <p:cNvSpPr/>
          <p:nvPr/>
        </p:nvSpPr>
        <p:spPr>
          <a:xfrm>
            <a:off x="3383280" y="905256"/>
            <a:ext cx="1389888" cy="219456"/>
          </a:xfrm>
          <a:prstGeom prst="rect">
            <a:avLst/>
          </a:prstGeom>
          <a:noFill/>
          <a:ln/>
        </p:spPr>
        <p:txBody>
          <a:bodyPr wrap="square" lIns="0" tIns="0" rIns="0" bIns="0" rtlCol="0" anchor="ctr"/>
          <a:lstStyle/>
          <a:p>
            <a:pPr algn="ctr" indent="0" marL="0">
              <a:buNone/>
            </a:pPr>
            <a:r>
              <a:rPr lang="en-US" sz="750" b="1" dirty="0">
                <a:solidFill>
                  <a:srgbClr val="A78BFA"/>
                </a:solidFill>
              </a:rPr>
              <a:t>EST. NOVELTY</a:t>
            </a:r>
            <a:endParaRPr lang="en-US" sz="750" dirty="0"/>
          </a:p>
        </p:txBody>
      </p:sp>
      <p:sp>
        <p:nvSpPr>
          <p:cNvPr id="23" name="Text 21"/>
          <p:cNvSpPr/>
          <p:nvPr/>
        </p:nvSpPr>
        <p:spPr>
          <a:xfrm>
            <a:off x="3383280" y="1124712"/>
            <a:ext cx="1389888" cy="347472"/>
          </a:xfrm>
          <a:prstGeom prst="rect">
            <a:avLst/>
          </a:prstGeom>
          <a:noFill/>
          <a:ln/>
        </p:spPr>
        <p:txBody>
          <a:bodyPr wrap="square" lIns="0" tIns="0" rIns="0" bIns="0" rtlCol="0" anchor="ctr"/>
          <a:lstStyle/>
          <a:p>
            <a:pPr algn="ctr" indent="0" marL="0">
              <a:buNone/>
            </a:pPr>
            <a:r>
              <a:rPr lang="en-US" sz="2000" b="1" dirty="0">
                <a:solidFill>
                  <a:srgbClr val="A78BFA"/>
                </a:solidFill>
              </a:rPr>
              <a:t>88%</a:t>
            </a:r>
            <a:endParaRPr lang="en-US" sz="2000" dirty="0"/>
          </a:p>
        </p:txBody>
      </p:sp>
      <p:sp>
        <p:nvSpPr>
          <p:cNvPr id="24" name="Shape 22"/>
          <p:cNvSpPr/>
          <p:nvPr/>
        </p:nvSpPr>
        <p:spPr>
          <a:xfrm>
            <a:off x="274320" y="1627632"/>
            <a:ext cx="8595360" cy="685800"/>
          </a:xfrm>
          <a:prstGeom prst="roundRect">
            <a:avLst>
              <a:gd name="adj" fmla="val 9333"/>
            </a:avLst>
          </a:prstGeom>
          <a:solidFill>
            <a:srgbClr val="0C3A42"/>
          </a:solidFill>
          <a:ln w="12700">
            <a:solidFill>
              <a:srgbClr val="06B6D4"/>
            </a:solidFill>
            <a:prstDash val="solid"/>
          </a:ln>
        </p:spPr>
      </p:sp>
      <p:sp>
        <p:nvSpPr>
          <p:cNvPr id="25" name="Text 23"/>
          <p:cNvSpPr/>
          <p:nvPr/>
        </p:nvSpPr>
        <p:spPr>
          <a:xfrm>
            <a:off x="402336" y="1682496"/>
            <a:ext cx="2011680" cy="201168"/>
          </a:xfrm>
          <a:prstGeom prst="rect">
            <a:avLst/>
          </a:prstGeom>
          <a:noFill/>
          <a:ln/>
        </p:spPr>
        <p:txBody>
          <a:bodyPr wrap="square" lIns="0" tIns="0" rIns="0" bIns="0" rtlCol="0" anchor="ctr"/>
          <a:lstStyle/>
          <a:p>
            <a:pPr indent="0" marL="0">
              <a:buNone/>
            </a:pPr>
            <a:r>
              <a:rPr lang="en-US" sz="850" b="1" dirty="0">
                <a:solidFill>
                  <a:srgbClr val="06B6D4"/>
                </a:solidFill>
              </a:rPr>
              <a:t>💡 Cross-Domain Insight</a:t>
            </a:r>
            <a:endParaRPr lang="en-US" sz="850" dirty="0"/>
          </a:p>
        </p:txBody>
      </p:sp>
      <p:sp>
        <p:nvSpPr>
          <p:cNvPr id="26" name="Text 24"/>
          <p:cNvSpPr/>
          <p:nvPr/>
        </p:nvSpPr>
        <p:spPr>
          <a:xfrm>
            <a:off x="402336" y="1865376"/>
            <a:ext cx="8321040" cy="402336"/>
          </a:xfrm>
          <a:prstGeom prst="rect">
            <a:avLst/>
          </a:prstGeom>
          <a:noFill/>
          <a:ln/>
        </p:spPr>
        <p:txBody>
          <a:bodyPr wrap="square" lIns="0" tIns="0" rIns="0" bIns="0" rtlCol="0" anchor="ctr"/>
          <a:lstStyle/>
          <a:p>
            <a:pPr indent="0" marL="0">
              <a:lnSpc>
                <a:spcPct val="125000"/>
              </a:lnSpc>
              <a:buNone/>
            </a:pPr>
            <a:r>
              <a:rPr lang="en-US" sz="900" dirty="0">
                <a:solidFill>
                  <a:srgbClr val="F8FAFC"/>
                </a:solidFill>
              </a:rPr>
              <a:t>Tensegrity structures (Buckminster Fuller): stability emerges from the interplay of tension elements (cables) and compression elements (struts). Local failure of one element redistributes stress globally rather than causing local collapse. The cytoskeleton uses tensegrity for resilience. Agent dependency graphs can embed the same principle.</a:t>
            </a:r>
            <a:endParaRPr lang="en-US" sz="900" dirty="0"/>
          </a:p>
        </p:txBody>
      </p:sp>
      <p:sp>
        <p:nvSpPr>
          <p:cNvPr id="27" name="Shape 25"/>
          <p:cNvSpPr/>
          <p:nvPr/>
        </p:nvSpPr>
        <p:spPr>
          <a:xfrm>
            <a:off x="274320" y="2423160"/>
            <a:ext cx="4160520" cy="1188720"/>
          </a:xfrm>
          <a:prstGeom prst="roundRect">
            <a:avLst>
              <a:gd name="adj" fmla="val 5385"/>
            </a:avLst>
          </a:prstGeom>
          <a:solidFill>
            <a:srgbClr val="1A2235"/>
          </a:solidFill>
          <a:ln w="6350">
            <a:solidFill>
              <a:srgbClr val="2D3748"/>
            </a:solidFill>
            <a:prstDash val="solid"/>
          </a:ln>
        </p:spPr>
      </p:sp>
      <p:sp>
        <p:nvSpPr>
          <p:cNvPr id="28" name="Shape 26"/>
          <p:cNvSpPr/>
          <p:nvPr/>
        </p:nvSpPr>
        <p:spPr>
          <a:xfrm>
            <a:off x="384048" y="2487168"/>
            <a:ext cx="1737360" cy="201168"/>
          </a:xfrm>
          <a:prstGeom prst="roundRect">
            <a:avLst>
              <a:gd name="adj" fmla="val 18182"/>
            </a:avLst>
          </a:prstGeom>
          <a:solidFill>
            <a:srgbClr val="111827"/>
          </a:solidFill>
          <a:ln w="15240">
            <a:solidFill>
              <a:srgbClr val="06B6D4"/>
            </a:solidFill>
            <a:prstDash val="solid"/>
          </a:ln>
        </p:spPr>
      </p:sp>
      <p:sp>
        <p:nvSpPr>
          <p:cNvPr id="29" name="Text 27"/>
          <p:cNvSpPr/>
          <p:nvPr/>
        </p:nvSpPr>
        <p:spPr>
          <a:xfrm>
            <a:off x="384048" y="2496312"/>
            <a:ext cx="1737360" cy="201168"/>
          </a:xfrm>
          <a:prstGeom prst="rect">
            <a:avLst/>
          </a:prstGeom>
          <a:noFill/>
          <a:ln/>
        </p:spPr>
        <p:txBody>
          <a:bodyPr wrap="square" lIns="0" tIns="0" rIns="0" bIns="0" rtlCol="0" anchor="ctr"/>
          <a:lstStyle/>
          <a:p>
            <a:pPr algn="ctr" indent="0" marL="0">
              <a:buNone/>
            </a:pPr>
            <a:r>
              <a:rPr lang="en-US" sz="800" b="1" dirty="0">
                <a:solidFill>
                  <a:srgbClr val="06B6D4"/>
                </a:solidFill>
              </a:rPr>
              <a:t>⚡ PROBLEM SOLVED</a:t>
            </a:r>
            <a:endParaRPr lang="en-US" sz="800" dirty="0"/>
          </a:p>
        </p:txBody>
      </p:sp>
      <p:sp>
        <p:nvSpPr>
          <p:cNvPr id="30" name="Text 28"/>
          <p:cNvSpPr/>
          <p:nvPr/>
        </p:nvSpPr>
        <p:spPr>
          <a:xfrm>
            <a:off x="384048" y="2715768"/>
            <a:ext cx="3931920" cy="822960"/>
          </a:xfrm>
          <a:prstGeom prst="rect">
            <a:avLst/>
          </a:prstGeom>
          <a:noFill/>
          <a:ln/>
        </p:spPr>
        <p:txBody>
          <a:bodyPr wrap="square" lIns="0" tIns="0" rIns="0" bIns="0" rtlCol="0" anchor="ctr"/>
          <a:lstStyle/>
          <a:p>
            <a:pPr indent="0" marL="0">
              <a:lnSpc>
                <a:spcPct val="130000"/>
              </a:lnSpc>
              <a:buNone/>
            </a:pPr>
            <a:r>
              <a:rPr lang="en-US" sz="900" dirty="0">
                <a:solidFill>
                  <a:srgbClr val="94A3B8"/>
                </a:solidFill>
              </a:rPr>
              <a:t>Agent dependency graphs fail brittlely: when a central dependency node fails, all dependent agents block. There is no graceful load redistribution. Backup agents are statically assigned, not dynamically activated by failure-propagated prestress signals.</a:t>
            </a:r>
            <a:endParaRPr lang="en-US" sz="900" dirty="0"/>
          </a:p>
        </p:txBody>
      </p:sp>
      <p:sp>
        <p:nvSpPr>
          <p:cNvPr id="31" name="Shape 29"/>
          <p:cNvSpPr/>
          <p:nvPr/>
        </p:nvSpPr>
        <p:spPr>
          <a:xfrm>
            <a:off x="274320" y="3675888"/>
            <a:ext cx="4160520" cy="1389888"/>
          </a:xfrm>
          <a:prstGeom prst="roundRect">
            <a:avLst>
              <a:gd name="adj" fmla="val 4605"/>
            </a:avLst>
          </a:prstGeom>
          <a:solidFill>
            <a:srgbClr val="1A2235"/>
          </a:solidFill>
          <a:ln w="6350">
            <a:solidFill>
              <a:srgbClr val="2D3748"/>
            </a:solidFill>
            <a:prstDash val="solid"/>
          </a:ln>
        </p:spPr>
      </p:sp>
      <p:sp>
        <p:nvSpPr>
          <p:cNvPr id="32" name="Shape 30"/>
          <p:cNvSpPr/>
          <p:nvPr/>
        </p:nvSpPr>
        <p:spPr>
          <a:xfrm>
            <a:off x="384048" y="3739896"/>
            <a:ext cx="2743200" cy="201168"/>
          </a:xfrm>
          <a:prstGeom prst="roundRect">
            <a:avLst>
              <a:gd name="adj" fmla="val 18182"/>
            </a:avLst>
          </a:prstGeom>
          <a:solidFill>
            <a:srgbClr val="111827"/>
          </a:solidFill>
          <a:ln w="15240">
            <a:solidFill>
              <a:srgbClr val="333333"/>
            </a:solidFill>
            <a:prstDash val="solid"/>
          </a:ln>
        </p:spPr>
      </p:sp>
      <p:sp>
        <p:nvSpPr>
          <p:cNvPr id="33" name="Text 31"/>
          <p:cNvSpPr/>
          <p:nvPr/>
        </p:nvSpPr>
        <p:spPr>
          <a:xfrm>
            <a:off x="384048" y="3749040"/>
            <a:ext cx="2743200" cy="201168"/>
          </a:xfrm>
          <a:prstGeom prst="rect">
            <a:avLst/>
          </a:prstGeom>
          <a:noFill/>
          <a:ln/>
        </p:spPr>
        <p:txBody>
          <a:bodyPr wrap="square" lIns="0" tIns="0" rIns="0" bIns="0" rtlCol="0" anchor="ctr"/>
          <a:lstStyle/>
          <a:p>
            <a:pPr algn="ctr" indent="0" marL="0">
              <a:buNone/>
            </a:pPr>
            <a:r>
              <a:rPr lang="en-US" sz="800" b="1" dirty="0">
                <a:solidFill>
                  <a:srgbClr val="000000"/>
                </a:solidFill>
              </a:rPr>
              <a:t>🔬 NOVEL APPROACH (NUMBERED STEPS)</a:t>
            </a:r>
            <a:endParaRPr lang="en-US" sz="800" dirty="0"/>
          </a:p>
        </p:txBody>
      </p:sp>
      <p:sp>
        <p:nvSpPr>
          <p:cNvPr id="34" name="Text 32"/>
          <p:cNvSpPr/>
          <p:nvPr/>
        </p:nvSpPr>
        <p:spPr>
          <a:xfrm>
            <a:off x="384048" y="3977640"/>
            <a:ext cx="3931920" cy="1024128"/>
          </a:xfrm>
          <a:prstGeom prst="rect">
            <a:avLst/>
          </a:prstGeom>
          <a:noFill/>
          <a:ln/>
        </p:spPr>
        <p:txBody>
          <a:bodyPr wrap="square" lIns="25400" tIns="50800" rIns="0" bIns="0" rtlCol="0" anchor="ctr"/>
          <a:lstStyle/>
          <a:p>
            <a:pPr marL="342900" indent="-342900">
              <a:lnSpc>
                <a:spcPct val="130000"/>
              </a:lnSpc>
              <a:buSzPct val="100000"/>
              <a:buFont typeface="+mj-lt"/>
              <a:buAutoNum type="arabicPeriod" startAt="1"/>
            </a:pPr>
            <a:r>
              <a:rPr lang="en-US" sz="850" dirty="0">
                <a:solidFill>
                  <a:srgbClr val="F8FAFC"/>
                </a:solidFill>
              </a:rPr>
              <a:t>Tension edges: delegations and dependencies (carry load); Compression nodes: orchestrators and synthesisers (resist compressive coordination load)</a:t>
            </a:r>
            <a:endParaRPr lang="en-US" sz="850" dirty="0"/>
          </a:p>
          <a:p>
            <a:pPr marL="342900" indent="-342900">
              <a:lnSpc>
                <a:spcPct val="130000"/>
              </a:lnSpc>
              <a:buSzPct val="100000"/>
              <a:buFont typeface="+mj-lt"/>
              <a:buAutoNum type="arabicPeriod" startAt="1"/>
            </a:pPr>
            <a:r>
              <a:rPr lang="en-US" sz="850" dirty="0">
                <a:solidFill>
                  <a:srgbClr val="F8FAFC"/>
                </a:solidFill>
              </a:rPr>
              <a:t>Prestress state: each edge maintains a baseline tension value; agent workload is distributed across the tensegrity network in equilibrium</a:t>
            </a:r>
            <a:endParaRPr lang="en-US" sz="850" dirty="0"/>
          </a:p>
          <a:p>
            <a:pPr marL="342900" indent="-342900">
              <a:lnSpc>
                <a:spcPct val="130000"/>
              </a:lnSpc>
              <a:buSzPct val="100000"/>
              <a:buFont typeface="+mj-lt"/>
              <a:buAutoNum type="arabicPeriod" startAt="1"/>
            </a:pPr>
            <a:r>
              <a:rPr lang="en-US" sz="850" dirty="0">
                <a:solidFill>
                  <a:srgbClr val="F8FAFC"/>
                </a:solidFill>
              </a:rPr>
              <a:t>Failure redistribution: when a node fails, its tension load is redistributed along connected edges according to tensegrity force balance equations — automatically activating backup paths</a:t>
            </a:r>
            <a:endParaRPr lang="en-US" sz="850" dirty="0"/>
          </a:p>
          <a:p>
            <a:pPr marL="342900" indent="-342900">
              <a:lnSpc>
                <a:spcPct val="130000"/>
              </a:lnSpc>
              <a:buSzPct val="100000"/>
              <a:buFont typeface="+mj-lt"/>
              <a:buAutoNum type="arabicPeriod" startAt="1"/>
            </a:pPr>
            <a:r>
              <a:rPr lang="en-US" sz="850" dirty="0">
                <a:solidFill>
                  <a:srgbClr val="F8FAFC"/>
                </a:solidFill>
              </a:rPr>
              <a:t>Adaptive prestress: a global prestress governor continuously adjusts cable tensions to maintain the minimum energy equilibrium configuration given current agent availability</a:t>
            </a:r>
            <a:endParaRPr lang="en-US" sz="850" dirty="0"/>
          </a:p>
        </p:txBody>
      </p:sp>
      <p:sp>
        <p:nvSpPr>
          <p:cNvPr id="35" name="Shape 33"/>
          <p:cNvSpPr/>
          <p:nvPr/>
        </p:nvSpPr>
        <p:spPr>
          <a:xfrm>
            <a:off x="4709160" y="2423160"/>
            <a:ext cx="4160520" cy="1417320"/>
          </a:xfrm>
          <a:prstGeom prst="roundRect">
            <a:avLst>
              <a:gd name="adj" fmla="val 4516"/>
            </a:avLst>
          </a:prstGeom>
          <a:solidFill>
            <a:srgbClr val="1A2235"/>
          </a:solidFill>
          <a:ln w="6350">
            <a:solidFill>
              <a:srgbClr val="2D3748"/>
            </a:solidFill>
            <a:prstDash val="solid"/>
          </a:ln>
        </p:spPr>
      </p:sp>
      <p:sp>
        <p:nvSpPr>
          <p:cNvPr id="36" name="Shape 34"/>
          <p:cNvSpPr/>
          <p:nvPr/>
        </p:nvSpPr>
        <p:spPr>
          <a:xfrm>
            <a:off x="4818888" y="2487168"/>
            <a:ext cx="1828800" cy="201168"/>
          </a:xfrm>
          <a:prstGeom prst="roundRect">
            <a:avLst>
              <a:gd name="adj" fmla="val 18182"/>
            </a:avLst>
          </a:prstGeom>
          <a:solidFill>
            <a:srgbClr val="111827"/>
          </a:solidFill>
          <a:ln w="15240">
            <a:solidFill>
              <a:srgbClr val="06B6D4"/>
            </a:solidFill>
            <a:prstDash val="solid"/>
          </a:ln>
        </p:spPr>
      </p:sp>
      <p:sp>
        <p:nvSpPr>
          <p:cNvPr id="37" name="Text 35"/>
          <p:cNvSpPr/>
          <p:nvPr/>
        </p:nvSpPr>
        <p:spPr>
          <a:xfrm>
            <a:off x="4818888" y="2496312"/>
            <a:ext cx="1828800" cy="201168"/>
          </a:xfrm>
          <a:prstGeom prst="rect">
            <a:avLst/>
          </a:prstGeom>
          <a:noFill/>
          <a:ln/>
        </p:spPr>
        <p:txBody>
          <a:bodyPr wrap="square" lIns="0" tIns="0" rIns="0" bIns="0" rtlCol="0" anchor="ctr"/>
          <a:lstStyle/>
          <a:p>
            <a:pPr algn="ctr" indent="0" marL="0">
              <a:buNone/>
            </a:pPr>
            <a:r>
              <a:rPr lang="en-US" sz="800" b="1" dirty="0">
                <a:solidFill>
                  <a:srgbClr val="06B6D4"/>
                </a:solidFill>
              </a:rPr>
              <a:t>📋 KEY PATENT CLAIMS</a:t>
            </a:r>
            <a:endParaRPr lang="en-US" sz="800" dirty="0"/>
          </a:p>
        </p:txBody>
      </p:sp>
      <p:sp>
        <p:nvSpPr>
          <p:cNvPr id="38" name="Text 36"/>
          <p:cNvSpPr/>
          <p:nvPr/>
        </p:nvSpPr>
        <p:spPr>
          <a:xfrm>
            <a:off x="4818888" y="2715768"/>
            <a:ext cx="3931920" cy="1051560"/>
          </a:xfrm>
          <a:prstGeom prst="rect">
            <a:avLst/>
          </a:prstGeom>
          <a:noFill/>
          <a:ln/>
        </p:spPr>
        <p:txBody>
          <a:bodyPr wrap="square" lIns="25400" tIns="50800" rIns="0" bIns="0" rtlCol="0" anchor="ctr"/>
          <a:lstStyle/>
          <a:p>
            <a:pPr>
              <a:lnSpc>
                <a:spcPct val="130000"/>
              </a:lnSpc>
            </a:pPr>
            <a:r>
              <a:rPr lang="en-US" sz="850" dirty="0">
                <a:solidFill>
                  <a:srgbClr val="F8FAFC"/>
                </a:solidFill>
              </a:rPr>
              <a:t>Agent dependency graph with tensegrity topology: edges typed as tension (delegation) or compression (coordination), with prestress values</a:t>
            </a:r>
            <a:endParaRPr lang="en-US" sz="850" dirty="0"/>
          </a:p>
          <a:p>
            <a:pPr>
              <a:lnSpc>
                <a:spcPct val="130000"/>
              </a:lnSpc>
            </a:pPr>
            <a:r>
              <a:rPr lang="en-US" sz="850" dirty="0">
                <a:solidFill>
                  <a:srgbClr val="F8FAFC"/>
                </a:solidFill>
              </a:rPr>
              <a:t>Load redistribution protocol using tensegrity force balance equations to automatically activate backup paths when agent nodes fail</a:t>
            </a:r>
            <a:endParaRPr lang="en-US" sz="850" dirty="0"/>
          </a:p>
          <a:p>
            <a:pPr>
              <a:lnSpc>
                <a:spcPct val="130000"/>
              </a:lnSpc>
            </a:pPr>
            <a:r>
              <a:rPr lang="en-US" sz="850" dirty="0">
                <a:solidFill>
                  <a:srgbClr val="F8FAFC"/>
                </a:solidFill>
              </a:rPr>
              <a:t>Adaptive prestress governor that maintains minimum-energy equilibrium configuration of the agent network in real time</a:t>
            </a:r>
            <a:endParaRPr lang="en-US" sz="850" dirty="0"/>
          </a:p>
          <a:p>
            <a:pPr>
              <a:lnSpc>
                <a:spcPct val="130000"/>
              </a:lnSpc>
            </a:pPr>
            <a:r>
              <a:rPr lang="en-US" sz="850" dirty="0">
                <a:solidFill>
                  <a:srgbClr val="F8FAFC"/>
                </a:solidFill>
              </a:rPr>
              <a:t>Graceful degradation guarantee: provable bound on maximum workload increase per surviving agent for any single-node failure</a:t>
            </a:r>
            <a:endParaRPr lang="en-US" sz="850" dirty="0"/>
          </a:p>
        </p:txBody>
      </p:sp>
      <p:sp>
        <p:nvSpPr>
          <p:cNvPr id="39" name="Shape 37"/>
          <p:cNvSpPr/>
          <p:nvPr/>
        </p:nvSpPr>
        <p:spPr>
          <a:xfrm>
            <a:off x="4709160" y="3913632"/>
            <a:ext cx="4160520" cy="1152144"/>
          </a:xfrm>
          <a:prstGeom prst="roundRect">
            <a:avLst>
              <a:gd name="adj" fmla="val 5556"/>
            </a:avLst>
          </a:prstGeom>
          <a:solidFill>
            <a:srgbClr val="0D1117"/>
          </a:solidFill>
          <a:ln w="12700">
            <a:solidFill>
              <a:srgbClr val="06B6D4"/>
            </a:solidFill>
            <a:prstDash val="solid"/>
          </a:ln>
        </p:spPr>
      </p:sp>
      <p:sp>
        <p:nvSpPr>
          <p:cNvPr id="40" name="Shape 38"/>
          <p:cNvSpPr/>
          <p:nvPr/>
        </p:nvSpPr>
        <p:spPr>
          <a:xfrm>
            <a:off x="4818888" y="3977640"/>
            <a:ext cx="2651760" cy="201168"/>
          </a:xfrm>
          <a:prstGeom prst="roundRect">
            <a:avLst>
              <a:gd name="adj" fmla="val 18182"/>
            </a:avLst>
          </a:prstGeom>
          <a:solidFill>
            <a:srgbClr val="111827"/>
          </a:solidFill>
          <a:ln w="15240">
            <a:solidFill>
              <a:srgbClr val="06B6D4"/>
            </a:solidFill>
            <a:prstDash val="solid"/>
          </a:ln>
        </p:spPr>
      </p:sp>
      <p:sp>
        <p:nvSpPr>
          <p:cNvPr id="41" name="Text 39"/>
          <p:cNvSpPr/>
          <p:nvPr/>
        </p:nvSpPr>
        <p:spPr>
          <a:xfrm>
            <a:off x="4818888" y="3986784"/>
            <a:ext cx="2651760" cy="201168"/>
          </a:xfrm>
          <a:prstGeom prst="rect">
            <a:avLst/>
          </a:prstGeom>
          <a:noFill/>
          <a:ln/>
        </p:spPr>
        <p:txBody>
          <a:bodyPr wrap="square" lIns="0" tIns="0" rIns="0" bIns="0" rtlCol="0" anchor="ctr"/>
          <a:lstStyle/>
          <a:p>
            <a:pPr algn="ctr" indent="0" marL="0">
              <a:buNone/>
            </a:pPr>
            <a:r>
              <a:rPr lang="en-US" sz="800" b="1" dirty="0">
                <a:solidFill>
                  <a:srgbClr val="06B6D4"/>
                </a:solidFill>
              </a:rPr>
              <a:t>🔍 DIFFERENTIATION FROM PRIOR ART</a:t>
            </a:r>
            <a:endParaRPr lang="en-US" sz="800" dirty="0"/>
          </a:p>
        </p:txBody>
      </p:sp>
      <p:sp>
        <p:nvSpPr>
          <p:cNvPr id="42" name="Text 40"/>
          <p:cNvSpPr/>
          <p:nvPr/>
        </p:nvSpPr>
        <p:spPr>
          <a:xfrm>
            <a:off x="4818888" y="4206240"/>
            <a:ext cx="3931920" cy="804672"/>
          </a:xfrm>
          <a:prstGeom prst="rect">
            <a:avLst/>
          </a:prstGeom>
          <a:noFill/>
          <a:ln/>
        </p:spPr>
        <p:txBody>
          <a:bodyPr wrap="square" lIns="25400" tIns="50800" rIns="0" bIns="0" rtlCol="0" anchor="ctr"/>
          <a:lstStyle/>
          <a:p>
            <a:pPr>
              <a:lnSpc>
                <a:spcPct val="130000"/>
              </a:lnSpc>
            </a:pPr>
            <a:r>
              <a:rPr lang="en-US" sz="850" dirty="0">
                <a:solidFill>
                  <a:srgbClr val="F8FAFC"/>
                </a:solidFill>
              </a:rPr>
              <a:t>Distributed fault tolerance patents (US6212649): failure detection + retry blocks, not tensegrity load redistribution</a:t>
            </a:r>
            <a:endParaRPr lang="en-US" sz="850" dirty="0"/>
          </a:p>
          <a:p>
            <a:pPr>
              <a:lnSpc>
                <a:spcPct val="130000"/>
              </a:lnSpc>
            </a:pPr>
            <a:r>
              <a:rPr lang="en-US" sz="850" dirty="0">
                <a:solidFill>
                  <a:srgbClr val="F8FAFC"/>
                </a:solidFill>
              </a:rPr>
              <a:t>Springdrift runtime: append-only memory + rollback, not structural stability under failure</a:t>
            </a:r>
            <a:endParaRPr lang="en-US" sz="850" dirty="0"/>
          </a:p>
          <a:p>
            <a:pPr>
              <a:lnSpc>
                <a:spcPct val="130000"/>
              </a:lnSpc>
            </a:pPr>
            <a:r>
              <a:rPr lang="en-US" sz="850" dirty="0">
                <a:solidFill>
                  <a:srgbClr val="F8FAFC"/>
                </a:solidFill>
              </a:rPr>
              <a:t>Tensegrity ML (Springer 2026): tensegrity for structural design optimisation, not agent network topology</a:t>
            </a:r>
            <a:endParaRPr lang="en-US" sz="850" dirty="0"/>
          </a:p>
          <a:p>
            <a:pPr>
              <a:lnSpc>
                <a:spcPct val="130000"/>
              </a:lnSpc>
            </a:pPr>
            <a:r>
              <a:rPr lang="en-US" sz="850" dirty="0">
                <a:solidFill>
                  <a:srgbClr val="F8FAFC"/>
                </a:solidFill>
              </a:rPr>
              <a:t>No patent applies tensegrity prestress force balance to multi-agent dependency graph resilience</a:t>
            </a:r>
            <a:endParaRPr lang="en-US" sz="850" dirty="0"/>
          </a:p>
        </p:txBody>
      </p:sp>
      <p:sp>
        <p:nvSpPr>
          <p:cNvPr id="43" name="Text 41"/>
          <p:cNvSpPr/>
          <p:nvPr/>
        </p:nvSpPr>
        <p:spPr>
          <a:xfrm>
            <a:off x="8503920" y="4983480"/>
            <a:ext cx="457200" cy="164592"/>
          </a:xfrm>
          <a:prstGeom prst="rect">
            <a:avLst/>
          </a:prstGeom>
          <a:noFill/>
          <a:ln/>
        </p:spPr>
        <p:txBody>
          <a:bodyPr wrap="square" lIns="0" tIns="0" rIns="0" bIns="0" rtlCol="0" anchor="ctr"/>
          <a:lstStyle/>
          <a:p>
            <a:pPr algn="r" indent="0" marL="0">
              <a:buNone/>
            </a:pPr>
            <a:r>
              <a:rPr lang="en-US" sz="800" dirty="0">
                <a:solidFill>
                  <a:srgbClr val="94A3B8"/>
                </a:solidFill>
              </a:rPr>
              <a:t>7 / 10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EF4444"/>
          </a:solidFill>
          <a:ln w="12700">
            <a:solidFill>
              <a:srgbClr val="EF4444"/>
            </a:solidFill>
            <a:prstDash val="solid"/>
          </a:ln>
        </p:spPr>
      </p:sp>
      <p:sp>
        <p:nvSpPr>
          <p:cNvPr id="3" name="Shape 1"/>
          <p:cNvSpPr/>
          <p:nvPr/>
        </p:nvSpPr>
        <p:spPr>
          <a:xfrm>
            <a:off x="274320" y="91440"/>
            <a:ext cx="1325880" cy="347472"/>
          </a:xfrm>
          <a:prstGeom prst="roundRect">
            <a:avLst>
              <a:gd name="adj" fmla="val 15789"/>
            </a:avLst>
          </a:prstGeom>
          <a:solidFill>
            <a:srgbClr val="7F1D1D"/>
          </a:solidFill>
          <a:ln w="12700">
            <a:solidFill>
              <a:srgbClr val="EF4444"/>
            </a:solidFill>
            <a:prstDash val="solid"/>
          </a:ln>
        </p:spPr>
      </p:sp>
      <p:sp>
        <p:nvSpPr>
          <p:cNvPr id="4" name="Text 2"/>
          <p:cNvSpPr/>
          <p:nvPr/>
        </p:nvSpPr>
        <p:spPr>
          <a:xfrm>
            <a:off x="274320" y="91440"/>
            <a:ext cx="1325880" cy="347472"/>
          </a:xfrm>
          <a:prstGeom prst="rect">
            <a:avLst/>
          </a:prstGeom>
          <a:noFill/>
          <a:ln/>
        </p:spPr>
        <p:txBody>
          <a:bodyPr wrap="square" lIns="0" tIns="0" rIns="0" bIns="0" rtlCol="0" anchor="ctr"/>
          <a:lstStyle/>
          <a:p>
            <a:pPr algn="ctr" indent="0" marL="0">
              <a:buNone/>
            </a:pPr>
            <a:r>
              <a:rPr lang="en-US" sz="900" b="1" dirty="0">
                <a:solidFill>
                  <a:srgbClr val="EF4444"/>
                </a:solidFill>
              </a:rPr>
              <a:t>Patent Idea #8</a:t>
            </a:r>
            <a:endParaRPr lang="en-US" sz="900" dirty="0"/>
          </a:p>
        </p:txBody>
      </p:sp>
      <p:sp>
        <p:nvSpPr>
          <p:cNvPr id="5" name="Text 3"/>
          <p:cNvSpPr/>
          <p:nvPr/>
        </p:nvSpPr>
        <p:spPr>
          <a:xfrm>
            <a:off x="1691640" y="91440"/>
            <a:ext cx="7132320" cy="274320"/>
          </a:xfrm>
          <a:prstGeom prst="rect">
            <a:avLst/>
          </a:prstGeom>
          <a:noFill/>
          <a:ln/>
        </p:spPr>
        <p:txBody>
          <a:bodyPr wrap="square" lIns="0" tIns="0" rIns="0" bIns="0" rtlCol="0" anchor="ctr"/>
          <a:lstStyle/>
          <a:p>
            <a:pPr indent="0" marL="0">
              <a:buNone/>
            </a:pPr>
            <a:r>
              <a:rPr lang="en-US" sz="1450" b="1" dirty="0">
                <a:solidFill>
                  <a:srgbClr val="FFFFFF"/>
                </a:solidFill>
              </a:rPr>
              <a:t>Phase-Transition Planning via Crystallisation Annealing (PTPCA)</a:t>
            </a:r>
            <a:endParaRPr lang="en-US" sz="1450" dirty="0"/>
          </a:p>
        </p:txBody>
      </p:sp>
      <p:sp>
        <p:nvSpPr>
          <p:cNvPr id="6" name="Text 4"/>
          <p:cNvSpPr/>
          <p:nvPr/>
        </p:nvSpPr>
        <p:spPr>
          <a:xfrm>
            <a:off x="1691640" y="384048"/>
            <a:ext cx="7132320" cy="182880"/>
          </a:xfrm>
          <a:prstGeom prst="rect">
            <a:avLst/>
          </a:prstGeom>
          <a:noFill/>
          <a:ln/>
        </p:spPr>
        <p:txBody>
          <a:bodyPr wrap="square" lIns="0" tIns="0" rIns="0" bIns="0" rtlCol="0" anchor="t"/>
          <a:lstStyle/>
          <a:p>
            <a:pPr indent="0" marL="0">
              <a:buNone/>
            </a:pPr>
            <a:r>
              <a:rPr lang="en-US" sz="900" dirty="0">
                <a:solidFill>
                  <a:srgbClr val="94A3B8"/>
                </a:solidFill>
              </a:rPr>
              <a:t>Agent plans crystallise from disordered exploration through simulated annealing until a minimal-energy ordered configuration is reached</a:t>
            </a:r>
            <a:endParaRPr lang="en-US" sz="900" dirty="0"/>
          </a:p>
        </p:txBody>
      </p:sp>
      <p:sp>
        <p:nvSpPr>
          <p:cNvPr id="7" name="Shape 5"/>
          <p:cNvSpPr/>
          <p:nvPr/>
        </p:nvSpPr>
        <p:spPr>
          <a:xfrm>
            <a:off x="1691640" y="594360"/>
            <a:ext cx="1302106" cy="201168"/>
          </a:xfrm>
          <a:prstGeom prst="roundRect">
            <a:avLst>
              <a:gd name="adj" fmla="val 18182"/>
            </a:avLst>
          </a:prstGeom>
          <a:solidFill>
            <a:srgbClr val="7F1D1D"/>
          </a:solidFill>
          <a:ln w="12700">
            <a:solidFill>
              <a:srgbClr val="7F1D1D"/>
            </a:solidFill>
            <a:prstDash val="solid"/>
          </a:ln>
        </p:spPr>
      </p:sp>
      <p:sp>
        <p:nvSpPr>
          <p:cNvPr id="8" name="Text 6"/>
          <p:cNvSpPr/>
          <p:nvPr/>
        </p:nvSpPr>
        <p:spPr>
          <a:xfrm>
            <a:off x="1691640" y="594360"/>
            <a:ext cx="1302106" cy="201168"/>
          </a:xfrm>
          <a:prstGeom prst="rect">
            <a:avLst/>
          </a:prstGeom>
          <a:noFill/>
          <a:ln/>
        </p:spPr>
        <p:txBody>
          <a:bodyPr wrap="square" lIns="0" tIns="0" rIns="0" bIns="0" rtlCol="0" anchor="ctr"/>
          <a:lstStyle/>
          <a:p>
            <a:pPr algn="ctr" indent="0" marL="0">
              <a:buNone/>
            </a:pPr>
            <a:r>
              <a:rPr lang="en-US" sz="800" b="1" dirty="0">
                <a:solidFill>
                  <a:srgbClr val="EF4444"/>
                </a:solidFill>
              </a:rPr>
              <a:t>Materials Science</a:t>
            </a:r>
            <a:endParaRPr lang="en-US" sz="800" dirty="0"/>
          </a:p>
        </p:txBody>
      </p:sp>
      <p:sp>
        <p:nvSpPr>
          <p:cNvPr id="9" name="Shape 7"/>
          <p:cNvSpPr/>
          <p:nvPr/>
        </p:nvSpPr>
        <p:spPr>
          <a:xfrm>
            <a:off x="3085186" y="594360"/>
            <a:ext cx="1302106" cy="201168"/>
          </a:xfrm>
          <a:prstGeom prst="roundRect">
            <a:avLst>
              <a:gd name="adj" fmla="val 18182"/>
            </a:avLst>
          </a:prstGeom>
          <a:solidFill>
            <a:srgbClr val="7F1D1D"/>
          </a:solidFill>
          <a:ln w="12700">
            <a:solidFill>
              <a:srgbClr val="7F1D1D"/>
            </a:solidFill>
            <a:prstDash val="solid"/>
          </a:ln>
        </p:spPr>
      </p:sp>
      <p:sp>
        <p:nvSpPr>
          <p:cNvPr id="10" name="Text 8"/>
          <p:cNvSpPr/>
          <p:nvPr/>
        </p:nvSpPr>
        <p:spPr>
          <a:xfrm>
            <a:off x="3085186" y="594360"/>
            <a:ext cx="1302106" cy="201168"/>
          </a:xfrm>
          <a:prstGeom prst="rect">
            <a:avLst/>
          </a:prstGeom>
          <a:noFill/>
          <a:ln/>
        </p:spPr>
        <p:txBody>
          <a:bodyPr wrap="square" lIns="0" tIns="0" rIns="0" bIns="0" rtlCol="0" anchor="ctr"/>
          <a:lstStyle/>
          <a:p>
            <a:pPr algn="ctr" indent="0" marL="0">
              <a:buNone/>
            </a:pPr>
            <a:r>
              <a:rPr lang="en-US" sz="800" b="1" dirty="0">
                <a:solidFill>
                  <a:srgbClr val="EF4444"/>
                </a:solidFill>
              </a:rPr>
              <a:t>Phase Transitions</a:t>
            </a:r>
            <a:endParaRPr lang="en-US" sz="800" dirty="0"/>
          </a:p>
        </p:txBody>
      </p:sp>
      <p:sp>
        <p:nvSpPr>
          <p:cNvPr id="11" name="Shape 9"/>
          <p:cNvSpPr/>
          <p:nvPr/>
        </p:nvSpPr>
        <p:spPr>
          <a:xfrm>
            <a:off x="4478731" y="594360"/>
            <a:ext cx="1170432" cy="201168"/>
          </a:xfrm>
          <a:prstGeom prst="roundRect">
            <a:avLst>
              <a:gd name="adj" fmla="val 18182"/>
            </a:avLst>
          </a:prstGeom>
          <a:solidFill>
            <a:srgbClr val="7F1D1D"/>
          </a:solidFill>
          <a:ln w="12700">
            <a:solidFill>
              <a:srgbClr val="7F1D1D"/>
            </a:solidFill>
            <a:prstDash val="solid"/>
          </a:ln>
        </p:spPr>
      </p:sp>
      <p:sp>
        <p:nvSpPr>
          <p:cNvPr id="12" name="Text 10"/>
          <p:cNvSpPr/>
          <p:nvPr/>
        </p:nvSpPr>
        <p:spPr>
          <a:xfrm>
            <a:off x="4478731" y="594360"/>
            <a:ext cx="1170432" cy="201168"/>
          </a:xfrm>
          <a:prstGeom prst="rect">
            <a:avLst/>
          </a:prstGeom>
          <a:noFill/>
          <a:ln/>
        </p:spPr>
        <p:txBody>
          <a:bodyPr wrap="square" lIns="0" tIns="0" rIns="0" bIns="0" rtlCol="0" anchor="ctr"/>
          <a:lstStyle/>
          <a:p>
            <a:pPr algn="ctr" indent="0" marL="0">
              <a:buNone/>
            </a:pPr>
            <a:r>
              <a:rPr lang="en-US" sz="800" b="1" dirty="0">
                <a:solidFill>
                  <a:srgbClr val="EF4444"/>
                </a:solidFill>
              </a:rPr>
              <a:t>Crystallography</a:t>
            </a:r>
            <a:endParaRPr lang="en-US" sz="800" dirty="0"/>
          </a:p>
        </p:txBody>
      </p:sp>
      <p:sp>
        <p:nvSpPr>
          <p:cNvPr id="13" name="Shape 11"/>
          <p:cNvSpPr/>
          <p:nvPr/>
        </p:nvSpPr>
        <p:spPr>
          <a:xfrm>
            <a:off x="5740603" y="594360"/>
            <a:ext cx="1565453" cy="201168"/>
          </a:xfrm>
          <a:prstGeom prst="roundRect">
            <a:avLst>
              <a:gd name="adj" fmla="val 18182"/>
            </a:avLst>
          </a:prstGeom>
          <a:solidFill>
            <a:srgbClr val="7F1D1D"/>
          </a:solidFill>
          <a:ln w="12700">
            <a:solidFill>
              <a:srgbClr val="7F1D1D"/>
            </a:solidFill>
            <a:prstDash val="solid"/>
          </a:ln>
        </p:spPr>
      </p:sp>
      <p:sp>
        <p:nvSpPr>
          <p:cNvPr id="14" name="Text 12"/>
          <p:cNvSpPr/>
          <p:nvPr/>
        </p:nvSpPr>
        <p:spPr>
          <a:xfrm>
            <a:off x="5740603" y="594360"/>
            <a:ext cx="1565453" cy="201168"/>
          </a:xfrm>
          <a:prstGeom prst="rect">
            <a:avLst/>
          </a:prstGeom>
          <a:noFill/>
          <a:ln/>
        </p:spPr>
        <p:txBody>
          <a:bodyPr wrap="square" lIns="0" tIns="0" rIns="0" bIns="0" rtlCol="0" anchor="ctr"/>
          <a:lstStyle/>
          <a:p>
            <a:pPr algn="ctr" indent="0" marL="0">
              <a:buNone/>
            </a:pPr>
            <a:r>
              <a:rPr lang="en-US" sz="800" b="1" dirty="0">
                <a:solidFill>
                  <a:srgbClr val="EF4444"/>
                </a:solidFill>
              </a:rPr>
              <a:t>Statistical Mechanics</a:t>
            </a:r>
            <a:endParaRPr lang="en-US" sz="800" dirty="0"/>
          </a:p>
        </p:txBody>
      </p:sp>
      <p:sp>
        <p:nvSpPr>
          <p:cNvPr id="15" name="Shape 13"/>
          <p:cNvSpPr/>
          <p:nvPr/>
        </p:nvSpPr>
        <p:spPr>
          <a:xfrm>
            <a:off x="274320" y="868680"/>
            <a:ext cx="1389888" cy="658368"/>
          </a:xfrm>
          <a:prstGeom prst="roundRect">
            <a:avLst>
              <a:gd name="adj" fmla="val 9722"/>
            </a:avLst>
          </a:prstGeom>
          <a:solidFill>
            <a:srgbClr val="064E3B"/>
          </a:solidFill>
          <a:ln w="19050">
            <a:solidFill>
              <a:srgbClr val="34D399"/>
            </a:solidFill>
            <a:prstDash val="solid"/>
          </a:ln>
        </p:spPr>
      </p:sp>
      <p:sp>
        <p:nvSpPr>
          <p:cNvPr id="16" name="Text 14"/>
          <p:cNvSpPr/>
          <p:nvPr/>
        </p:nvSpPr>
        <p:spPr>
          <a:xfrm>
            <a:off x="27432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ACCEPTANCE</a:t>
            </a:r>
            <a:endParaRPr lang="en-US" sz="750" dirty="0"/>
          </a:p>
        </p:txBody>
      </p:sp>
      <p:sp>
        <p:nvSpPr>
          <p:cNvPr id="17" name="Text 15"/>
          <p:cNvSpPr/>
          <p:nvPr/>
        </p:nvSpPr>
        <p:spPr>
          <a:xfrm>
            <a:off x="27432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73%</a:t>
            </a:r>
            <a:endParaRPr lang="en-US" sz="2000" dirty="0"/>
          </a:p>
        </p:txBody>
      </p:sp>
      <p:sp>
        <p:nvSpPr>
          <p:cNvPr id="18" name="Shape 16"/>
          <p:cNvSpPr/>
          <p:nvPr/>
        </p:nvSpPr>
        <p:spPr>
          <a:xfrm>
            <a:off x="1828800" y="868680"/>
            <a:ext cx="1389888" cy="658368"/>
          </a:xfrm>
          <a:prstGeom prst="roundRect">
            <a:avLst>
              <a:gd name="adj" fmla="val 9722"/>
            </a:avLst>
          </a:prstGeom>
          <a:solidFill>
            <a:srgbClr val="064E3B"/>
          </a:solidFill>
          <a:ln w="19050">
            <a:solidFill>
              <a:srgbClr val="34D399"/>
            </a:solidFill>
            <a:prstDash val="solid"/>
          </a:ln>
        </p:spPr>
      </p:sp>
      <p:sp>
        <p:nvSpPr>
          <p:cNvPr id="19" name="Text 17"/>
          <p:cNvSpPr/>
          <p:nvPr/>
        </p:nvSpPr>
        <p:spPr>
          <a:xfrm>
            <a:off x="182880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OVERLAP</a:t>
            </a:r>
            <a:endParaRPr lang="en-US" sz="750" dirty="0"/>
          </a:p>
        </p:txBody>
      </p:sp>
      <p:sp>
        <p:nvSpPr>
          <p:cNvPr id="20" name="Text 18"/>
          <p:cNvSpPr/>
          <p:nvPr/>
        </p:nvSpPr>
        <p:spPr>
          <a:xfrm>
            <a:off x="182880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17%</a:t>
            </a:r>
            <a:endParaRPr lang="en-US" sz="2000" dirty="0"/>
          </a:p>
        </p:txBody>
      </p:sp>
      <p:sp>
        <p:nvSpPr>
          <p:cNvPr id="21" name="Shape 19"/>
          <p:cNvSpPr/>
          <p:nvPr/>
        </p:nvSpPr>
        <p:spPr>
          <a:xfrm>
            <a:off x="3383280" y="868680"/>
            <a:ext cx="1389888" cy="658368"/>
          </a:xfrm>
          <a:prstGeom prst="roundRect">
            <a:avLst>
              <a:gd name="adj" fmla="val 9722"/>
            </a:avLst>
          </a:prstGeom>
          <a:solidFill>
            <a:srgbClr val="2D1B69"/>
          </a:solidFill>
          <a:ln w="19050">
            <a:solidFill>
              <a:srgbClr val="A78BFA"/>
            </a:solidFill>
            <a:prstDash val="solid"/>
          </a:ln>
        </p:spPr>
      </p:sp>
      <p:sp>
        <p:nvSpPr>
          <p:cNvPr id="22" name="Text 20"/>
          <p:cNvSpPr/>
          <p:nvPr/>
        </p:nvSpPr>
        <p:spPr>
          <a:xfrm>
            <a:off x="3383280" y="905256"/>
            <a:ext cx="1389888" cy="219456"/>
          </a:xfrm>
          <a:prstGeom prst="rect">
            <a:avLst/>
          </a:prstGeom>
          <a:noFill/>
          <a:ln/>
        </p:spPr>
        <p:txBody>
          <a:bodyPr wrap="square" lIns="0" tIns="0" rIns="0" bIns="0" rtlCol="0" anchor="ctr"/>
          <a:lstStyle/>
          <a:p>
            <a:pPr algn="ctr" indent="0" marL="0">
              <a:buNone/>
            </a:pPr>
            <a:r>
              <a:rPr lang="en-US" sz="750" b="1" dirty="0">
                <a:solidFill>
                  <a:srgbClr val="A78BFA"/>
                </a:solidFill>
              </a:rPr>
              <a:t>EST. NOVELTY</a:t>
            </a:r>
            <a:endParaRPr lang="en-US" sz="750" dirty="0"/>
          </a:p>
        </p:txBody>
      </p:sp>
      <p:sp>
        <p:nvSpPr>
          <p:cNvPr id="23" name="Text 21"/>
          <p:cNvSpPr/>
          <p:nvPr/>
        </p:nvSpPr>
        <p:spPr>
          <a:xfrm>
            <a:off x="3383280" y="1124712"/>
            <a:ext cx="1389888" cy="347472"/>
          </a:xfrm>
          <a:prstGeom prst="rect">
            <a:avLst/>
          </a:prstGeom>
          <a:noFill/>
          <a:ln/>
        </p:spPr>
        <p:txBody>
          <a:bodyPr wrap="square" lIns="0" tIns="0" rIns="0" bIns="0" rtlCol="0" anchor="ctr"/>
          <a:lstStyle/>
          <a:p>
            <a:pPr algn="ctr" indent="0" marL="0">
              <a:buNone/>
            </a:pPr>
            <a:r>
              <a:rPr lang="en-US" sz="2000" b="1" dirty="0">
                <a:solidFill>
                  <a:srgbClr val="A78BFA"/>
                </a:solidFill>
              </a:rPr>
              <a:t>83%</a:t>
            </a:r>
            <a:endParaRPr lang="en-US" sz="2000" dirty="0"/>
          </a:p>
        </p:txBody>
      </p:sp>
      <p:sp>
        <p:nvSpPr>
          <p:cNvPr id="24" name="Shape 22"/>
          <p:cNvSpPr/>
          <p:nvPr/>
        </p:nvSpPr>
        <p:spPr>
          <a:xfrm>
            <a:off x="274320" y="1627632"/>
            <a:ext cx="8595360" cy="685800"/>
          </a:xfrm>
          <a:prstGeom prst="roundRect">
            <a:avLst>
              <a:gd name="adj" fmla="val 9333"/>
            </a:avLst>
          </a:prstGeom>
          <a:solidFill>
            <a:srgbClr val="7F1D1D"/>
          </a:solidFill>
          <a:ln w="12700">
            <a:solidFill>
              <a:srgbClr val="EF4444"/>
            </a:solidFill>
            <a:prstDash val="solid"/>
          </a:ln>
        </p:spPr>
      </p:sp>
      <p:sp>
        <p:nvSpPr>
          <p:cNvPr id="25" name="Text 23"/>
          <p:cNvSpPr/>
          <p:nvPr/>
        </p:nvSpPr>
        <p:spPr>
          <a:xfrm>
            <a:off x="402336" y="1682496"/>
            <a:ext cx="2011680" cy="201168"/>
          </a:xfrm>
          <a:prstGeom prst="rect">
            <a:avLst/>
          </a:prstGeom>
          <a:noFill/>
          <a:ln/>
        </p:spPr>
        <p:txBody>
          <a:bodyPr wrap="square" lIns="0" tIns="0" rIns="0" bIns="0" rtlCol="0" anchor="ctr"/>
          <a:lstStyle/>
          <a:p>
            <a:pPr indent="0" marL="0">
              <a:buNone/>
            </a:pPr>
            <a:r>
              <a:rPr lang="en-US" sz="850" b="1" dirty="0">
                <a:solidFill>
                  <a:srgbClr val="EF4444"/>
                </a:solidFill>
              </a:rPr>
              <a:t>💡 Cross-Domain Insight</a:t>
            </a:r>
            <a:endParaRPr lang="en-US" sz="850" dirty="0"/>
          </a:p>
        </p:txBody>
      </p:sp>
      <p:sp>
        <p:nvSpPr>
          <p:cNvPr id="26" name="Text 24"/>
          <p:cNvSpPr/>
          <p:nvPr/>
        </p:nvSpPr>
        <p:spPr>
          <a:xfrm>
            <a:off x="402336" y="1865376"/>
            <a:ext cx="8321040" cy="402336"/>
          </a:xfrm>
          <a:prstGeom prst="rect">
            <a:avLst/>
          </a:prstGeom>
          <a:noFill/>
          <a:ln/>
        </p:spPr>
        <p:txBody>
          <a:bodyPr wrap="square" lIns="0" tIns="0" rIns="0" bIns="0" rtlCol="0" anchor="ctr"/>
          <a:lstStyle/>
          <a:p>
            <a:pPr indent="0" marL="0">
              <a:lnSpc>
                <a:spcPct val="125000"/>
              </a:lnSpc>
              <a:buNone/>
            </a:pPr>
            <a:r>
              <a:rPr lang="en-US" sz="900" dirty="0">
                <a:solidFill>
                  <a:srgbClr val="F8FAFC"/>
                </a:solidFill>
              </a:rPr>
              <a:t>Crystal formation: disordered atoms find minimum-energy ordered configurations through annealing — slow cooling allows exploration of configuration space. Order-disorder transitions in phase-change materials encode information in structural state. Agent planning is an analogous search through configuration space — annealing with the right schedule reaches globally optimal ordered plans.</a:t>
            </a:r>
            <a:endParaRPr lang="en-US" sz="900" dirty="0"/>
          </a:p>
        </p:txBody>
      </p:sp>
      <p:sp>
        <p:nvSpPr>
          <p:cNvPr id="27" name="Shape 25"/>
          <p:cNvSpPr/>
          <p:nvPr/>
        </p:nvSpPr>
        <p:spPr>
          <a:xfrm>
            <a:off x="274320" y="2423160"/>
            <a:ext cx="4160520" cy="1188720"/>
          </a:xfrm>
          <a:prstGeom prst="roundRect">
            <a:avLst>
              <a:gd name="adj" fmla="val 5385"/>
            </a:avLst>
          </a:prstGeom>
          <a:solidFill>
            <a:srgbClr val="1A2235"/>
          </a:solidFill>
          <a:ln w="6350">
            <a:solidFill>
              <a:srgbClr val="2D3748"/>
            </a:solidFill>
            <a:prstDash val="solid"/>
          </a:ln>
        </p:spPr>
      </p:sp>
      <p:sp>
        <p:nvSpPr>
          <p:cNvPr id="28" name="Shape 26"/>
          <p:cNvSpPr/>
          <p:nvPr/>
        </p:nvSpPr>
        <p:spPr>
          <a:xfrm>
            <a:off x="384048" y="2487168"/>
            <a:ext cx="1737360" cy="201168"/>
          </a:xfrm>
          <a:prstGeom prst="roundRect">
            <a:avLst>
              <a:gd name="adj" fmla="val 18182"/>
            </a:avLst>
          </a:prstGeom>
          <a:solidFill>
            <a:srgbClr val="111827"/>
          </a:solidFill>
          <a:ln w="15240">
            <a:solidFill>
              <a:srgbClr val="EF4444"/>
            </a:solidFill>
            <a:prstDash val="solid"/>
          </a:ln>
        </p:spPr>
      </p:sp>
      <p:sp>
        <p:nvSpPr>
          <p:cNvPr id="29" name="Text 27"/>
          <p:cNvSpPr/>
          <p:nvPr/>
        </p:nvSpPr>
        <p:spPr>
          <a:xfrm>
            <a:off x="384048" y="2496312"/>
            <a:ext cx="1737360" cy="201168"/>
          </a:xfrm>
          <a:prstGeom prst="rect">
            <a:avLst/>
          </a:prstGeom>
          <a:noFill/>
          <a:ln/>
        </p:spPr>
        <p:txBody>
          <a:bodyPr wrap="square" lIns="0" tIns="0" rIns="0" bIns="0" rtlCol="0" anchor="ctr"/>
          <a:lstStyle/>
          <a:p>
            <a:pPr algn="ctr" indent="0" marL="0">
              <a:buNone/>
            </a:pPr>
            <a:r>
              <a:rPr lang="en-US" sz="800" b="1" dirty="0">
                <a:solidFill>
                  <a:srgbClr val="EF4444"/>
                </a:solidFill>
              </a:rPr>
              <a:t>⚡ PROBLEM SOLVED</a:t>
            </a:r>
            <a:endParaRPr lang="en-US" sz="800" dirty="0"/>
          </a:p>
        </p:txBody>
      </p:sp>
      <p:sp>
        <p:nvSpPr>
          <p:cNvPr id="30" name="Text 28"/>
          <p:cNvSpPr/>
          <p:nvPr/>
        </p:nvSpPr>
        <p:spPr>
          <a:xfrm>
            <a:off x="384048" y="2715768"/>
            <a:ext cx="3931920" cy="822960"/>
          </a:xfrm>
          <a:prstGeom prst="rect">
            <a:avLst/>
          </a:prstGeom>
          <a:noFill/>
          <a:ln/>
        </p:spPr>
        <p:txBody>
          <a:bodyPr wrap="square" lIns="0" tIns="0" rIns="0" bIns="0" rtlCol="0" anchor="ctr"/>
          <a:lstStyle/>
          <a:p>
            <a:pPr indent="0" marL="0">
              <a:lnSpc>
                <a:spcPct val="130000"/>
              </a:lnSpc>
              <a:buNone/>
            </a:pPr>
            <a:r>
              <a:rPr lang="en-US" sz="900" dirty="0">
                <a:solidFill>
                  <a:srgbClr val="94A3B8"/>
                </a:solidFill>
              </a:rPr>
              <a:t>LLM agents greedily commit to the first plausible plan structure, missing globally better configurations. Simulated annealing is known for optimisation but has not been fused with multi-agent role assignment and constraint satisfaction simultaneously.</a:t>
            </a:r>
            <a:endParaRPr lang="en-US" sz="900" dirty="0"/>
          </a:p>
        </p:txBody>
      </p:sp>
      <p:sp>
        <p:nvSpPr>
          <p:cNvPr id="31" name="Shape 29"/>
          <p:cNvSpPr/>
          <p:nvPr/>
        </p:nvSpPr>
        <p:spPr>
          <a:xfrm>
            <a:off x="274320" y="3675888"/>
            <a:ext cx="4160520" cy="1389888"/>
          </a:xfrm>
          <a:prstGeom prst="roundRect">
            <a:avLst>
              <a:gd name="adj" fmla="val 4605"/>
            </a:avLst>
          </a:prstGeom>
          <a:solidFill>
            <a:srgbClr val="1A2235"/>
          </a:solidFill>
          <a:ln w="6350">
            <a:solidFill>
              <a:srgbClr val="2D3748"/>
            </a:solidFill>
            <a:prstDash val="solid"/>
          </a:ln>
        </p:spPr>
      </p:sp>
      <p:sp>
        <p:nvSpPr>
          <p:cNvPr id="32" name="Shape 30"/>
          <p:cNvSpPr/>
          <p:nvPr/>
        </p:nvSpPr>
        <p:spPr>
          <a:xfrm>
            <a:off x="384048" y="3739896"/>
            <a:ext cx="2743200" cy="201168"/>
          </a:xfrm>
          <a:prstGeom prst="roundRect">
            <a:avLst>
              <a:gd name="adj" fmla="val 18182"/>
            </a:avLst>
          </a:prstGeom>
          <a:solidFill>
            <a:srgbClr val="111827"/>
          </a:solidFill>
          <a:ln w="15240">
            <a:solidFill>
              <a:srgbClr val="333333"/>
            </a:solidFill>
            <a:prstDash val="solid"/>
          </a:ln>
        </p:spPr>
      </p:sp>
      <p:sp>
        <p:nvSpPr>
          <p:cNvPr id="33" name="Text 31"/>
          <p:cNvSpPr/>
          <p:nvPr/>
        </p:nvSpPr>
        <p:spPr>
          <a:xfrm>
            <a:off x="384048" y="3749040"/>
            <a:ext cx="2743200" cy="201168"/>
          </a:xfrm>
          <a:prstGeom prst="rect">
            <a:avLst/>
          </a:prstGeom>
          <a:noFill/>
          <a:ln/>
        </p:spPr>
        <p:txBody>
          <a:bodyPr wrap="square" lIns="0" tIns="0" rIns="0" bIns="0" rtlCol="0" anchor="ctr"/>
          <a:lstStyle/>
          <a:p>
            <a:pPr algn="ctr" indent="0" marL="0">
              <a:buNone/>
            </a:pPr>
            <a:r>
              <a:rPr lang="en-US" sz="800" b="1" dirty="0">
                <a:solidFill>
                  <a:srgbClr val="000000"/>
                </a:solidFill>
              </a:rPr>
              <a:t>🔬 NOVEL APPROACH (NUMBERED STEPS)</a:t>
            </a:r>
            <a:endParaRPr lang="en-US" sz="800" dirty="0"/>
          </a:p>
        </p:txBody>
      </p:sp>
      <p:sp>
        <p:nvSpPr>
          <p:cNvPr id="34" name="Text 32"/>
          <p:cNvSpPr/>
          <p:nvPr/>
        </p:nvSpPr>
        <p:spPr>
          <a:xfrm>
            <a:off x="384048" y="3977640"/>
            <a:ext cx="3931920" cy="1024128"/>
          </a:xfrm>
          <a:prstGeom prst="rect">
            <a:avLst/>
          </a:prstGeom>
          <a:noFill/>
          <a:ln/>
        </p:spPr>
        <p:txBody>
          <a:bodyPr wrap="square" lIns="25400" tIns="50800" rIns="0" bIns="0" rtlCol="0" anchor="ctr"/>
          <a:lstStyle/>
          <a:p>
            <a:pPr marL="342900" indent="-342900">
              <a:lnSpc>
                <a:spcPct val="130000"/>
              </a:lnSpc>
              <a:buSzPct val="100000"/>
              <a:buFont typeface="+mj-lt"/>
              <a:buAutoNum type="arabicPeriod" startAt="1"/>
            </a:pPr>
            <a:r>
              <a:rPr lang="en-US" sz="850" dirty="0">
                <a:solidFill>
                  <a:srgbClr val="F8FAFC"/>
                </a:solidFill>
              </a:rPr>
              <a:t>Plan as crystal lattice: each plan step is an atom with bonds (dependencies); valid plans are low-energy configurations; constraint violations are high-energy defects</a:t>
            </a:r>
            <a:endParaRPr lang="en-US" sz="850" dirty="0"/>
          </a:p>
          <a:p>
            <a:pPr marL="342900" indent="-342900">
              <a:lnSpc>
                <a:spcPct val="130000"/>
              </a:lnSpc>
              <a:buSzPct val="100000"/>
              <a:buFont typeface="+mj-lt"/>
              <a:buAutoNum type="arabicPeriod" startAt="1"/>
            </a:pPr>
            <a:r>
              <a:rPr lang="en-US" sz="850" dirty="0">
                <a:solidFill>
                  <a:srgbClr val="F8FAFC"/>
                </a:solidFill>
              </a:rPr>
              <a:t>Crystallisation annealing: temperature T controls willingness to accept worse plans; at high T, radical restructuring is allowed (disordered exploration); at low T, only local refinements (ordered commitment)</a:t>
            </a:r>
            <a:endParaRPr lang="en-US" sz="850" dirty="0"/>
          </a:p>
          <a:p>
            <a:pPr marL="342900" indent="-342900">
              <a:lnSpc>
                <a:spcPct val="130000"/>
              </a:lnSpc>
              <a:buSzPct val="100000"/>
              <a:buFont typeface="+mj-lt"/>
              <a:buAutoNum type="arabicPeriod" startAt="1"/>
            </a:pPr>
            <a:r>
              <a:rPr lang="en-US" sz="850" dirty="0">
                <a:solidFill>
                  <a:srgbClr val="F8FAFC"/>
                </a:solidFill>
              </a:rPr>
              <a:t>Multi-agent energy function: E = sum of constraint violations + agent capability mismatch + rollback risk × step depth</a:t>
            </a:r>
            <a:endParaRPr lang="en-US" sz="850" dirty="0"/>
          </a:p>
          <a:p>
            <a:pPr marL="342900" indent="-342900">
              <a:lnSpc>
                <a:spcPct val="130000"/>
              </a:lnSpc>
              <a:buSzPct val="100000"/>
              <a:buFont typeface="+mj-lt"/>
              <a:buAutoNum type="arabicPeriod" startAt="1"/>
            </a:pPr>
            <a:r>
              <a:rPr lang="en-US" sz="850" dirty="0">
                <a:solidFill>
                  <a:srgbClr val="F8FAFC"/>
                </a:solidFill>
              </a:rPr>
              <a:t>Phase-change memory analog: two stable plan states (amorphous = exploratory draft, crystalline = committed execution) with configurable transition thresholds based on verification scores</a:t>
            </a:r>
            <a:endParaRPr lang="en-US" sz="850" dirty="0"/>
          </a:p>
        </p:txBody>
      </p:sp>
      <p:sp>
        <p:nvSpPr>
          <p:cNvPr id="35" name="Shape 33"/>
          <p:cNvSpPr/>
          <p:nvPr/>
        </p:nvSpPr>
        <p:spPr>
          <a:xfrm>
            <a:off x="4709160" y="2423160"/>
            <a:ext cx="4160520" cy="1417320"/>
          </a:xfrm>
          <a:prstGeom prst="roundRect">
            <a:avLst>
              <a:gd name="adj" fmla="val 4516"/>
            </a:avLst>
          </a:prstGeom>
          <a:solidFill>
            <a:srgbClr val="1A2235"/>
          </a:solidFill>
          <a:ln w="6350">
            <a:solidFill>
              <a:srgbClr val="2D3748"/>
            </a:solidFill>
            <a:prstDash val="solid"/>
          </a:ln>
        </p:spPr>
      </p:sp>
      <p:sp>
        <p:nvSpPr>
          <p:cNvPr id="36" name="Shape 34"/>
          <p:cNvSpPr/>
          <p:nvPr/>
        </p:nvSpPr>
        <p:spPr>
          <a:xfrm>
            <a:off x="4818888" y="2487168"/>
            <a:ext cx="1828800" cy="201168"/>
          </a:xfrm>
          <a:prstGeom prst="roundRect">
            <a:avLst>
              <a:gd name="adj" fmla="val 18182"/>
            </a:avLst>
          </a:prstGeom>
          <a:solidFill>
            <a:srgbClr val="111827"/>
          </a:solidFill>
          <a:ln w="15240">
            <a:solidFill>
              <a:srgbClr val="EF4444"/>
            </a:solidFill>
            <a:prstDash val="solid"/>
          </a:ln>
        </p:spPr>
      </p:sp>
      <p:sp>
        <p:nvSpPr>
          <p:cNvPr id="37" name="Text 35"/>
          <p:cNvSpPr/>
          <p:nvPr/>
        </p:nvSpPr>
        <p:spPr>
          <a:xfrm>
            <a:off x="4818888" y="2496312"/>
            <a:ext cx="1828800" cy="201168"/>
          </a:xfrm>
          <a:prstGeom prst="rect">
            <a:avLst/>
          </a:prstGeom>
          <a:noFill/>
          <a:ln/>
        </p:spPr>
        <p:txBody>
          <a:bodyPr wrap="square" lIns="0" tIns="0" rIns="0" bIns="0" rtlCol="0" anchor="ctr"/>
          <a:lstStyle/>
          <a:p>
            <a:pPr algn="ctr" indent="0" marL="0">
              <a:buNone/>
            </a:pPr>
            <a:r>
              <a:rPr lang="en-US" sz="800" b="1" dirty="0">
                <a:solidFill>
                  <a:srgbClr val="EF4444"/>
                </a:solidFill>
              </a:rPr>
              <a:t>📋 KEY PATENT CLAIMS</a:t>
            </a:r>
            <a:endParaRPr lang="en-US" sz="800" dirty="0"/>
          </a:p>
        </p:txBody>
      </p:sp>
      <p:sp>
        <p:nvSpPr>
          <p:cNvPr id="38" name="Text 36"/>
          <p:cNvSpPr/>
          <p:nvPr/>
        </p:nvSpPr>
        <p:spPr>
          <a:xfrm>
            <a:off x="4818888" y="2715768"/>
            <a:ext cx="3931920" cy="1051560"/>
          </a:xfrm>
          <a:prstGeom prst="rect">
            <a:avLst/>
          </a:prstGeom>
          <a:noFill/>
          <a:ln/>
        </p:spPr>
        <p:txBody>
          <a:bodyPr wrap="square" lIns="25400" tIns="50800" rIns="0" bIns="0" rtlCol="0" anchor="ctr"/>
          <a:lstStyle/>
          <a:p>
            <a:pPr>
              <a:lnSpc>
                <a:spcPct val="130000"/>
              </a:lnSpc>
            </a:pPr>
            <a:r>
              <a:rPr lang="en-US" sz="850" dirty="0">
                <a:solidFill>
                  <a:srgbClr val="F8FAFC"/>
                </a:solidFill>
              </a:rPr>
              <a:t>Plan representation as a crystal lattice energy system where constraint violations are defects and plan quality is the inverse of total lattice energy</a:t>
            </a:r>
            <a:endParaRPr lang="en-US" sz="850" dirty="0"/>
          </a:p>
          <a:p>
            <a:pPr>
              <a:lnSpc>
                <a:spcPct val="130000"/>
              </a:lnSpc>
            </a:pPr>
            <a:r>
              <a:rPr lang="en-US" sz="850" dirty="0">
                <a:solidFill>
                  <a:srgbClr val="F8FAFC"/>
                </a:solidFill>
              </a:rPr>
              <a:t>Multi-agent crystallisation annealing algorithm with composite energy function incorporating constraint violations, capability mismatch, and rollback risk</a:t>
            </a:r>
            <a:endParaRPr lang="en-US" sz="850" dirty="0"/>
          </a:p>
          <a:p>
            <a:pPr>
              <a:lnSpc>
                <a:spcPct val="130000"/>
              </a:lnSpc>
            </a:pPr>
            <a:r>
              <a:rPr lang="en-US" sz="850" dirty="0">
                <a:solidFill>
                  <a:srgbClr val="F8FAFC"/>
                </a:solidFill>
              </a:rPr>
              <a:t>Phase-change plan memory with two stable states (amorphous/exploratory vs crystalline/committed) and verifier-gated transition threshold</a:t>
            </a:r>
            <a:endParaRPr lang="en-US" sz="850" dirty="0"/>
          </a:p>
          <a:p>
            <a:pPr>
              <a:lnSpc>
                <a:spcPct val="130000"/>
              </a:lnSpc>
            </a:pPr>
            <a:r>
              <a:rPr lang="en-US" sz="850" dirty="0">
                <a:solidFill>
                  <a:srgbClr val="F8FAFC"/>
                </a:solidFill>
              </a:rPr>
              <a:t>Cooling schedule adaptation: annealing temperature modulated by real-time constraint satisfaction rate — slower cooling when constraints are frequently violated</a:t>
            </a:r>
            <a:endParaRPr lang="en-US" sz="850" dirty="0"/>
          </a:p>
        </p:txBody>
      </p:sp>
      <p:sp>
        <p:nvSpPr>
          <p:cNvPr id="39" name="Shape 37"/>
          <p:cNvSpPr/>
          <p:nvPr/>
        </p:nvSpPr>
        <p:spPr>
          <a:xfrm>
            <a:off x="4709160" y="3913632"/>
            <a:ext cx="4160520" cy="1152144"/>
          </a:xfrm>
          <a:prstGeom prst="roundRect">
            <a:avLst>
              <a:gd name="adj" fmla="val 5556"/>
            </a:avLst>
          </a:prstGeom>
          <a:solidFill>
            <a:srgbClr val="0D1117"/>
          </a:solidFill>
          <a:ln w="12700">
            <a:solidFill>
              <a:srgbClr val="EF4444"/>
            </a:solidFill>
            <a:prstDash val="solid"/>
          </a:ln>
        </p:spPr>
      </p:sp>
      <p:sp>
        <p:nvSpPr>
          <p:cNvPr id="40" name="Shape 38"/>
          <p:cNvSpPr/>
          <p:nvPr/>
        </p:nvSpPr>
        <p:spPr>
          <a:xfrm>
            <a:off x="4818888" y="3977640"/>
            <a:ext cx="2651760" cy="201168"/>
          </a:xfrm>
          <a:prstGeom prst="roundRect">
            <a:avLst>
              <a:gd name="adj" fmla="val 18182"/>
            </a:avLst>
          </a:prstGeom>
          <a:solidFill>
            <a:srgbClr val="111827"/>
          </a:solidFill>
          <a:ln w="15240">
            <a:solidFill>
              <a:srgbClr val="EF4444"/>
            </a:solidFill>
            <a:prstDash val="solid"/>
          </a:ln>
        </p:spPr>
      </p:sp>
      <p:sp>
        <p:nvSpPr>
          <p:cNvPr id="41" name="Text 39"/>
          <p:cNvSpPr/>
          <p:nvPr/>
        </p:nvSpPr>
        <p:spPr>
          <a:xfrm>
            <a:off x="4818888" y="3986784"/>
            <a:ext cx="2651760" cy="201168"/>
          </a:xfrm>
          <a:prstGeom prst="rect">
            <a:avLst/>
          </a:prstGeom>
          <a:noFill/>
          <a:ln/>
        </p:spPr>
        <p:txBody>
          <a:bodyPr wrap="square" lIns="0" tIns="0" rIns="0" bIns="0" rtlCol="0" anchor="ctr"/>
          <a:lstStyle/>
          <a:p>
            <a:pPr algn="ctr" indent="0" marL="0">
              <a:buNone/>
            </a:pPr>
            <a:r>
              <a:rPr lang="en-US" sz="800" b="1" dirty="0">
                <a:solidFill>
                  <a:srgbClr val="EF4444"/>
                </a:solidFill>
              </a:rPr>
              <a:t>🔍 DIFFERENTIATION FROM PRIOR ART</a:t>
            </a:r>
            <a:endParaRPr lang="en-US" sz="800" dirty="0"/>
          </a:p>
        </p:txBody>
      </p:sp>
      <p:sp>
        <p:nvSpPr>
          <p:cNvPr id="42" name="Text 40"/>
          <p:cNvSpPr/>
          <p:nvPr/>
        </p:nvSpPr>
        <p:spPr>
          <a:xfrm>
            <a:off x="4818888" y="4206240"/>
            <a:ext cx="3931920" cy="804672"/>
          </a:xfrm>
          <a:prstGeom prst="rect">
            <a:avLst/>
          </a:prstGeom>
          <a:noFill/>
          <a:ln/>
        </p:spPr>
        <p:txBody>
          <a:bodyPr wrap="square" lIns="25400" tIns="50800" rIns="0" bIns="0" rtlCol="0" anchor="ctr"/>
          <a:lstStyle/>
          <a:p>
            <a:pPr>
              <a:lnSpc>
                <a:spcPct val="130000"/>
              </a:lnSpc>
            </a:pPr>
            <a:r>
              <a:rPr lang="en-US" sz="850" dirty="0">
                <a:solidFill>
                  <a:srgbClr val="F8FAFC"/>
                </a:solidFill>
              </a:rPr>
              <a:t>Simulated annealing for planning: classical CSP solver technique but not applied to multi-agent LLM plan crystallisation with verifier gating</a:t>
            </a:r>
            <a:endParaRPr lang="en-US" sz="850" dirty="0"/>
          </a:p>
          <a:p>
            <a:pPr>
              <a:lnSpc>
                <a:spcPct val="130000"/>
              </a:lnSpc>
            </a:pPr>
            <a:r>
              <a:rPr lang="en-US" sz="850" dirty="0">
                <a:solidFill>
                  <a:srgbClr val="F8FAFC"/>
                </a:solidFill>
              </a:rPr>
              <a:t>VeriPlan (CHI 2025): LTL verifier loop but greedy plan acceptance, no annealing</a:t>
            </a:r>
            <a:endParaRPr lang="en-US" sz="850" dirty="0"/>
          </a:p>
          <a:p>
            <a:pPr>
              <a:lnSpc>
                <a:spcPct val="130000"/>
              </a:lnSpc>
            </a:pPr>
            <a:r>
              <a:rPr lang="en-US" sz="850" dirty="0">
                <a:solidFill>
                  <a:srgbClr val="F8FAFC"/>
                </a:solidFill>
              </a:rPr>
              <a:t>Material science ML (Nature npj 2025): ML for crystal property prediction, not plan structure optimisation</a:t>
            </a:r>
            <a:endParaRPr lang="en-US" sz="850" dirty="0"/>
          </a:p>
          <a:p>
            <a:pPr>
              <a:lnSpc>
                <a:spcPct val="130000"/>
              </a:lnSpc>
            </a:pPr>
            <a:r>
              <a:rPr lang="en-US" sz="850" dirty="0">
                <a:solidFill>
                  <a:srgbClr val="F8FAFC"/>
                </a:solidFill>
              </a:rPr>
              <a:t>No patent fuses crystallisation annealing with multi-agent plan verification and phase-change plan states</a:t>
            </a:r>
            <a:endParaRPr lang="en-US" sz="850" dirty="0"/>
          </a:p>
        </p:txBody>
      </p:sp>
      <p:sp>
        <p:nvSpPr>
          <p:cNvPr id="43" name="Text 41"/>
          <p:cNvSpPr/>
          <p:nvPr/>
        </p:nvSpPr>
        <p:spPr>
          <a:xfrm>
            <a:off x="8503920" y="4983480"/>
            <a:ext cx="457200" cy="164592"/>
          </a:xfrm>
          <a:prstGeom prst="rect">
            <a:avLst/>
          </a:prstGeom>
          <a:noFill/>
          <a:ln/>
        </p:spPr>
        <p:txBody>
          <a:bodyPr wrap="square" lIns="0" tIns="0" rIns="0" bIns="0" rtlCol="0" anchor="ctr"/>
          <a:lstStyle/>
          <a:p>
            <a:pPr algn="r" indent="0" marL="0">
              <a:buNone/>
            </a:pPr>
            <a:r>
              <a:rPr lang="en-US" sz="800" dirty="0">
                <a:solidFill>
                  <a:srgbClr val="94A3B8"/>
                </a:solidFill>
              </a:rPr>
              <a:t>8 / 10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10B981"/>
          </a:solidFill>
          <a:ln w="12700">
            <a:solidFill>
              <a:srgbClr val="10B981"/>
            </a:solidFill>
            <a:prstDash val="solid"/>
          </a:ln>
        </p:spPr>
      </p:sp>
      <p:sp>
        <p:nvSpPr>
          <p:cNvPr id="3" name="Shape 1"/>
          <p:cNvSpPr/>
          <p:nvPr/>
        </p:nvSpPr>
        <p:spPr>
          <a:xfrm>
            <a:off x="274320" y="91440"/>
            <a:ext cx="1325880" cy="347472"/>
          </a:xfrm>
          <a:prstGeom prst="roundRect">
            <a:avLst>
              <a:gd name="adj" fmla="val 15789"/>
            </a:avLst>
          </a:prstGeom>
          <a:solidFill>
            <a:srgbClr val="064E3B"/>
          </a:solidFill>
          <a:ln w="12700">
            <a:solidFill>
              <a:srgbClr val="10B981"/>
            </a:solidFill>
            <a:prstDash val="solid"/>
          </a:ln>
        </p:spPr>
      </p:sp>
      <p:sp>
        <p:nvSpPr>
          <p:cNvPr id="4" name="Text 2"/>
          <p:cNvSpPr/>
          <p:nvPr/>
        </p:nvSpPr>
        <p:spPr>
          <a:xfrm>
            <a:off x="274320" y="91440"/>
            <a:ext cx="1325880" cy="347472"/>
          </a:xfrm>
          <a:prstGeom prst="rect">
            <a:avLst/>
          </a:prstGeom>
          <a:noFill/>
          <a:ln/>
        </p:spPr>
        <p:txBody>
          <a:bodyPr wrap="square" lIns="0" tIns="0" rIns="0" bIns="0" rtlCol="0" anchor="ctr"/>
          <a:lstStyle/>
          <a:p>
            <a:pPr algn="ctr" indent="0" marL="0">
              <a:buNone/>
            </a:pPr>
            <a:r>
              <a:rPr lang="en-US" sz="900" b="1" dirty="0">
                <a:solidFill>
                  <a:srgbClr val="10B981"/>
                </a:solidFill>
              </a:rPr>
              <a:t>Patent Idea #9</a:t>
            </a:r>
            <a:endParaRPr lang="en-US" sz="900" dirty="0"/>
          </a:p>
        </p:txBody>
      </p:sp>
      <p:sp>
        <p:nvSpPr>
          <p:cNvPr id="5" name="Text 3"/>
          <p:cNvSpPr/>
          <p:nvPr/>
        </p:nvSpPr>
        <p:spPr>
          <a:xfrm>
            <a:off x="1691640" y="91440"/>
            <a:ext cx="7132320" cy="274320"/>
          </a:xfrm>
          <a:prstGeom prst="rect">
            <a:avLst/>
          </a:prstGeom>
          <a:noFill/>
          <a:ln/>
        </p:spPr>
        <p:txBody>
          <a:bodyPr wrap="square" lIns="0" tIns="0" rIns="0" bIns="0" rtlCol="0" anchor="ctr"/>
          <a:lstStyle/>
          <a:p>
            <a:pPr indent="0" marL="0">
              <a:buNone/>
            </a:pPr>
            <a:r>
              <a:rPr lang="en-US" sz="1450" b="1" dirty="0">
                <a:solidFill>
                  <a:srgbClr val="FFFFFF"/>
                </a:solidFill>
              </a:rPr>
              <a:t>Immune-System-Inspired Threat Detection and Clonal Selection (ISTDCS)</a:t>
            </a:r>
            <a:endParaRPr lang="en-US" sz="1450" dirty="0"/>
          </a:p>
        </p:txBody>
      </p:sp>
      <p:sp>
        <p:nvSpPr>
          <p:cNvPr id="6" name="Text 4"/>
          <p:cNvSpPr/>
          <p:nvPr/>
        </p:nvSpPr>
        <p:spPr>
          <a:xfrm>
            <a:off x="1691640" y="384048"/>
            <a:ext cx="7132320" cy="182880"/>
          </a:xfrm>
          <a:prstGeom prst="rect">
            <a:avLst/>
          </a:prstGeom>
          <a:noFill/>
          <a:ln/>
        </p:spPr>
        <p:txBody>
          <a:bodyPr wrap="square" lIns="0" tIns="0" rIns="0" bIns="0" rtlCol="0" anchor="t"/>
          <a:lstStyle/>
          <a:p>
            <a:pPr indent="0" marL="0">
              <a:buNone/>
            </a:pPr>
            <a:r>
              <a:rPr lang="en-US" sz="900" dirty="0">
                <a:solidFill>
                  <a:srgbClr val="94A3B8"/>
                </a:solidFill>
              </a:rPr>
              <a:t>Agents generate antibody-like detectors that specifically recognise and neutralise novel execution threats</a:t>
            </a:r>
            <a:endParaRPr lang="en-US" sz="900" dirty="0"/>
          </a:p>
        </p:txBody>
      </p:sp>
      <p:sp>
        <p:nvSpPr>
          <p:cNvPr id="7" name="Shape 5"/>
          <p:cNvSpPr/>
          <p:nvPr/>
        </p:nvSpPr>
        <p:spPr>
          <a:xfrm>
            <a:off x="1691640" y="594360"/>
            <a:ext cx="841248" cy="201168"/>
          </a:xfrm>
          <a:prstGeom prst="roundRect">
            <a:avLst>
              <a:gd name="adj" fmla="val 18182"/>
            </a:avLst>
          </a:prstGeom>
          <a:solidFill>
            <a:srgbClr val="064E3B"/>
          </a:solidFill>
          <a:ln w="12700">
            <a:solidFill>
              <a:srgbClr val="064E3B"/>
            </a:solidFill>
            <a:prstDash val="solid"/>
          </a:ln>
        </p:spPr>
      </p:sp>
      <p:sp>
        <p:nvSpPr>
          <p:cNvPr id="8" name="Text 6"/>
          <p:cNvSpPr/>
          <p:nvPr/>
        </p:nvSpPr>
        <p:spPr>
          <a:xfrm>
            <a:off x="1691640" y="594360"/>
            <a:ext cx="841248" cy="201168"/>
          </a:xfrm>
          <a:prstGeom prst="rect">
            <a:avLst/>
          </a:prstGeom>
          <a:noFill/>
          <a:ln/>
        </p:spPr>
        <p:txBody>
          <a:bodyPr wrap="square" lIns="0" tIns="0" rIns="0" bIns="0" rtlCol="0" anchor="ctr"/>
          <a:lstStyle/>
          <a:p>
            <a:pPr algn="ctr" indent="0" marL="0">
              <a:buNone/>
            </a:pPr>
            <a:r>
              <a:rPr lang="en-US" sz="800" b="1" dirty="0">
                <a:solidFill>
                  <a:srgbClr val="10B981"/>
                </a:solidFill>
              </a:rPr>
              <a:t>Immunology</a:t>
            </a:r>
            <a:endParaRPr lang="en-US" sz="800" dirty="0"/>
          </a:p>
        </p:txBody>
      </p:sp>
      <p:sp>
        <p:nvSpPr>
          <p:cNvPr id="9" name="Shape 7"/>
          <p:cNvSpPr/>
          <p:nvPr/>
        </p:nvSpPr>
        <p:spPr>
          <a:xfrm>
            <a:off x="2624328" y="594360"/>
            <a:ext cx="1697126" cy="201168"/>
          </a:xfrm>
          <a:prstGeom prst="roundRect">
            <a:avLst>
              <a:gd name="adj" fmla="val 18182"/>
            </a:avLst>
          </a:prstGeom>
          <a:solidFill>
            <a:srgbClr val="064E3B"/>
          </a:solidFill>
          <a:ln w="12700">
            <a:solidFill>
              <a:srgbClr val="064E3B"/>
            </a:solidFill>
            <a:prstDash val="solid"/>
          </a:ln>
        </p:spPr>
      </p:sp>
      <p:sp>
        <p:nvSpPr>
          <p:cNvPr id="10" name="Text 8"/>
          <p:cNvSpPr/>
          <p:nvPr/>
        </p:nvSpPr>
        <p:spPr>
          <a:xfrm>
            <a:off x="2624328" y="594360"/>
            <a:ext cx="1697126" cy="201168"/>
          </a:xfrm>
          <a:prstGeom prst="rect">
            <a:avLst/>
          </a:prstGeom>
          <a:noFill/>
          <a:ln/>
        </p:spPr>
        <p:txBody>
          <a:bodyPr wrap="square" lIns="0" tIns="0" rIns="0" bIns="0" rtlCol="0" anchor="ctr"/>
          <a:lstStyle/>
          <a:p>
            <a:pPr algn="ctr" indent="0" marL="0">
              <a:buNone/>
            </a:pPr>
            <a:r>
              <a:rPr lang="en-US" sz="800" b="1" dirty="0">
                <a:solidFill>
                  <a:srgbClr val="10B981"/>
                </a:solidFill>
              </a:rPr>
              <a:t>Clonal Selection Theory</a:t>
            </a:r>
            <a:endParaRPr lang="en-US" sz="800" dirty="0"/>
          </a:p>
        </p:txBody>
      </p:sp>
      <p:sp>
        <p:nvSpPr>
          <p:cNvPr id="11" name="Shape 9"/>
          <p:cNvSpPr/>
          <p:nvPr/>
        </p:nvSpPr>
        <p:spPr>
          <a:xfrm>
            <a:off x="4412894" y="594360"/>
            <a:ext cx="1828800" cy="201168"/>
          </a:xfrm>
          <a:prstGeom prst="roundRect">
            <a:avLst>
              <a:gd name="adj" fmla="val 18182"/>
            </a:avLst>
          </a:prstGeom>
          <a:solidFill>
            <a:srgbClr val="064E3B"/>
          </a:solidFill>
          <a:ln w="12700">
            <a:solidFill>
              <a:srgbClr val="064E3B"/>
            </a:solidFill>
            <a:prstDash val="solid"/>
          </a:ln>
        </p:spPr>
      </p:sp>
      <p:sp>
        <p:nvSpPr>
          <p:cNvPr id="12" name="Text 10"/>
          <p:cNvSpPr/>
          <p:nvPr/>
        </p:nvSpPr>
        <p:spPr>
          <a:xfrm>
            <a:off x="4412894" y="594360"/>
            <a:ext cx="1828800" cy="201168"/>
          </a:xfrm>
          <a:prstGeom prst="rect">
            <a:avLst/>
          </a:prstGeom>
          <a:noFill/>
          <a:ln/>
        </p:spPr>
        <p:txBody>
          <a:bodyPr wrap="square" lIns="0" tIns="0" rIns="0" bIns="0" rtlCol="0" anchor="ctr"/>
          <a:lstStyle/>
          <a:p>
            <a:pPr algn="ctr" indent="0" marL="0">
              <a:buNone/>
            </a:pPr>
            <a:r>
              <a:rPr lang="en-US" sz="800" b="1" dirty="0">
                <a:solidFill>
                  <a:srgbClr val="10B981"/>
                </a:solidFill>
              </a:rPr>
              <a:t>Artificial Immune Systems</a:t>
            </a:r>
            <a:endParaRPr lang="en-US" sz="800" dirty="0"/>
          </a:p>
        </p:txBody>
      </p:sp>
      <p:sp>
        <p:nvSpPr>
          <p:cNvPr id="13" name="Shape 11"/>
          <p:cNvSpPr/>
          <p:nvPr/>
        </p:nvSpPr>
        <p:spPr>
          <a:xfrm>
            <a:off x="6333134" y="594360"/>
            <a:ext cx="1762963" cy="201168"/>
          </a:xfrm>
          <a:prstGeom prst="roundRect">
            <a:avLst>
              <a:gd name="adj" fmla="val 18182"/>
            </a:avLst>
          </a:prstGeom>
          <a:solidFill>
            <a:srgbClr val="064E3B"/>
          </a:solidFill>
          <a:ln w="12700">
            <a:solidFill>
              <a:srgbClr val="064E3B"/>
            </a:solidFill>
            <a:prstDash val="solid"/>
          </a:ln>
        </p:spPr>
      </p:sp>
      <p:sp>
        <p:nvSpPr>
          <p:cNvPr id="14" name="Text 12"/>
          <p:cNvSpPr/>
          <p:nvPr/>
        </p:nvSpPr>
        <p:spPr>
          <a:xfrm>
            <a:off x="6333134" y="594360"/>
            <a:ext cx="1762963" cy="201168"/>
          </a:xfrm>
          <a:prstGeom prst="rect">
            <a:avLst/>
          </a:prstGeom>
          <a:noFill/>
          <a:ln/>
        </p:spPr>
        <p:txBody>
          <a:bodyPr wrap="square" lIns="0" tIns="0" rIns="0" bIns="0" rtlCol="0" anchor="ctr"/>
          <a:lstStyle/>
          <a:p>
            <a:pPr algn="ctr" indent="0" marL="0">
              <a:buNone/>
            </a:pPr>
            <a:r>
              <a:rPr lang="en-US" sz="800" b="1" dirty="0">
                <a:solidFill>
                  <a:srgbClr val="10B981"/>
                </a:solidFill>
              </a:rPr>
              <a:t>Innate/Adaptive Immunity</a:t>
            </a:r>
            <a:endParaRPr lang="en-US" sz="800" dirty="0"/>
          </a:p>
        </p:txBody>
      </p:sp>
      <p:sp>
        <p:nvSpPr>
          <p:cNvPr id="15" name="Shape 13"/>
          <p:cNvSpPr/>
          <p:nvPr/>
        </p:nvSpPr>
        <p:spPr>
          <a:xfrm>
            <a:off x="274320" y="868680"/>
            <a:ext cx="1389888" cy="658368"/>
          </a:xfrm>
          <a:prstGeom prst="roundRect">
            <a:avLst>
              <a:gd name="adj" fmla="val 9722"/>
            </a:avLst>
          </a:prstGeom>
          <a:solidFill>
            <a:srgbClr val="064E3B"/>
          </a:solidFill>
          <a:ln w="19050">
            <a:solidFill>
              <a:srgbClr val="34D399"/>
            </a:solidFill>
            <a:prstDash val="solid"/>
          </a:ln>
        </p:spPr>
      </p:sp>
      <p:sp>
        <p:nvSpPr>
          <p:cNvPr id="16" name="Text 14"/>
          <p:cNvSpPr/>
          <p:nvPr/>
        </p:nvSpPr>
        <p:spPr>
          <a:xfrm>
            <a:off x="27432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ACCEPTANCE</a:t>
            </a:r>
            <a:endParaRPr lang="en-US" sz="750" dirty="0"/>
          </a:p>
        </p:txBody>
      </p:sp>
      <p:sp>
        <p:nvSpPr>
          <p:cNvPr id="17" name="Text 15"/>
          <p:cNvSpPr/>
          <p:nvPr/>
        </p:nvSpPr>
        <p:spPr>
          <a:xfrm>
            <a:off x="27432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75%</a:t>
            </a:r>
            <a:endParaRPr lang="en-US" sz="2000" dirty="0"/>
          </a:p>
        </p:txBody>
      </p:sp>
      <p:sp>
        <p:nvSpPr>
          <p:cNvPr id="18" name="Shape 16"/>
          <p:cNvSpPr/>
          <p:nvPr/>
        </p:nvSpPr>
        <p:spPr>
          <a:xfrm>
            <a:off x="1828800" y="868680"/>
            <a:ext cx="1389888" cy="658368"/>
          </a:xfrm>
          <a:prstGeom prst="roundRect">
            <a:avLst>
              <a:gd name="adj" fmla="val 9722"/>
            </a:avLst>
          </a:prstGeom>
          <a:solidFill>
            <a:srgbClr val="064E3B"/>
          </a:solidFill>
          <a:ln w="19050">
            <a:solidFill>
              <a:srgbClr val="34D399"/>
            </a:solidFill>
            <a:prstDash val="solid"/>
          </a:ln>
        </p:spPr>
      </p:sp>
      <p:sp>
        <p:nvSpPr>
          <p:cNvPr id="19" name="Text 17"/>
          <p:cNvSpPr/>
          <p:nvPr/>
        </p:nvSpPr>
        <p:spPr>
          <a:xfrm>
            <a:off x="182880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OVERLAP</a:t>
            </a:r>
            <a:endParaRPr lang="en-US" sz="750" dirty="0"/>
          </a:p>
        </p:txBody>
      </p:sp>
      <p:sp>
        <p:nvSpPr>
          <p:cNvPr id="20" name="Text 18"/>
          <p:cNvSpPr/>
          <p:nvPr/>
        </p:nvSpPr>
        <p:spPr>
          <a:xfrm>
            <a:off x="182880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15%</a:t>
            </a:r>
            <a:endParaRPr lang="en-US" sz="2000" dirty="0"/>
          </a:p>
        </p:txBody>
      </p:sp>
      <p:sp>
        <p:nvSpPr>
          <p:cNvPr id="21" name="Shape 19"/>
          <p:cNvSpPr/>
          <p:nvPr/>
        </p:nvSpPr>
        <p:spPr>
          <a:xfrm>
            <a:off x="3383280" y="868680"/>
            <a:ext cx="1389888" cy="658368"/>
          </a:xfrm>
          <a:prstGeom prst="roundRect">
            <a:avLst>
              <a:gd name="adj" fmla="val 9722"/>
            </a:avLst>
          </a:prstGeom>
          <a:solidFill>
            <a:srgbClr val="2D1B69"/>
          </a:solidFill>
          <a:ln w="19050">
            <a:solidFill>
              <a:srgbClr val="A78BFA"/>
            </a:solidFill>
            <a:prstDash val="solid"/>
          </a:ln>
        </p:spPr>
      </p:sp>
      <p:sp>
        <p:nvSpPr>
          <p:cNvPr id="22" name="Text 20"/>
          <p:cNvSpPr/>
          <p:nvPr/>
        </p:nvSpPr>
        <p:spPr>
          <a:xfrm>
            <a:off x="3383280" y="905256"/>
            <a:ext cx="1389888" cy="219456"/>
          </a:xfrm>
          <a:prstGeom prst="rect">
            <a:avLst/>
          </a:prstGeom>
          <a:noFill/>
          <a:ln/>
        </p:spPr>
        <p:txBody>
          <a:bodyPr wrap="square" lIns="0" tIns="0" rIns="0" bIns="0" rtlCol="0" anchor="ctr"/>
          <a:lstStyle/>
          <a:p>
            <a:pPr algn="ctr" indent="0" marL="0">
              <a:buNone/>
            </a:pPr>
            <a:r>
              <a:rPr lang="en-US" sz="750" b="1" dirty="0">
                <a:solidFill>
                  <a:srgbClr val="A78BFA"/>
                </a:solidFill>
              </a:rPr>
              <a:t>EST. NOVELTY</a:t>
            </a:r>
            <a:endParaRPr lang="en-US" sz="750" dirty="0"/>
          </a:p>
        </p:txBody>
      </p:sp>
      <p:sp>
        <p:nvSpPr>
          <p:cNvPr id="23" name="Text 21"/>
          <p:cNvSpPr/>
          <p:nvPr/>
        </p:nvSpPr>
        <p:spPr>
          <a:xfrm>
            <a:off x="3383280" y="1124712"/>
            <a:ext cx="1389888" cy="347472"/>
          </a:xfrm>
          <a:prstGeom prst="rect">
            <a:avLst/>
          </a:prstGeom>
          <a:noFill/>
          <a:ln/>
        </p:spPr>
        <p:txBody>
          <a:bodyPr wrap="square" lIns="0" tIns="0" rIns="0" bIns="0" rtlCol="0" anchor="ctr"/>
          <a:lstStyle/>
          <a:p>
            <a:pPr algn="ctr" indent="0" marL="0">
              <a:buNone/>
            </a:pPr>
            <a:r>
              <a:rPr lang="en-US" sz="2000" b="1" dirty="0">
                <a:solidFill>
                  <a:srgbClr val="A78BFA"/>
                </a:solidFill>
              </a:rPr>
              <a:t>85%</a:t>
            </a:r>
            <a:endParaRPr lang="en-US" sz="2000" dirty="0"/>
          </a:p>
        </p:txBody>
      </p:sp>
      <p:sp>
        <p:nvSpPr>
          <p:cNvPr id="24" name="Shape 22"/>
          <p:cNvSpPr/>
          <p:nvPr/>
        </p:nvSpPr>
        <p:spPr>
          <a:xfrm>
            <a:off x="274320" y="1627632"/>
            <a:ext cx="8595360" cy="685800"/>
          </a:xfrm>
          <a:prstGeom prst="roundRect">
            <a:avLst>
              <a:gd name="adj" fmla="val 9333"/>
            </a:avLst>
          </a:prstGeom>
          <a:solidFill>
            <a:srgbClr val="064E3B"/>
          </a:solidFill>
          <a:ln w="12700">
            <a:solidFill>
              <a:srgbClr val="10B981"/>
            </a:solidFill>
            <a:prstDash val="solid"/>
          </a:ln>
        </p:spPr>
      </p:sp>
      <p:sp>
        <p:nvSpPr>
          <p:cNvPr id="25" name="Text 23"/>
          <p:cNvSpPr/>
          <p:nvPr/>
        </p:nvSpPr>
        <p:spPr>
          <a:xfrm>
            <a:off x="402336" y="1682496"/>
            <a:ext cx="2011680" cy="201168"/>
          </a:xfrm>
          <a:prstGeom prst="rect">
            <a:avLst/>
          </a:prstGeom>
          <a:noFill/>
          <a:ln/>
        </p:spPr>
        <p:txBody>
          <a:bodyPr wrap="square" lIns="0" tIns="0" rIns="0" bIns="0" rtlCol="0" anchor="ctr"/>
          <a:lstStyle/>
          <a:p>
            <a:pPr indent="0" marL="0">
              <a:buNone/>
            </a:pPr>
            <a:r>
              <a:rPr lang="en-US" sz="850" b="1" dirty="0">
                <a:solidFill>
                  <a:srgbClr val="10B981"/>
                </a:solidFill>
              </a:rPr>
              <a:t>💡 Cross-Domain Insight</a:t>
            </a:r>
            <a:endParaRPr lang="en-US" sz="850" dirty="0"/>
          </a:p>
        </p:txBody>
      </p:sp>
      <p:sp>
        <p:nvSpPr>
          <p:cNvPr id="26" name="Text 24"/>
          <p:cNvSpPr/>
          <p:nvPr/>
        </p:nvSpPr>
        <p:spPr>
          <a:xfrm>
            <a:off x="402336" y="1865376"/>
            <a:ext cx="8321040" cy="402336"/>
          </a:xfrm>
          <a:prstGeom prst="rect">
            <a:avLst/>
          </a:prstGeom>
          <a:noFill/>
          <a:ln/>
        </p:spPr>
        <p:txBody>
          <a:bodyPr wrap="square" lIns="0" tIns="0" rIns="0" bIns="0" rtlCol="0" anchor="ctr"/>
          <a:lstStyle/>
          <a:p>
            <a:pPr indent="0" marL="0">
              <a:lnSpc>
                <a:spcPct val="125000"/>
              </a:lnSpc>
              <a:buNone/>
            </a:pPr>
            <a:r>
              <a:rPr lang="en-US" sz="900" dirty="0">
                <a:solidFill>
                  <a:srgbClr val="F8FAFC"/>
                </a:solidFill>
              </a:rPr>
              <a:t>The adaptive immune system: B-cells generate diverse antibody shapes; when an antigen is detected, matching B-cells undergo clonal selection and expansion. Memory B-cells persist for fast future responses. Applied: agent 'detectors' that recognise novel tool call patterns, constraint violations, or memory poisoning attempts — self/non-self discrimination for agent actions.</a:t>
            </a:r>
            <a:endParaRPr lang="en-US" sz="900" dirty="0"/>
          </a:p>
        </p:txBody>
      </p:sp>
      <p:sp>
        <p:nvSpPr>
          <p:cNvPr id="27" name="Shape 25"/>
          <p:cNvSpPr/>
          <p:nvPr/>
        </p:nvSpPr>
        <p:spPr>
          <a:xfrm>
            <a:off x="274320" y="2423160"/>
            <a:ext cx="4160520" cy="1188720"/>
          </a:xfrm>
          <a:prstGeom prst="roundRect">
            <a:avLst>
              <a:gd name="adj" fmla="val 5385"/>
            </a:avLst>
          </a:prstGeom>
          <a:solidFill>
            <a:srgbClr val="1A2235"/>
          </a:solidFill>
          <a:ln w="6350">
            <a:solidFill>
              <a:srgbClr val="2D3748"/>
            </a:solidFill>
            <a:prstDash val="solid"/>
          </a:ln>
        </p:spPr>
      </p:sp>
      <p:sp>
        <p:nvSpPr>
          <p:cNvPr id="28" name="Shape 26"/>
          <p:cNvSpPr/>
          <p:nvPr/>
        </p:nvSpPr>
        <p:spPr>
          <a:xfrm>
            <a:off x="384048" y="2487168"/>
            <a:ext cx="1737360" cy="201168"/>
          </a:xfrm>
          <a:prstGeom prst="roundRect">
            <a:avLst>
              <a:gd name="adj" fmla="val 18182"/>
            </a:avLst>
          </a:prstGeom>
          <a:solidFill>
            <a:srgbClr val="111827"/>
          </a:solidFill>
          <a:ln w="15240">
            <a:solidFill>
              <a:srgbClr val="10B981"/>
            </a:solidFill>
            <a:prstDash val="solid"/>
          </a:ln>
        </p:spPr>
      </p:sp>
      <p:sp>
        <p:nvSpPr>
          <p:cNvPr id="29" name="Text 27"/>
          <p:cNvSpPr/>
          <p:nvPr/>
        </p:nvSpPr>
        <p:spPr>
          <a:xfrm>
            <a:off x="384048" y="2496312"/>
            <a:ext cx="1737360" cy="201168"/>
          </a:xfrm>
          <a:prstGeom prst="rect">
            <a:avLst/>
          </a:prstGeom>
          <a:noFill/>
          <a:ln/>
        </p:spPr>
        <p:txBody>
          <a:bodyPr wrap="square" lIns="0" tIns="0" rIns="0" bIns="0" rtlCol="0" anchor="ctr"/>
          <a:lstStyle/>
          <a:p>
            <a:pPr algn="ctr" indent="0" marL="0">
              <a:buNone/>
            </a:pPr>
            <a:r>
              <a:rPr lang="en-US" sz="800" b="1" dirty="0">
                <a:solidFill>
                  <a:srgbClr val="10B981"/>
                </a:solidFill>
              </a:rPr>
              <a:t>⚡ PROBLEM SOLVED</a:t>
            </a:r>
            <a:endParaRPr lang="en-US" sz="800" dirty="0"/>
          </a:p>
        </p:txBody>
      </p:sp>
      <p:sp>
        <p:nvSpPr>
          <p:cNvPr id="30" name="Text 28"/>
          <p:cNvSpPr/>
          <p:nvPr/>
        </p:nvSpPr>
        <p:spPr>
          <a:xfrm>
            <a:off x="384048" y="2715768"/>
            <a:ext cx="3931920" cy="822960"/>
          </a:xfrm>
          <a:prstGeom prst="rect">
            <a:avLst/>
          </a:prstGeom>
          <a:noFill/>
          <a:ln/>
        </p:spPr>
        <p:txBody>
          <a:bodyPr wrap="square" lIns="0" tIns="0" rIns="0" bIns="0" rtlCol="0" anchor="ctr"/>
          <a:lstStyle/>
          <a:p>
            <a:pPr indent="0" marL="0">
              <a:lnSpc>
                <a:spcPct val="130000"/>
              </a:lnSpc>
              <a:buNone/>
            </a:pPr>
            <a:r>
              <a:rPr lang="en-US" sz="900" dirty="0">
                <a:solidFill>
                  <a:srgbClr val="94A3B8"/>
                </a:solidFill>
              </a:rPr>
              <a:t>Agent safety systems use static rule sets (blocklists) or LLM-based pattern matching. Static rules miss novel threats; LLM classifiers are expensive and inconsistent. There is no adaptive, self-improving threat recognition system that builds memory of past threats.</a:t>
            </a:r>
            <a:endParaRPr lang="en-US" sz="900" dirty="0"/>
          </a:p>
        </p:txBody>
      </p:sp>
      <p:sp>
        <p:nvSpPr>
          <p:cNvPr id="31" name="Shape 29"/>
          <p:cNvSpPr/>
          <p:nvPr/>
        </p:nvSpPr>
        <p:spPr>
          <a:xfrm>
            <a:off x="274320" y="3675888"/>
            <a:ext cx="4160520" cy="1389888"/>
          </a:xfrm>
          <a:prstGeom prst="roundRect">
            <a:avLst>
              <a:gd name="adj" fmla="val 4605"/>
            </a:avLst>
          </a:prstGeom>
          <a:solidFill>
            <a:srgbClr val="1A2235"/>
          </a:solidFill>
          <a:ln w="6350">
            <a:solidFill>
              <a:srgbClr val="2D3748"/>
            </a:solidFill>
            <a:prstDash val="solid"/>
          </a:ln>
        </p:spPr>
      </p:sp>
      <p:sp>
        <p:nvSpPr>
          <p:cNvPr id="32" name="Shape 30"/>
          <p:cNvSpPr/>
          <p:nvPr/>
        </p:nvSpPr>
        <p:spPr>
          <a:xfrm>
            <a:off x="384048" y="3739896"/>
            <a:ext cx="2743200" cy="201168"/>
          </a:xfrm>
          <a:prstGeom prst="roundRect">
            <a:avLst>
              <a:gd name="adj" fmla="val 18182"/>
            </a:avLst>
          </a:prstGeom>
          <a:solidFill>
            <a:srgbClr val="111827"/>
          </a:solidFill>
          <a:ln w="15240">
            <a:solidFill>
              <a:srgbClr val="333333"/>
            </a:solidFill>
            <a:prstDash val="solid"/>
          </a:ln>
        </p:spPr>
      </p:sp>
      <p:sp>
        <p:nvSpPr>
          <p:cNvPr id="33" name="Text 31"/>
          <p:cNvSpPr/>
          <p:nvPr/>
        </p:nvSpPr>
        <p:spPr>
          <a:xfrm>
            <a:off x="384048" y="3749040"/>
            <a:ext cx="2743200" cy="201168"/>
          </a:xfrm>
          <a:prstGeom prst="rect">
            <a:avLst/>
          </a:prstGeom>
          <a:noFill/>
          <a:ln/>
        </p:spPr>
        <p:txBody>
          <a:bodyPr wrap="square" lIns="0" tIns="0" rIns="0" bIns="0" rtlCol="0" anchor="ctr"/>
          <a:lstStyle/>
          <a:p>
            <a:pPr algn="ctr" indent="0" marL="0">
              <a:buNone/>
            </a:pPr>
            <a:r>
              <a:rPr lang="en-US" sz="800" b="1" dirty="0">
                <a:solidFill>
                  <a:srgbClr val="000000"/>
                </a:solidFill>
              </a:rPr>
              <a:t>🔬 NOVEL APPROACH (NUMBERED STEPS)</a:t>
            </a:r>
            <a:endParaRPr lang="en-US" sz="800" dirty="0"/>
          </a:p>
        </p:txBody>
      </p:sp>
      <p:sp>
        <p:nvSpPr>
          <p:cNvPr id="34" name="Text 32"/>
          <p:cNvSpPr/>
          <p:nvPr/>
        </p:nvSpPr>
        <p:spPr>
          <a:xfrm>
            <a:off x="384048" y="3977640"/>
            <a:ext cx="3931920" cy="1024128"/>
          </a:xfrm>
          <a:prstGeom prst="rect">
            <a:avLst/>
          </a:prstGeom>
          <a:noFill/>
          <a:ln/>
        </p:spPr>
        <p:txBody>
          <a:bodyPr wrap="square" lIns="25400" tIns="50800" rIns="0" bIns="0" rtlCol="0" anchor="ctr"/>
          <a:lstStyle/>
          <a:p>
            <a:pPr marL="342900" indent="-342900">
              <a:lnSpc>
                <a:spcPct val="130000"/>
              </a:lnSpc>
              <a:buSzPct val="100000"/>
              <a:buFont typeface="+mj-lt"/>
              <a:buAutoNum type="arabicPeriod" startAt="1"/>
            </a:pPr>
            <a:r>
              <a:rPr lang="en-US" sz="850" dirty="0">
                <a:solidFill>
                  <a:srgbClr val="F8FAFC"/>
                </a:solidFill>
              </a:rPr>
              <a:t>Detector generation: randomly generate diverse plan-fragment detectors (lightweight classifiers trained on execution trace windows); detectors that match 'self' (normal execution) are eliminated (negative selection)</a:t>
            </a:r>
            <a:endParaRPr lang="en-US" sz="850" dirty="0"/>
          </a:p>
          <a:p>
            <a:pPr marL="342900" indent="-342900">
              <a:lnSpc>
                <a:spcPct val="130000"/>
              </a:lnSpc>
              <a:buSzPct val="100000"/>
              <a:buFont typeface="+mj-lt"/>
              <a:buAutoNum type="arabicPeriod" startAt="1"/>
            </a:pPr>
            <a:r>
              <a:rPr lang="en-US" sz="850" dirty="0">
                <a:solidFill>
                  <a:srgbClr val="F8FAFC"/>
                </a:solidFill>
              </a:rPr>
              <a:t>Antigen recognition: novel execution patterns that activate detectors trigger a clonal selection response — matching detectors are cloned and mutated to create a tighter-fitting detector population</a:t>
            </a:r>
            <a:endParaRPr lang="en-US" sz="850" dirty="0"/>
          </a:p>
          <a:p>
            <a:pPr marL="342900" indent="-342900">
              <a:lnSpc>
                <a:spcPct val="130000"/>
              </a:lnSpc>
              <a:buSzPct val="100000"/>
              <a:buFont typeface="+mj-lt"/>
              <a:buAutoNum type="arabicPeriod" startAt="1"/>
            </a:pPr>
            <a:r>
              <a:rPr lang="en-US" sz="850" dirty="0">
                <a:solidFill>
                  <a:srgbClr val="F8FAFC"/>
                </a:solidFill>
              </a:rPr>
              <a:t>Memory cells: highly successful detectors (blocked a real threat) are promoted to long-term memory and activated immediately on re-encounter without clonal expansion delay</a:t>
            </a:r>
            <a:endParaRPr lang="en-US" sz="850" dirty="0"/>
          </a:p>
          <a:p>
            <a:pPr marL="342900" indent="-342900">
              <a:lnSpc>
                <a:spcPct val="130000"/>
              </a:lnSpc>
              <a:buSzPct val="100000"/>
              <a:buFont typeface="+mj-lt"/>
              <a:buAutoNum type="arabicPeriod" startAt="1"/>
            </a:pPr>
            <a:r>
              <a:rPr lang="en-US" sz="850" dirty="0">
                <a:solidFill>
                  <a:srgbClr val="F8FAFC"/>
                </a:solidFill>
              </a:rPr>
              <a:t>Innate layer: a fast, non-specific 'innate' layer catches obviously malicious patterns instantly; adaptive layer handles subtle novel threats</a:t>
            </a:r>
            <a:endParaRPr lang="en-US" sz="850" dirty="0"/>
          </a:p>
        </p:txBody>
      </p:sp>
      <p:sp>
        <p:nvSpPr>
          <p:cNvPr id="35" name="Shape 33"/>
          <p:cNvSpPr/>
          <p:nvPr/>
        </p:nvSpPr>
        <p:spPr>
          <a:xfrm>
            <a:off x="4709160" y="2423160"/>
            <a:ext cx="4160520" cy="1417320"/>
          </a:xfrm>
          <a:prstGeom prst="roundRect">
            <a:avLst>
              <a:gd name="adj" fmla="val 4516"/>
            </a:avLst>
          </a:prstGeom>
          <a:solidFill>
            <a:srgbClr val="1A2235"/>
          </a:solidFill>
          <a:ln w="6350">
            <a:solidFill>
              <a:srgbClr val="2D3748"/>
            </a:solidFill>
            <a:prstDash val="solid"/>
          </a:ln>
        </p:spPr>
      </p:sp>
      <p:sp>
        <p:nvSpPr>
          <p:cNvPr id="36" name="Shape 34"/>
          <p:cNvSpPr/>
          <p:nvPr/>
        </p:nvSpPr>
        <p:spPr>
          <a:xfrm>
            <a:off x="4818888" y="2487168"/>
            <a:ext cx="1828800" cy="201168"/>
          </a:xfrm>
          <a:prstGeom prst="roundRect">
            <a:avLst>
              <a:gd name="adj" fmla="val 18182"/>
            </a:avLst>
          </a:prstGeom>
          <a:solidFill>
            <a:srgbClr val="111827"/>
          </a:solidFill>
          <a:ln w="15240">
            <a:solidFill>
              <a:srgbClr val="10B981"/>
            </a:solidFill>
            <a:prstDash val="solid"/>
          </a:ln>
        </p:spPr>
      </p:sp>
      <p:sp>
        <p:nvSpPr>
          <p:cNvPr id="37" name="Text 35"/>
          <p:cNvSpPr/>
          <p:nvPr/>
        </p:nvSpPr>
        <p:spPr>
          <a:xfrm>
            <a:off x="4818888" y="2496312"/>
            <a:ext cx="1828800" cy="201168"/>
          </a:xfrm>
          <a:prstGeom prst="rect">
            <a:avLst/>
          </a:prstGeom>
          <a:noFill/>
          <a:ln/>
        </p:spPr>
        <p:txBody>
          <a:bodyPr wrap="square" lIns="0" tIns="0" rIns="0" bIns="0" rtlCol="0" anchor="ctr"/>
          <a:lstStyle/>
          <a:p>
            <a:pPr algn="ctr" indent="0" marL="0">
              <a:buNone/>
            </a:pPr>
            <a:r>
              <a:rPr lang="en-US" sz="800" b="1" dirty="0">
                <a:solidFill>
                  <a:srgbClr val="10B981"/>
                </a:solidFill>
              </a:rPr>
              <a:t>📋 KEY PATENT CLAIMS</a:t>
            </a:r>
            <a:endParaRPr lang="en-US" sz="800" dirty="0"/>
          </a:p>
        </p:txBody>
      </p:sp>
      <p:sp>
        <p:nvSpPr>
          <p:cNvPr id="38" name="Text 36"/>
          <p:cNvSpPr/>
          <p:nvPr/>
        </p:nvSpPr>
        <p:spPr>
          <a:xfrm>
            <a:off x="4818888" y="2715768"/>
            <a:ext cx="3931920" cy="1051560"/>
          </a:xfrm>
          <a:prstGeom prst="rect">
            <a:avLst/>
          </a:prstGeom>
          <a:noFill/>
          <a:ln/>
        </p:spPr>
        <p:txBody>
          <a:bodyPr wrap="square" lIns="25400" tIns="50800" rIns="0" bIns="0" rtlCol="0" anchor="ctr"/>
          <a:lstStyle/>
          <a:p>
            <a:pPr>
              <a:lnSpc>
                <a:spcPct val="130000"/>
              </a:lnSpc>
            </a:pPr>
            <a:r>
              <a:rPr lang="en-US" sz="850" dirty="0">
                <a:solidFill>
                  <a:srgbClr val="F8FAFC"/>
                </a:solidFill>
              </a:rPr>
              <a:t>Negative selection algorithm for agent execution detectors: detectors matching normal execution patterns are eliminated, leaving only detectors sensitive to anomalies</a:t>
            </a:r>
            <a:endParaRPr lang="en-US" sz="850" dirty="0"/>
          </a:p>
          <a:p>
            <a:pPr>
              <a:lnSpc>
                <a:spcPct val="130000"/>
              </a:lnSpc>
            </a:pPr>
            <a:r>
              <a:rPr lang="en-US" sz="850" dirty="0">
                <a:solidFill>
                  <a:srgbClr val="F8FAFC"/>
                </a:solidFill>
              </a:rPr>
              <a:t>Clonal selection and hypermutation protocol for refining threat detectors when novel execution anomalies are confirmed</a:t>
            </a:r>
            <a:endParaRPr lang="en-US" sz="850" dirty="0"/>
          </a:p>
          <a:p>
            <a:pPr>
              <a:lnSpc>
                <a:spcPct val="130000"/>
              </a:lnSpc>
            </a:pPr>
            <a:r>
              <a:rPr lang="en-US" sz="850" dirty="0">
                <a:solidFill>
                  <a:srgbClr val="F8FAFC"/>
                </a:solidFill>
              </a:rPr>
              <a:t>Memory cell pool for threat detectors: fast-response store of validated anomaly detectors for previously-encountered threat classes</a:t>
            </a:r>
            <a:endParaRPr lang="en-US" sz="850" dirty="0"/>
          </a:p>
          <a:p>
            <a:pPr>
              <a:lnSpc>
                <a:spcPct val="130000"/>
              </a:lnSpc>
            </a:pPr>
            <a:r>
              <a:rPr lang="en-US" sz="850" dirty="0">
                <a:solidFill>
                  <a:srgbClr val="F8FAFC"/>
                </a:solidFill>
              </a:rPr>
              <a:t>Two-layer immune architecture: innate (fast, broad) + adaptive (slow, specific) detection layers with escalation protocol between layers</a:t>
            </a:r>
            <a:endParaRPr lang="en-US" sz="850" dirty="0"/>
          </a:p>
        </p:txBody>
      </p:sp>
      <p:sp>
        <p:nvSpPr>
          <p:cNvPr id="39" name="Shape 37"/>
          <p:cNvSpPr/>
          <p:nvPr/>
        </p:nvSpPr>
        <p:spPr>
          <a:xfrm>
            <a:off x="4709160" y="3913632"/>
            <a:ext cx="4160520" cy="1152144"/>
          </a:xfrm>
          <a:prstGeom prst="roundRect">
            <a:avLst>
              <a:gd name="adj" fmla="val 5556"/>
            </a:avLst>
          </a:prstGeom>
          <a:solidFill>
            <a:srgbClr val="0D1117"/>
          </a:solidFill>
          <a:ln w="12700">
            <a:solidFill>
              <a:srgbClr val="10B981"/>
            </a:solidFill>
            <a:prstDash val="solid"/>
          </a:ln>
        </p:spPr>
      </p:sp>
      <p:sp>
        <p:nvSpPr>
          <p:cNvPr id="40" name="Shape 38"/>
          <p:cNvSpPr/>
          <p:nvPr/>
        </p:nvSpPr>
        <p:spPr>
          <a:xfrm>
            <a:off x="4818888" y="3977640"/>
            <a:ext cx="2651760" cy="201168"/>
          </a:xfrm>
          <a:prstGeom prst="roundRect">
            <a:avLst>
              <a:gd name="adj" fmla="val 18182"/>
            </a:avLst>
          </a:prstGeom>
          <a:solidFill>
            <a:srgbClr val="111827"/>
          </a:solidFill>
          <a:ln w="15240">
            <a:solidFill>
              <a:srgbClr val="10B981"/>
            </a:solidFill>
            <a:prstDash val="solid"/>
          </a:ln>
        </p:spPr>
      </p:sp>
      <p:sp>
        <p:nvSpPr>
          <p:cNvPr id="41" name="Text 39"/>
          <p:cNvSpPr/>
          <p:nvPr/>
        </p:nvSpPr>
        <p:spPr>
          <a:xfrm>
            <a:off x="4818888" y="3986784"/>
            <a:ext cx="2651760" cy="201168"/>
          </a:xfrm>
          <a:prstGeom prst="rect">
            <a:avLst/>
          </a:prstGeom>
          <a:noFill/>
          <a:ln/>
        </p:spPr>
        <p:txBody>
          <a:bodyPr wrap="square" lIns="0" tIns="0" rIns="0" bIns="0" rtlCol="0" anchor="ctr"/>
          <a:lstStyle/>
          <a:p>
            <a:pPr algn="ctr" indent="0" marL="0">
              <a:buNone/>
            </a:pPr>
            <a:r>
              <a:rPr lang="en-US" sz="800" b="1" dirty="0">
                <a:solidFill>
                  <a:srgbClr val="10B981"/>
                </a:solidFill>
              </a:rPr>
              <a:t>🔍 DIFFERENTIATION FROM PRIOR ART</a:t>
            </a:r>
            <a:endParaRPr lang="en-US" sz="800" dirty="0"/>
          </a:p>
        </p:txBody>
      </p:sp>
      <p:sp>
        <p:nvSpPr>
          <p:cNvPr id="42" name="Text 40"/>
          <p:cNvSpPr/>
          <p:nvPr/>
        </p:nvSpPr>
        <p:spPr>
          <a:xfrm>
            <a:off x="4818888" y="4206240"/>
            <a:ext cx="3931920" cy="804672"/>
          </a:xfrm>
          <a:prstGeom prst="rect">
            <a:avLst/>
          </a:prstGeom>
          <a:noFill/>
          <a:ln/>
        </p:spPr>
        <p:txBody>
          <a:bodyPr wrap="square" lIns="25400" tIns="50800" rIns="0" bIns="0" rtlCol="0" anchor="ctr"/>
          <a:lstStyle/>
          <a:p>
            <a:pPr>
              <a:lnSpc>
                <a:spcPct val="130000"/>
              </a:lnSpc>
            </a:pPr>
            <a:r>
              <a:rPr lang="en-US" sz="850" dirty="0">
                <a:solidFill>
                  <a:srgbClr val="F8FAFC"/>
                </a:solidFill>
              </a:rPr>
              <a:t>Artificial Immune Systems (AIS) literature: de Castro &amp; Timmis 2002 — classic AI but not applied to LLM agent execution monitoring</a:t>
            </a:r>
            <a:endParaRPr lang="en-US" sz="850" dirty="0"/>
          </a:p>
          <a:p>
            <a:pPr>
              <a:lnSpc>
                <a:spcPct val="130000"/>
              </a:lnSpc>
            </a:pPr>
            <a:r>
              <a:rPr lang="en-US" sz="850" dirty="0">
                <a:solidFill>
                  <a:srgbClr val="F8FAFC"/>
                </a:solidFill>
              </a:rPr>
              <a:t>VeriGuard (arxiv:2510.05156): verified code generation for safety; no adaptive detector generation or clonal selection</a:t>
            </a:r>
            <a:endParaRPr lang="en-US" sz="850" dirty="0"/>
          </a:p>
          <a:p>
            <a:pPr>
              <a:lnSpc>
                <a:spcPct val="130000"/>
              </a:lnSpc>
            </a:pPr>
            <a:r>
              <a:rPr lang="en-US" sz="850" dirty="0">
                <a:solidFill>
                  <a:srgbClr val="F8FAFC"/>
                </a:solidFill>
              </a:rPr>
              <a:t>No patent applies clonal selection theory to multi-agent execution anomaly detection with memory cells</a:t>
            </a:r>
            <a:endParaRPr lang="en-US" sz="850" dirty="0"/>
          </a:p>
        </p:txBody>
      </p:sp>
      <p:sp>
        <p:nvSpPr>
          <p:cNvPr id="43" name="Text 41"/>
          <p:cNvSpPr/>
          <p:nvPr/>
        </p:nvSpPr>
        <p:spPr>
          <a:xfrm>
            <a:off x="8503920" y="4983480"/>
            <a:ext cx="457200" cy="164592"/>
          </a:xfrm>
          <a:prstGeom prst="rect">
            <a:avLst/>
          </a:prstGeom>
          <a:noFill/>
          <a:ln/>
        </p:spPr>
        <p:txBody>
          <a:bodyPr wrap="square" lIns="0" tIns="0" rIns="0" bIns="0" rtlCol="0" anchor="ctr"/>
          <a:lstStyle/>
          <a:p>
            <a:pPr algn="r" indent="0" marL="0">
              <a:buNone/>
            </a:pPr>
            <a:r>
              <a:rPr lang="en-US" sz="800" dirty="0">
                <a:solidFill>
                  <a:srgbClr val="94A3B8"/>
                </a:solidFill>
              </a:rPr>
              <a:t>9 / 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6858000" y="-914400"/>
            <a:ext cx="4572000" cy="4572000"/>
          </a:xfrm>
          <a:prstGeom prst="ellipse">
            <a:avLst/>
          </a:prstGeom>
          <a:solidFill>
            <a:srgbClr val="F59E0B"/>
          </a:solidFill>
          <a:ln w="12700">
            <a:solidFill>
              <a:srgbClr val="F59E0B"/>
            </a:solidFill>
            <a:prstDash val="solid"/>
          </a:ln>
        </p:spPr>
      </p:sp>
      <p:sp>
        <p:nvSpPr>
          <p:cNvPr id="3" name="Shape 1"/>
          <p:cNvSpPr/>
          <p:nvPr/>
        </p:nvSpPr>
        <p:spPr>
          <a:xfrm>
            <a:off x="274320" y="91440"/>
            <a:ext cx="1325880" cy="347472"/>
          </a:xfrm>
          <a:prstGeom prst="roundRect">
            <a:avLst>
              <a:gd name="adj" fmla="val 15789"/>
            </a:avLst>
          </a:prstGeom>
          <a:solidFill>
            <a:srgbClr val="78350F"/>
          </a:solidFill>
          <a:ln w="12700">
            <a:solidFill>
              <a:srgbClr val="F59E0B"/>
            </a:solidFill>
            <a:prstDash val="solid"/>
          </a:ln>
        </p:spPr>
      </p:sp>
      <p:sp>
        <p:nvSpPr>
          <p:cNvPr id="4" name="Text 2"/>
          <p:cNvSpPr/>
          <p:nvPr/>
        </p:nvSpPr>
        <p:spPr>
          <a:xfrm>
            <a:off x="274320" y="91440"/>
            <a:ext cx="1325880" cy="347472"/>
          </a:xfrm>
          <a:prstGeom prst="rect">
            <a:avLst/>
          </a:prstGeom>
          <a:noFill/>
          <a:ln/>
        </p:spPr>
        <p:txBody>
          <a:bodyPr wrap="square" lIns="0" tIns="0" rIns="0" bIns="0" rtlCol="0" anchor="ctr"/>
          <a:lstStyle/>
          <a:p>
            <a:pPr algn="ctr" indent="0" marL="0">
              <a:buNone/>
            </a:pPr>
            <a:r>
              <a:rPr lang="en-US" sz="900" b="1" dirty="0">
                <a:solidFill>
                  <a:srgbClr val="F59E0B"/>
                </a:solidFill>
              </a:rPr>
              <a:t>Patent Idea #10</a:t>
            </a:r>
            <a:endParaRPr lang="en-US" sz="900" dirty="0"/>
          </a:p>
        </p:txBody>
      </p:sp>
      <p:sp>
        <p:nvSpPr>
          <p:cNvPr id="5" name="Text 3"/>
          <p:cNvSpPr/>
          <p:nvPr/>
        </p:nvSpPr>
        <p:spPr>
          <a:xfrm>
            <a:off x="1691640" y="91440"/>
            <a:ext cx="7132320" cy="274320"/>
          </a:xfrm>
          <a:prstGeom prst="rect">
            <a:avLst/>
          </a:prstGeom>
          <a:noFill/>
          <a:ln/>
        </p:spPr>
        <p:txBody>
          <a:bodyPr wrap="square" lIns="0" tIns="0" rIns="0" bIns="0" rtlCol="0" anchor="ctr"/>
          <a:lstStyle/>
          <a:p>
            <a:pPr indent="0" marL="0">
              <a:buNone/>
            </a:pPr>
            <a:r>
              <a:rPr lang="en-US" sz="1450" b="1" dirty="0">
                <a:solidFill>
                  <a:srgbClr val="FFFFFF"/>
                </a:solidFill>
              </a:rPr>
              <a:t>Quantum Game Theory Nash Equilibrium Planner (QGTNEP)</a:t>
            </a:r>
            <a:endParaRPr lang="en-US" sz="1450" dirty="0"/>
          </a:p>
        </p:txBody>
      </p:sp>
      <p:sp>
        <p:nvSpPr>
          <p:cNvPr id="6" name="Text 4"/>
          <p:cNvSpPr/>
          <p:nvPr/>
        </p:nvSpPr>
        <p:spPr>
          <a:xfrm>
            <a:off x="1691640" y="384048"/>
            <a:ext cx="7132320" cy="182880"/>
          </a:xfrm>
          <a:prstGeom prst="rect">
            <a:avLst/>
          </a:prstGeom>
          <a:noFill/>
          <a:ln/>
        </p:spPr>
        <p:txBody>
          <a:bodyPr wrap="square" lIns="0" tIns="0" rIns="0" bIns="0" rtlCol="0" anchor="t"/>
          <a:lstStyle/>
          <a:p>
            <a:pPr indent="0" marL="0">
              <a:buNone/>
            </a:pPr>
            <a:r>
              <a:rPr lang="en-US" sz="900" dirty="0">
                <a:solidFill>
                  <a:srgbClr val="94A3B8"/>
                </a:solidFill>
              </a:rPr>
              <a:t>Quantum mixed-strategy Nash equilibria enable genuinely mixed agent coordination without classical rounding losses</a:t>
            </a:r>
            <a:endParaRPr lang="en-US" sz="900" dirty="0"/>
          </a:p>
        </p:txBody>
      </p:sp>
      <p:sp>
        <p:nvSpPr>
          <p:cNvPr id="7" name="Shape 5"/>
          <p:cNvSpPr/>
          <p:nvPr/>
        </p:nvSpPr>
        <p:spPr>
          <a:xfrm>
            <a:off x="1691640" y="594360"/>
            <a:ext cx="1433779" cy="201168"/>
          </a:xfrm>
          <a:prstGeom prst="roundRect">
            <a:avLst>
              <a:gd name="adj" fmla="val 18182"/>
            </a:avLst>
          </a:prstGeom>
          <a:solidFill>
            <a:srgbClr val="78350F"/>
          </a:solidFill>
          <a:ln w="12700">
            <a:solidFill>
              <a:srgbClr val="78350F"/>
            </a:solidFill>
            <a:prstDash val="solid"/>
          </a:ln>
        </p:spPr>
      </p:sp>
      <p:sp>
        <p:nvSpPr>
          <p:cNvPr id="8" name="Text 6"/>
          <p:cNvSpPr/>
          <p:nvPr/>
        </p:nvSpPr>
        <p:spPr>
          <a:xfrm>
            <a:off x="1691640" y="594360"/>
            <a:ext cx="1433779" cy="201168"/>
          </a:xfrm>
          <a:prstGeom prst="rect">
            <a:avLst/>
          </a:prstGeom>
          <a:noFill/>
          <a:ln/>
        </p:spPr>
        <p:txBody>
          <a:bodyPr wrap="square" lIns="0" tIns="0" rIns="0" bIns="0" rtlCol="0" anchor="ctr"/>
          <a:lstStyle/>
          <a:p>
            <a:pPr algn="ctr" indent="0" marL="0">
              <a:buNone/>
            </a:pPr>
            <a:r>
              <a:rPr lang="en-US" sz="800" b="1" dirty="0">
                <a:solidFill>
                  <a:srgbClr val="F59E0B"/>
                </a:solidFill>
              </a:rPr>
              <a:t>Quantum Game Theory</a:t>
            </a:r>
            <a:endParaRPr lang="en-US" sz="800" dirty="0"/>
          </a:p>
        </p:txBody>
      </p:sp>
      <p:sp>
        <p:nvSpPr>
          <p:cNvPr id="9" name="Shape 7"/>
          <p:cNvSpPr/>
          <p:nvPr/>
        </p:nvSpPr>
        <p:spPr>
          <a:xfrm>
            <a:off x="3216859" y="594360"/>
            <a:ext cx="1170432" cy="201168"/>
          </a:xfrm>
          <a:prstGeom prst="roundRect">
            <a:avLst>
              <a:gd name="adj" fmla="val 18182"/>
            </a:avLst>
          </a:prstGeom>
          <a:solidFill>
            <a:srgbClr val="78350F"/>
          </a:solidFill>
          <a:ln w="12700">
            <a:solidFill>
              <a:srgbClr val="78350F"/>
            </a:solidFill>
            <a:prstDash val="solid"/>
          </a:ln>
        </p:spPr>
      </p:sp>
      <p:sp>
        <p:nvSpPr>
          <p:cNvPr id="10" name="Text 8"/>
          <p:cNvSpPr/>
          <p:nvPr/>
        </p:nvSpPr>
        <p:spPr>
          <a:xfrm>
            <a:off x="3216859" y="594360"/>
            <a:ext cx="1170432" cy="201168"/>
          </a:xfrm>
          <a:prstGeom prst="rect">
            <a:avLst/>
          </a:prstGeom>
          <a:noFill/>
          <a:ln/>
        </p:spPr>
        <p:txBody>
          <a:bodyPr wrap="square" lIns="0" tIns="0" rIns="0" bIns="0" rtlCol="0" anchor="ctr"/>
          <a:lstStyle/>
          <a:p>
            <a:pPr algn="ctr" indent="0" marL="0">
              <a:buNone/>
            </a:pPr>
            <a:r>
              <a:rPr lang="en-US" sz="800" b="1" dirty="0">
                <a:solidFill>
                  <a:srgbClr val="F59E0B"/>
                </a:solidFill>
              </a:rPr>
              <a:t>Nash Equilibria</a:t>
            </a:r>
            <a:endParaRPr lang="en-US" sz="800" dirty="0"/>
          </a:p>
        </p:txBody>
      </p:sp>
      <p:sp>
        <p:nvSpPr>
          <p:cNvPr id="11" name="Shape 9"/>
          <p:cNvSpPr/>
          <p:nvPr/>
        </p:nvSpPr>
        <p:spPr>
          <a:xfrm>
            <a:off x="4478731" y="594360"/>
            <a:ext cx="1236269" cy="201168"/>
          </a:xfrm>
          <a:prstGeom prst="roundRect">
            <a:avLst>
              <a:gd name="adj" fmla="val 18182"/>
            </a:avLst>
          </a:prstGeom>
          <a:solidFill>
            <a:srgbClr val="78350F"/>
          </a:solidFill>
          <a:ln w="12700">
            <a:solidFill>
              <a:srgbClr val="78350F"/>
            </a:solidFill>
            <a:prstDash val="solid"/>
          </a:ln>
        </p:spPr>
      </p:sp>
      <p:sp>
        <p:nvSpPr>
          <p:cNvPr id="12" name="Text 10"/>
          <p:cNvSpPr/>
          <p:nvPr/>
        </p:nvSpPr>
        <p:spPr>
          <a:xfrm>
            <a:off x="4478731" y="594360"/>
            <a:ext cx="1236269" cy="201168"/>
          </a:xfrm>
          <a:prstGeom prst="rect">
            <a:avLst/>
          </a:prstGeom>
          <a:noFill/>
          <a:ln/>
        </p:spPr>
        <p:txBody>
          <a:bodyPr wrap="square" lIns="0" tIns="0" rIns="0" bIns="0" rtlCol="0" anchor="ctr"/>
          <a:lstStyle/>
          <a:p>
            <a:pPr algn="ctr" indent="0" marL="0">
              <a:buNone/>
            </a:pPr>
            <a:r>
              <a:rPr lang="en-US" sz="800" b="1" dirty="0">
                <a:solidFill>
                  <a:srgbClr val="F59E0B"/>
                </a:solidFill>
              </a:rPr>
              <a:t>Mechanism Design</a:t>
            </a:r>
            <a:endParaRPr lang="en-US" sz="800" dirty="0"/>
          </a:p>
        </p:txBody>
      </p:sp>
      <p:sp>
        <p:nvSpPr>
          <p:cNvPr id="13" name="Shape 11"/>
          <p:cNvSpPr/>
          <p:nvPr/>
        </p:nvSpPr>
        <p:spPr>
          <a:xfrm>
            <a:off x="5806440" y="594360"/>
            <a:ext cx="1565453" cy="201168"/>
          </a:xfrm>
          <a:prstGeom prst="roundRect">
            <a:avLst>
              <a:gd name="adj" fmla="val 18182"/>
            </a:avLst>
          </a:prstGeom>
          <a:solidFill>
            <a:srgbClr val="78350F"/>
          </a:solidFill>
          <a:ln w="12700">
            <a:solidFill>
              <a:srgbClr val="78350F"/>
            </a:solidFill>
            <a:prstDash val="solid"/>
          </a:ln>
        </p:spPr>
      </p:sp>
      <p:sp>
        <p:nvSpPr>
          <p:cNvPr id="14" name="Text 12"/>
          <p:cNvSpPr/>
          <p:nvPr/>
        </p:nvSpPr>
        <p:spPr>
          <a:xfrm>
            <a:off x="5806440" y="594360"/>
            <a:ext cx="1565453" cy="201168"/>
          </a:xfrm>
          <a:prstGeom prst="rect">
            <a:avLst/>
          </a:prstGeom>
          <a:noFill/>
          <a:ln/>
        </p:spPr>
        <p:txBody>
          <a:bodyPr wrap="square" lIns="0" tIns="0" rIns="0" bIns="0" rtlCol="0" anchor="ctr"/>
          <a:lstStyle/>
          <a:p>
            <a:pPr algn="ctr" indent="0" marL="0">
              <a:buNone/>
            </a:pPr>
            <a:r>
              <a:rPr lang="en-US" sz="800" b="1" dirty="0">
                <a:solidFill>
                  <a:srgbClr val="F59E0B"/>
                </a:solidFill>
              </a:rPr>
              <a:t>Non-Cooperative Games</a:t>
            </a:r>
            <a:endParaRPr lang="en-US" sz="800" dirty="0"/>
          </a:p>
        </p:txBody>
      </p:sp>
      <p:sp>
        <p:nvSpPr>
          <p:cNvPr id="15" name="Shape 13"/>
          <p:cNvSpPr/>
          <p:nvPr/>
        </p:nvSpPr>
        <p:spPr>
          <a:xfrm>
            <a:off x="274320" y="868680"/>
            <a:ext cx="1389888" cy="658368"/>
          </a:xfrm>
          <a:prstGeom prst="roundRect">
            <a:avLst>
              <a:gd name="adj" fmla="val 9722"/>
            </a:avLst>
          </a:prstGeom>
          <a:solidFill>
            <a:srgbClr val="064E3B"/>
          </a:solidFill>
          <a:ln w="19050">
            <a:solidFill>
              <a:srgbClr val="34D399"/>
            </a:solidFill>
            <a:prstDash val="solid"/>
          </a:ln>
        </p:spPr>
      </p:sp>
      <p:sp>
        <p:nvSpPr>
          <p:cNvPr id="16" name="Text 14"/>
          <p:cNvSpPr/>
          <p:nvPr/>
        </p:nvSpPr>
        <p:spPr>
          <a:xfrm>
            <a:off x="274320" y="905256"/>
            <a:ext cx="1389888" cy="219456"/>
          </a:xfrm>
          <a:prstGeom prst="rect">
            <a:avLst/>
          </a:prstGeom>
          <a:noFill/>
          <a:ln/>
        </p:spPr>
        <p:txBody>
          <a:bodyPr wrap="square" lIns="0" tIns="0" rIns="0" bIns="0" rtlCol="0" anchor="ctr"/>
          <a:lstStyle/>
          <a:p>
            <a:pPr algn="ctr" indent="0" marL="0">
              <a:buNone/>
            </a:pPr>
            <a:r>
              <a:rPr lang="en-US" sz="750" b="1" dirty="0">
                <a:solidFill>
                  <a:srgbClr val="34D399"/>
                </a:solidFill>
              </a:rPr>
              <a:t>EST. ACCEPTANCE</a:t>
            </a:r>
            <a:endParaRPr lang="en-US" sz="750" dirty="0"/>
          </a:p>
        </p:txBody>
      </p:sp>
      <p:sp>
        <p:nvSpPr>
          <p:cNvPr id="17" name="Text 15"/>
          <p:cNvSpPr/>
          <p:nvPr/>
        </p:nvSpPr>
        <p:spPr>
          <a:xfrm>
            <a:off x="274320" y="1124712"/>
            <a:ext cx="1389888" cy="347472"/>
          </a:xfrm>
          <a:prstGeom prst="rect">
            <a:avLst/>
          </a:prstGeom>
          <a:noFill/>
          <a:ln/>
        </p:spPr>
        <p:txBody>
          <a:bodyPr wrap="square" lIns="0" tIns="0" rIns="0" bIns="0" rtlCol="0" anchor="ctr"/>
          <a:lstStyle/>
          <a:p>
            <a:pPr algn="ctr" indent="0" marL="0">
              <a:buNone/>
            </a:pPr>
            <a:r>
              <a:rPr lang="en-US" sz="2000" b="1" dirty="0">
                <a:solidFill>
                  <a:srgbClr val="34D399"/>
                </a:solidFill>
              </a:rPr>
              <a:t>69%</a:t>
            </a:r>
            <a:endParaRPr lang="en-US" sz="2000" dirty="0"/>
          </a:p>
        </p:txBody>
      </p:sp>
      <p:sp>
        <p:nvSpPr>
          <p:cNvPr id="18" name="Shape 16"/>
          <p:cNvSpPr/>
          <p:nvPr/>
        </p:nvSpPr>
        <p:spPr>
          <a:xfrm>
            <a:off x="1828800" y="868680"/>
            <a:ext cx="1389888" cy="658368"/>
          </a:xfrm>
          <a:prstGeom prst="roundRect">
            <a:avLst>
              <a:gd name="adj" fmla="val 9722"/>
            </a:avLst>
          </a:prstGeom>
          <a:solidFill>
            <a:srgbClr val="78350F"/>
          </a:solidFill>
          <a:ln w="19050">
            <a:solidFill>
              <a:srgbClr val="FCD34D"/>
            </a:solidFill>
            <a:prstDash val="solid"/>
          </a:ln>
        </p:spPr>
      </p:sp>
      <p:sp>
        <p:nvSpPr>
          <p:cNvPr id="19" name="Text 17"/>
          <p:cNvSpPr/>
          <p:nvPr/>
        </p:nvSpPr>
        <p:spPr>
          <a:xfrm>
            <a:off x="1828800" y="905256"/>
            <a:ext cx="1389888" cy="219456"/>
          </a:xfrm>
          <a:prstGeom prst="rect">
            <a:avLst/>
          </a:prstGeom>
          <a:noFill/>
          <a:ln/>
        </p:spPr>
        <p:txBody>
          <a:bodyPr wrap="square" lIns="0" tIns="0" rIns="0" bIns="0" rtlCol="0" anchor="ctr"/>
          <a:lstStyle/>
          <a:p>
            <a:pPr algn="ctr" indent="0" marL="0">
              <a:buNone/>
            </a:pPr>
            <a:r>
              <a:rPr lang="en-US" sz="750" b="1" dirty="0">
                <a:solidFill>
                  <a:srgbClr val="FCD34D"/>
                </a:solidFill>
              </a:rPr>
              <a:t>EST. OVERLAP</a:t>
            </a:r>
            <a:endParaRPr lang="en-US" sz="750" dirty="0"/>
          </a:p>
        </p:txBody>
      </p:sp>
      <p:sp>
        <p:nvSpPr>
          <p:cNvPr id="20" name="Text 18"/>
          <p:cNvSpPr/>
          <p:nvPr/>
        </p:nvSpPr>
        <p:spPr>
          <a:xfrm>
            <a:off x="1828800" y="1124712"/>
            <a:ext cx="1389888" cy="347472"/>
          </a:xfrm>
          <a:prstGeom prst="rect">
            <a:avLst/>
          </a:prstGeom>
          <a:noFill/>
          <a:ln/>
        </p:spPr>
        <p:txBody>
          <a:bodyPr wrap="square" lIns="0" tIns="0" rIns="0" bIns="0" rtlCol="0" anchor="ctr"/>
          <a:lstStyle/>
          <a:p>
            <a:pPr algn="ctr" indent="0" marL="0">
              <a:buNone/>
            </a:pPr>
            <a:r>
              <a:rPr lang="en-US" sz="2000" b="1" dirty="0">
                <a:solidFill>
                  <a:srgbClr val="FCD34D"/>
                </a:solidFill>
              </a:rPr>
              <a:t>21%</a:t>
            </a:r>
            <a:endParaRPr lang="en-US" sz="2000" dirty="0"/>
          </a:p>
        </p:txBody>
      </p:sp>
      <p:sp>
        <p:nvSpPr>
          <p:cNvPr id="21" name="Shape 19"/>
          <p:cNvSpPr/>
          <p:nvPr/>
        </p:nvSpPr>
        <p:spPr>
          <a:xfrm>
            <a:off x="3383280" y="868680"/>
            <a:ext cx="1389888" cy="658368"/>
          </a:xfrm>
          <a:prstGeom prst="roundRect">
            <a:avLst>
              <a:gd name="adj" fmla="val 9722"/>
            </a:avLst>
          </a:prstGeom>
          <a:solidFill>
            <a:srgbClr val="2D1B69"/>
          </a:solidFill>
          <a:ln w="19050">
            <a:solidFill>
              <a:srgbClr val="A78BFA"/>
            </a:solidFill>
            <a:prstDash val="solid"/>
          </a:ln>
        </p:spPr>
      </p:sp>
      <p:sp>
        <p:nvSpPr>
          <p:cNvPr id="22" name="Text 20"/>
          <p:cNvSpPr/>
          <p:nvPr/>
        </p:nvSpPr>
        <p:spPr>
          <a:xfrm>
            <a:off x="3383280" y="905256"/>
            <a:ext cx="1389888" cy="219456"/>
          </a:xfrm>
          <a:prstGeom prst="rect">
            <a:avLst/>
          </a:prstGeom>
          <a:noFill/>
          <a:ln/>
        </p:spPr>
        <p:txBody>
          <a:bodyPr wrap="square" lIns="0" tIns="0" rIns="0" bIns="0" rtlCol="0" anchor="ctr"/>
          <a:lstStyle/>
          <a:p>
            <a:pPr algn="ctr" indent="0" marL="0">
              <a:buNone/>
            </a:pPr>
            <a:r>
              <a:rPr lang="en-US" sz="750" b="1" dirty="0">
                <a:solidFill>
                  <a:srgbClr val="A78BFA"/>
                </a:solidFill>
              </a:rPr>
              <a:t>EST. NOVELTY</a:t>
            </a:r>
            <a:endParaRPr lang="en-US" sz="750" dirty="0"/>
          </a:p>
        </p:txBody>
      </p:sp>
      <p:sp>
        <p:nvSpPr>
          <p:cNvPr id="23" name="Text 21"/>
          <p:cNvSpPr/>
          <p:nvPr/>
        </p:nvSpPr>
        <p:spPr>
          <a:xfrm>
            <a:off x="3383280" y="1124712"/>
            <a:ext cx="1389888" cy="347472"/>
          </a:xfrm>
          <a:prstGeom prst="rect">
            <a:avLst/>
          </a:prstGeom>
          <a:noFill/>
          <a:ln/>
        </p:spPr>
        <p:txBody>
          <a:bodyPr wrap="square" lIns="0" tIns="0" rIns="0" bIns="0" rtlCol="0" anchor="ctr"/>
          <a:lstStyle/>
          <a:p>
            <a:pPr algn="ctr" indent="0" marL="0">
              <a:buNone/>
            </a:pPr>
            <a:r>
              <a:rPr lang="en-US" sz="2000" b="1" dirty="0">
                <a:solidFill>
                  <a:srgbClr val="A78BFA"/>
                </a:solidFill>
              </a:rPr>
              <a:t>79%</a:t>
            </a:r>
            <a:endParaRPr lang="en-US" sz="2000" dirty="0"/>
          </a:p>
        </p:txBody>
      </p:sp>
      <p:sp>
        <p:nvSpPr>
          <p:cNvPr id="24" name="Shape 22"/>
          <p:cNvSpPr/>
          <p:nvPr/>
        </p:nvSpPr>
        <p:spPr>
          <a:xfrm>
            <a:off x="274320" y="1627632"/>
            <a:ext cx="8595360" cy="685800"/>
          </a:xfrm>
          <a:prstGeom prst="roundRect">
            <a:avLst>
              <a:gd name="adj" fmla="val 9333"/>
            </a:avLst>
          </a:prstGeom>
          <a:solidFill>
            <a:srgbClr val="78350F"/>
          </a:solidFill>
          <a:ln w="12700">
            <a:solidFill>
              <a:srgbClr val="F59E0B"/>
            </a:solidFill>
            <a:prstDash val="solid"/>
          </a:ln>
        </p:spPr>
      </p:sp>
      <p:sp>
        <p:nvSpPr>
          <p:cNvPr id="25" name="Text 23"/>
          <p:cNvSpPr/>
          <p:nvPr/>
        </p:nvSpPr>
        <p:spPr>
          <a:xfrm>
            <a:off x="402336" y="1682496"/>
            <a:ext cx="2011680" cy="201168"/>
          </a:xfrm>
          <a:prstGeom prst="rect">
            <a:avLst/>
          </a:prstGeom>
          <a:noFill/>
          <a:ln/>
        </p:spPr>
        <p:txBody>
          <a:bodyPr wrap="square" lIns="0" tIns="0" rIns="0" bIns="0" rtlCol="0" anchor="ctr"/>
          <a:lstStyle/>
          <a:p>
            <a:pPr indent="0" marL="0">
              <a:buNone/>
            </a:pPr>
            <a:r>
              <a:rPr lang="en-US" sz="850" b="1" dirty="0">
                <a:solidFill>
                  <a:srgbClr val="F59E0B"/>
                </a:solidFill>
              </a:rPr>
              <a:t>💡 Cross-Domain Insight</a:t>
            </a:r>
            <a:endParaRPr lang="en-US" sz="850" dirty="0"/>
          </a:p>
        </p:txBody>
      </p:sp>
      <p:sp>
        <p:nvSpPr>
          <p:cNvPr id="26" name="Text 24"/>
          <p:cNvSpPr/>
          <p:nvPr/>
        </p:nvSpPr>
        <p:spPr>
          <a:xfrm>
            <a:off x="402336" y="1865376"/>
            <a:ext cx="8321040" cy="402336"/>
          </a:xfrm>
          <a:prstGeom prst="rect">
            <a:avLst/>
          </a:prstGeom>
          <a:noFill/>
          <a:ln/>
        </p:spPr>
        <p:txBody>
          <a:bodyPr wrap="square" lIns="0" tIns="0" rIns="0" bIns="0" rtlCol="0" anchor="ctr"/>
          <a:lstStyle/>
          <a:p>
            <a:pPr indent="0" marL="0">
              <a:lnSpc>
                <a:spcPct val="125000"/>
              </a:lnSpc>
              <a:buNone/>
            </a:pPr>
            <a:r>
              <a:rPr lang="en-US" sz="900" dirty="0">
                <a:solidFill>
                  <a:srgbClr val="F8FAFC"/>
                </a:solidFill>
              </a:rPr>
              <a:t>Classical Nash equilibria require mixed strategies that must be rounded to discrete actions, losing precision. Quantum game theory allows genuinely superposed strategies — agents choose quantum superpositions of actions, with coordination emerging from quantum correlations (entanglement-analog in shared belief state). Eisert-Wilkens-Lewenstein protocol for quantum games applied to agent task bidding.</a:t>
            </a:r>
            <a:endParaRPr lang="en-US" sz="900" dirty="0"/>
          </a:p>
        </p:txBody>
      </p:sp>
      <p:sp>
        <p:nvSpPr>
          <p:cNvPr id="27" name="Shape 25"/>
          <p:cNvSpPr/>
          <p:nvPr/>
        </p:nvSpPr>
        <p:spPr>
          <a:xfrm>
            <a:off x="274320" y="2423160"/>
            <a:ext cx="4160520" cy="1188720"/>
          </a:xfrm>
          <a:prstGeom prst="roundRect">
            <a:avLst>
              <a:gd name="adj" fmla="val 5385"/>
            </a:avLst>
          </a:prstGeom>
          <a:solidFill>
            <a:srgbClr val="1A2235"/>
          </a:solidFill>
          <a:ln w="6350">
            <a:solidFill>
              <a:srgbClr val="2D3748"/>
            </a:solidFill>
            <a:prstDash val="solid"/>
          </a:ln>
        </p:spPr>
      </p:sp>
      <p:sp>
        <p:nvSpPr>
          <p:cNvPr id="28" name="Shape 26"/>
          <p:cNvSpPr/>
          <p:nvPr/>
        </p:nvSpPr>
        <p:spPr>
          <a:xfrm>
            <a:off x="384048" y="2487168"/>
            <a:ext cx="1737360" cy="201168"/>
          </a:xfrm>
          <a:prstGeom prst="roundRect">
            <a:avLst>
              <a:gd name="adj" fmla="val 18182"/>
            </a:avLst>
          </a:prstGeom>
          <a:solidFill>
            <a:srgbClr val="111827"/>
          </a:solidFill>
          <a:ln w="15240">
            <a:solidFill>
              <a:srgbClr val="F59E0B"/>
            </a:solidFill>
            <a:prstDash val="solid"/>
          </a:ln>
        </p:spPr>
      </p:sp>
      <p:sp>
        <p:nvSpPr>
          <p:cNvPr id="29" name="Text 27"/>
          <p:cNvSpPr/>
          <p:nvPr/>
        </p:nvSpPr>
        <p:spPr>
          <a:xfrm>
            <a:off x="384048" y="2496312"/>
            <a:ext cx="1737360" cy="201168"/>
          </a:xfrm>
          <a:prstGeom prst="rect">
            <a:avLst/>
          </a:prstGeom>
          <a:noFill/>
          <a:ln/>
        </p:spPr>
        <p:txBody>
          <a:bodyPr wrap="square" lIns="0" tIns="0" rIns="0" bIns="0" rtlCol="0" anchor="ctr"/>
          <a:lstStyle/>
          <a:p>
            <a:pPr algn="ctr" indent="0" marL="0">
              <a:buNone/>
            </a:pPr>
            <a:r>
              <a:rPr lang="en-US" sz="800" b="1" dirty="0">
                <a:solidFill>
                  <a:srgbClr val="F59E0B"/>
                </a:solidFill>
              </a:rPr>
              <a:t>⚡ PROBLEM SOLVED</a:t>
            </a:r>
            <a:endParaRPr lang="en-US" sz="800" dirty="0"/>
          </a:p>
        </p:txBody>
      </p:sp>
      <p:sp>
        <p:nvSpPr>
          <p:cNvPr id="30" name="Text 28"/>
          <p:cNvSpPr/>
          <p:nvPr/>
        </p:nvSpPr>
        <p:spPr>
          <a:xfrm>
            <a:off x="384048" y="2715768"/>
            <a:ext cx="3931920" cy="822960"/>
          </a:xfrm>
          <a:prstGeom prst="rect">
            <a:avLst/>
          </a:prstGeom>
          <a:noFill/>
          <a:ln/>
        </p:spPr>
        <p:txBody>
          <a:bodyPr wrap="square" lIns="0" tIns="0" rIns="0" bIns="0" rtlCol="0" anchor="ctr"/>
          <a:lstStyle/>
          <a:p>
            <a:pPr indent="0" marL="0">
              <a:lnSpc>
                <a:spcPct val="130000"/>
              </a:lnSpc>
              <a:buNone/>
            </a:pPr>
            <a:r>
              <a:rPr lang="en-US" sz="900" dirty="0">
                <a:solidFill>
                  <a:srgbClr val="94A3B8"/>
                </a:solidFill>
              </a:rPr>
              <a:t>Multi-agent task allocation uses greedy assignment or auction mechanisms that require agents to commit to discrete choices — missing Nash equilibria that only exist in mixed (probabilistic) strategies. Quantum correlations allow joint strategies unavailable to classically-communicating agents.</a:t>
            </a:r>
            <a:endParaRPr lang="en-US" sz="900" dirty="0"/>
          </a:p>
        </p:txBody>
      </p:sp>
      <p:sp>
        <p:nvSpPr>
          <p:cNvPr id="31" name="Shape 29"/>
          <p:cNvSpPr/>
          <p:nvPr/>
        </p:nvSpPr>
        <p:spPr>
          <a:xfrm>
            <a:off x="274320" y="3675888"/>
            <a:ext cx="4160520" cy="1389888"/>
          </a:xfrm>
          <a:prstGeom prst="roundRect">
            <a:avLst>
              <a:gd name="adj" fmla="val 4605"/>
            </a:avLst>
          </a:prstGeom>
          <a:solidFill>
            <a:srgbClr val="1A2235"/>
          </a:solidFill>
          <a:ln w="6350">
            <a:solidFill>
              <a:srgbClr val="2D3748"/>
            </a:solidFill>
            <a:prstDash val="solid"/>
          </a:ln>
        </p:spPr>
      </p:sp>
      <p:sp>
        <p:nvSpPr>
          <p:cNvPr id="32" name="Shape 30"/>
          <p:cNvSpPr/>
          <p:nvPr/>
        </p:nvSpPr>
        <p:spPr>
          <a:xfrm>
            <a:off x="384048" y="3739896"/>
            <a:ext cx="2743200" cy="201168"/>
          </a:xfrm>
          <a:prstGeom prst="roundRect">
            <a:avLst>
              <a:gd name="adj" fmla="val 18182"/>
            </a:avLst>
          </a:prstGeom>
          <a:solidFill>
            <a:srgbClr val="111827"/>
          </a:solidFill>
          <a:ln w="15240">
            <a:solidFill>
              <a:srgbClr val="333333"/>
            </a:solidFill>
            <a:prstDash val="solid"/>
          </a:ln>
        </p:spPr>
      </p:sp>
      <p:sp>
        <p:nvSpPr>
          <p:cNvPr id="33" name="Text 31"/>
          <p:cNvSpPr/>
          <p:nvPr/>
        </p:nvSpPr>
        <p:spPr>
          <a:xfrm>
            <a:off x="384048" y="3749040"/>
            <a:ext cx="2743200" cy="201168"/>
          </a:xfrm>
          <a:prstGeom prst="rect">
            <a:avLst/>
          </a:prstGeom>
          <a:noFill/>
          <a:ln/>
        </p:spPr>
        <p:txBody>
          <a:bodyPr wrap="square" lIns="0" tIns="0" rIns="0" bIns="0" rtlCol="0" anchor="ctr"/>
          <a:lstStyle/>
          <a:p>
            <a:pPr algn="ctr" indent="0" marL="0">
              <a:buNone/>
            </a:pPr>
            <a:r>
              <a:rPr lang="en-US" sz="800" b="1" dirty="0">
                <a:solidFill>
                  <a:srgbClr val="000000"/>
                </a:solidFill>
              </a:rPr>
              <a:t>🔬 NOVEL APPROACH (NUMBERED STEPS)</a:t>
            </a:r>
            <a:endParaRPr lang="en-US" sz="800" dirty="0"/>
          </a:p>
        </p:txBody>
      </p:sp>
      <p:sp>
        <p:nvSpPr>
          <p:cNvPr id="34" name="Text 32"/>
          <p:cNvSpPr/>
          <p:nvPr/>
        </p:nvSpPr>
        <p:spPr>
          <a:xfrm>
            <a:off x="384048" y="3977640"/>
            <a:ext cx="3931920" cy="1024128"/>
          </a:xfrm>
          <a:prstGeom prst="rect">
            <a:avLst/>
          </a:prstGeom>
          <a:noFill/>
          <a:ln/>
        </p:spPr>
        <p:txBody>
          <a:bodyPr wrap="square" lIns="25400" tIns="50800" rIns="0" bIns="0" rtlCol="0" anchor="ctr"/>
          <a:lstStyle/>
          <a:p>
            <a:pPr marL="342900" indent="-342900">
              <a:lnSpc>
                <a:spcPct val="130000"/>
              </a:lnSpc>
              <a:buSzPct val="100000"/>
              <a:buFont typeface="+mj-lt"/>
              <a:buAutoNum type="arabicPeriod" startAt="1"/>
            </a:pPr>
            <a:r>
              <a:rPr lang="en-US" sz="850" dirty="0">
                <a:solidFill>
                  <a:srgbClr val="F8FAFC"/>
                </a:solidFill>
              </a:rPr>
              <a:t>Belief-state superposition: each agent maintains a quantum-analog belief state over task assignments — a superposition of assignment vectors encoded in a variational circuit</a:t>
            </a:r>
            <a:endParaRPr lang="en-US" sz="850" dirty="0"/>
          </a:p>
          <a:p>
            <a:pPr marL="342900" indent="-342900">
              <a:lnSpc>
                <a:spcPct val="130000"/>
              </a:lnSpc>
              <a:buSzPct val="100000"/>
              <a:buFont typeface="+mj-lt"/>
              <a:buAutoNum type="arabicPeriod" startAt="1"/>
            </a:pPr>
            <a:r>
              <a:rPr lang="en-US" sz="850" dirty="0">
                <a:solidFill>
                  <a:srgbClr val="F8FAFC"/>
                </a:solidFill>
              </a:rPr>
              <a:t>Quantum correlation sharing: a shared entanglement-analog (POMDP joint belief tensor) allows agents to coordinate without explicit communication — non-local correlations in joint task assignments</a:t>
            </a:r>
            <a:endParaRPr lang="en-US" sz="850" dirty="0"/>
          </a:p>
          <a:p>
            <a:pPr marL="342900" indent="-342900">
              <a:lnSpc>
                <a:spcPct val="130000"/>
              </a:lnSpc>
              <a:buSzPct val="100000"/>
              <a:buFont typeface="+mj-lt"/>
              <a:buAutoNum type="arabicPeriod" startAt="1"/>
            </a:pPr>
            <a:r>
              <a:rPr lang="en-US" sz="850" dirty="0">
                <a:solidFill>
                  <a:srgbClr val="F8FAFC"/>
                </a:solidFill>
              </a:rPr>
              <a:t>Nash equilibrium search: gradient descent on the joint variational circuit finds Nash equilibria that include genuinely mixed strategies unavailable to classical best-response dynamics</a:t>
            </a:r>
            <a:endParaRPr lang="en-US" sz="850" dirty="0"/>
          </a:p>
          <a:p>
            <a:pPr marL="342900" indent="-342900">
              <a:lnSpc>
                <a:spcPct val="130000"/>
              </a:lnSpc>
              <a:buSzPct val="100000"/>
              <a:buFont typeface="+mj-lt"/>
              <a:buAutoNum type="arabicPeriod" startAt="1"/>
            </a:pPr>
            <a:r>
              <a:rPr lang="en-US" sz="850" dirty="0">
                <a:solidFill>
                  <a:srgbClr val="F8FAFC"/>
                </a:solidFill>
              </a:rPr>
              <a:t>Decoherence protection: periodic belief-state collapse to classical assignment when task urgency exceeds coherence threshold — graceful quantum-to-classical fallback</a:t>
            </a:r>
            <a:endParaRPr lang="en-US" sz="850" dirty="0"/>
          </a:p>
        </p:txBody>
      </p:sp>
      <p:sp>
        <p:nvSpPr>
          <p:cNvPr id="35" name="Shape 33"/>
          <p:cNvSpPr/>
          <p:nvPr/>
        </p:nvSpPr>
        <p:spPr>
          <a:xfrm>
            <a:off x="4709160" y="2423160"/>
            <a:ext cx="4160520" cy="1417320"/>
          </a:xfrm>
          <a:prstGeom prst="roundRect">
            <a:avLst>
              <a:gd name="adj" fmla="val 4516"/>
            </a:avLst>
          </a:prstGeom>
          <a:solidFill>
            <a:srgbClr val="1A2235"/>
          </a:solidFill>
          <a:ln w="6350">
            <a:solidFill>
              <a:srgbClr val="2D3748"/>
            </a:solidFill>
            <a:prstDash val="solid"/>
          </a:ln>
        </p:spPr>
      </p:sp>
      <p:sp>
        <p:nvSpPr>
          <p:cNvPr id="36" name="Shape 34"/>
          <p:cNvSpPr/>
          <p:nvPr/>
        </p:nvSpPr>
        <p:spPr>
          <a:xfrm>
            <a:off x="4818888" y="2487168"/>
            <a:ext cx="1828800" cy="201168"/>
          </a:xfrm>
          <a:prstGeom prst="roundRect">
            <a:avLst>
              <a:gd name="adj" fmla="val 18182"/>
            </a:avLst>
          </a:prstGeom>
          <a:solidFill>
            <a:srgbClr val="111827"/>
          </a:solidFill>
          <a:ln w="15240">
            <a:solidFill>
              <a:srgbClr val="F59E0B"/>
            </a:solidFill>
            <a:prstDash val="solid"/>
          </a:ln>
        </p:spPr>
      </p:sp>
      <p:sp>
        <p:nvSpPr>
          <p:cNvPr id="37" name="Text 35"/>
          <p:cNvSpPr/>
          <p:nvPr/>
        </p:nvSpPr>
        <p:spPr>
          <a:xfrm>
            <a:off x="4818888" y="2496312"/>
            <a:ext cx="1828800" cy="201168"/>
          </a:xfrm>
          <a:prstGeom prst="rect">
            <a:avLst/>
          </a:prstGeom>
          <a:noFill/>
          <a:ln/>
        </p:spPr>
        <p:txBody>
          <a:bodyPr wrap="square" lIns="0" tIns="0" rIns="0" bIns="0" rtlCol="0" anchor="ctr"/>
          <a:lstStyle/>
          <a:p>
            <a:pPr algn="ctr" indent="0" marL="0">
              <a:buNone/>
            </a:pPr>
            <a:r>
              <a:rPr lang="en-US" sz="800" b="1" dirty="0">
                <a:solidFill>
                  <a:srgbClr val="F59E0B"/>
                </a:solidFill>
              </a:rPr>
              <a:t>📋 KEY PATENT CLAIMS</a:t>
            </a:r>
            <a:endParaRPr lang="en-US" sz="800" dirty="0"/>
          </a:p>
        </p:txBody>
      </p:sp>
      <p:sp>
        <p:nvSpPr>
          <p:cNvPr id="38" name="Text 36"/>
          <p:cNvSpPr/>
          <p:nvPr/>
        </p:nvSpPr>
        <p:spPr>
          <a:xfrm>
            <a:off x="4818888" y="2715768"/>
            <a:ext cx="3931920" cy="1051560"/>
          </a:xfrm>
          <a:prstGeom prst="rect">
            <a:avLst/>
          </a:prstGeom>
          <a:noFill/>
          <a:ln/>
        </p:spPr>
        <p:txBody>
          <a:bodyPr wrap="square" lIns="25400" tIns="50800" rIns="0" bIns="0" rtlCol="0" anchor="ctr"/>
          <a:lstStyle/>
          <a:p>
            <a:pPr>
              <a:lnSpc>
                <a:spcPct val="130000"/>
              </a:lnSpc>
            </a:pPr>
            <a:r>
              <a:rPr lang="en-US" sz="850" dirty="0">
                <a:solidFill>
                  <a:srgbClr val="F8FAFC"/>
                </a:solidFill>
              </a:rPr>
              <a:t>Multi-agent task allocation using quantum-analog belief state superposition with variational circuit representation of assignment distributions</a:t>
            </a:r>
            <a:endParaRPr lang="en-US" sz="850" dirty="0"/>
          </a:p>
          <a:p>
            <a:pPr>
              <a:lnSpc>
                <a:spcPct val="130000"/>
              </a:lnSpc>
            </a:pPr>
            <a:r>
              <a:rPr lang="en-US" sz="850" dirty="0">
                <a:solidFill>
                  <a:srgbClr val="F8FAFC"/>
                </a:solidFill>
              </a:rPr>
              <a:t>Shared entanglement-analog POMDP joint belief tensor enabling non-local agent coordination without direct message passing</a:t>
            </a:r>
            <a:endParaRPr lang="en-US" sz="850" dirty="0"/>
          </a:p>
          <a:p>
            <a:pPr>
              <a:lnSpc>
                <a:spcPct val="130000"/>
              </a:lnSpc>
            </a:pPr>
            <a:r>
              <a:rPr lang="en-US" sz="850" dirty="0">
                <a:solidFill>
                  <a:srgbClr val="F8FAFC"/>
                </a:solidFill>
              </a:rPr>
              <a:t>Quantum Nash equilibrium search via gradient descent on joint variational circuit — finds mixed-strategy equilibria unavailable to classical best-response dynamics</a:t>
            </a:r>
            <a:endParaRPr lang="en-US" sz="850" dirty="0"/>
          </a:p>
          <a:p>
            <a:pPr>
              <a:lnSpc>
                <a:spcPct val="130000"/>
              </a:lnSpc>
            </a:pPr>
            <a:r>
              <a:rPr lang="en-US" sz="850" dirty="0">
                <a:solidFill>
                  <a:srgbClr val="F8FAFC"/>
                </a:solidFill>
              </a:rPr>
              <a:t>Decoherence-triggered fallback: automatic collapse from quantum to classical assignment when task urgency or resource constraints exceed configurable thresholds</a:t>
            </a:r>
            <a:endParaRPr lang="en-US" sz="850" dirty="0"/>
          </a:p>
        </p:txBody>
      </p:sp>
      <p:sp>
        <p:nvSpPr>
          <p:cNvPr id="39" name="Shape 37"/>
          <p:cNvSpPr/>
          <p:nvPr/>
        </p:nvSpPr>
        <p:spPr>
          <a:xfrm>
            <a:off x="4709160" y="3913632"/>
            <a:ext cx="4160520" cy="1152144"/>
          </a:xfrm>
          <a:prstGeom prst="roundRect">
            <a:avLst>
              <a:gd name="adj" fmla="val 5556"/>
            </a:avLst>
          </a:prstGeom>
          <a:solidFill>
            <a:srgbClr val="0D1117"/>
          </a:solidFill>
          <a:ln w="12700">
            <a:solidFill>
              <a:srgbClr val="F59E0B"/>
            </a:solidFill>
            <a:prstDash val="solid"/>
          </a:ln>
        </p:spPr>
      </p:sp>
      <p:sp>
        <p:nvSpPr>
          <p:cNvPr id="40" name="Shape 38"/>
          <p:cNvSpPr/>
          <p:nvPr/>
        </p:nvSpPr>
        <p:spPr>
          <a:xfrm>
            <a:off x="4818888" y="3977640"/>
            <a:ext cx="2651760" cy="201168"/>
          </a:xfrm>
          <a:prstGeom prst="roundRect">
            <a:avLst>
              <a:gd name="adj" fmla="val 18182"/>
            </a:avLst>
          </a:prstGeom>
          <a:solidFill>
            <a:srgbClr val="111827"/>
          </a:solidFill>
          <a:ln w="15240">
            <a:solidFill>
              <a:srgbClr val="F59E0B"/>
            </a:solidFill>
            <a:prstDash val="solid"/>
          </a:ln>
        </p:spPr>
      </p:sp>
      <p:sp>
        <p:nvSpPr>
          <p:cNvPr id="41" name="Text 39"/>
          <p:cNvSpPr/>
          <p:nvPr/>
        </p:nvSpPr>
        <p:spPr>
          <a:xfrm>
            <a:off x="4818888" y="3986784"/>
            <a:ext cx="2651760" cy="201168"/>
          </a:xfrm>
          <a:prstGeom prst="rect">
            <a:avLst/>
          </a:prstGeom>
          <a:noFill/>
          <a:ln/>
        </p:spPr>
        <p:txBody>
          <a:bodyPr wrap="square" lIns="0" tIns="0" rIns="0" bIns="0" rtlCol="0" anchor="ctr"/>
          <a:lstStyle/>
          <a:p>
            <a:pPr algn="ctr" indent="0" marL="0">
              <a:buNone/>
            </a:pPr>
            <a:r>
              <a:rPr lang="en-US" sz="800" b="1" dirty="0">
                <a:solidFill>
                  <a:srgbClr val="F59E0B"/>
                </a:solidFill>
              </a:rPr>
              <a:t>🔍 DIFFERENTIATION FROM PRIOR ART</a:t>
            </a:r>
            <a:endParaRPr lang="en-US" sz="800" dirty="0"/>
          </a:p>
        </p:txBody>
      </p:sp>
      <p:sp>
        <p:nvSpPr>
          <p:cNvPr id="42" name="Text 40"/>
          <p:cNvSpPr/>
          <p:nvPr/>
        </p:nvSpPr>
        <p:spPr>
          <a:xfrm>
            <a:off x="4818888" y="4206240"/>
            <a:ext cx="3931920" cy="804672"/>
          </a:xfrm>
          <a:prstGeom prst="rect">
            <a:avLst/>
          </a:prstGeom>
          <a:noFill/>
          <a:ln/>
        </p:spPr>
        <p:txBody>
          <a:bodyPr wrap="square" lIns="25400" tIns="50800" rIns="0" bIns="0" rtlCol="0" anchor="ctr"/>
          <a:lstStyle/>
          <a:p>
            <a:pPr>
              <a:lnSpc>
                <a:spcPct val="130000"/>
              </a:lnSpc>
            </a:pPr>
            <a:r>
              <a:rPr lang="en-US" sz="850" dirty="0">
                <a:solidFill>
                  <a:srgbClr val="F8FAFC"/>
                </a:solidFill>
              </a:rPr>
              <a:t>Classical mechanism design/auction theory: discrete commitments only; no quantum superposed strategies</a:t>
            </a:r>
            <a:endParaRPr lang="en-US" sz="850" dirty="0"/>
          </a:p>
          <a:p>
            <a:pPr>
              <a:lnSpc>
                <a:spcPct val="130000"/>
              </a:lnSpc>
            </a:pPr>
            <a:r>
              <a:rPr lang="en-US" sz="850" dirty="0">
                <a:solidFill>
                  <a:srgbClr val="F8FAFC"/>
                </a:solidFill>
              </a:rPr>
              <a:t>Prediction market coordination (arxiv:2605.03310): classical market prices, not quantum belief superposition</a:t>
            </a:r>
            <a:endParaRPr lang="en-US" sz="850" dirty="0"/>
          </a:p>
          <a:p>
            <a:pPr>
              <a:lnSpc>
                <a:spcPct val="130000"/>
              </a:lnSpc>
            </a:pPr>
            <a:r>
              <a:rPr lang="en-US" sz="850" dirty="0">
                <a:solidFill>
                  <a:srgbClr val="F8FAFC"/>
                </a:solidFill>
              </a:rPr>
              <a:t>DecentLLMs BFT consensus: classical vote aggregation, not quantum-correlated joint strategies</a:t>
            </a:r>
            <a:endParaRPr lang="en-US" sz="850" dirty="0"/>
          </a:p>
          <a:p>
            <a:pPr>
              <a:lnSpc>
                <a:spcPct val="130000"/>
              </a:lnSpc>
            </a:pPr>
            <a:r>
              <a:rPr lang="en-US" sz="850" dirty="0">
                <a:solidFill>
                  <a:srgbClr val="F8FAFC"/>
                </a:solidFill>
              </a:rPr>
              <a:t>No patent applies quantum game theory with genuine quantum correlations to multi-agent task allocation</a:t>
            </a:r>
            <a:endParaRPr lang="en-US" sz="850" dirty="0"/>
          </a:p>
        </p:txBody>
      </p:sp>
      <p:sp>
        <p:nvSpPr>
          <p:cNvPr id="43" name="Text 41"/>
          <p:cNvSpPr/>
          <p:nvPr/>
        </p:nvSpPr>
        <p:spPr>
          <a:xfrm>
            <a:off x="8503920" y="4983480"/>
            <a:ext cx="457200" cy="164592"/>
          </a:xfrm>
          <a:prstGeom prst="rect">
            <a:avLst/>
          </a:prstGeom>
          <a:noFill/>
          <a:ln/>
        </p:spPr>
        <p:txBody>
          <a:bodyPr wrap="square" lIns="0" tIns="0" rIns="0" bIns="0" rtlCol="0" anchor="ctr"/>
          <a:lstStyle/>
          <a:p>
            <a:pPr algn="r" indent="0" marL="0">
              <a:buNone/>
            </a:pPr>
            <a:r>
              <a:rPr lang="en-US" sz="800" dirty="0">
                <a:solidFill>
                  <a:srgbClr val="94A3B8"/>
                </a:solidFill>
              </a:rPr>
              <a:t>10 / 10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F1E"/>
        </a:solidFill>
      </p:bgPr>
    </p:bg>
    <p:spTree>
      <p:nvGrpSpPr>
        <p:cNvPr id="1" name=""/>
        <p:cNvGrpSpPr/>
        <p:nvPr/>
      </p:nvGrpSpPr>
      <p:grpSpPr>
        <a:xfrm>
          <a:off x="0" y="0"/>
          <a:ext cx="0" cy="0"/>
          <a:chOff x="0" y="0"/>
          <a:chExt cx="0" cy="0"/>
        </a:xfrm>
      </p:grpSpPr>
      <p:sp>
        <p:nvSpPr>
          <p:cNvPr id="2" name="Shape 0"/>
          <p:cNvSpPr/>
          <p:nvPr/>
        </p:nvSpPr>
        <p:spPr>
          <a:xfrm>
            <a:off x="4572000" y="-1371600"/>
            <a:ext cx="6400800" cy="6400800"/>
          </a:xfrm>
          <a:prstGeom prst="ellipse">
            <a:avLst/>
          </a:prstGeom>
          <a:solidFill>
            <a:srgbClr val="4C1D95"/>
          </a:solidFill>
          <a:ln w="12700">
            <a:solidFill>
              <a:srgbClr val="4C1D95"/>
            </a:solidFill>
            <a:prstDash val="solid"/>
          </a:ln>
        </p:spPr>
      </p:sp>
      <p:sp>
        <p:nvSpPr>
          <p:cNvPr id="3" name="Text 1"/>
          <p:cNvSpPr/>
          <p:nvPr/>
        </p:nvSpPr>
        <p:spPr>
          <a:xfrm>
            <a:off x="365760" y="274320"/>
            <a:ext cx="8412480" cy="365760"/>
          </a:xfrm>
          <a:prstGeom prst="rect">
            <a:avLst/>
          </a:prstGeom>
          <a:noFill/>
          <a:ln/>
        </p:spPr>
        <p:txBody>
          <a:bodyPr wrap="square" lIns="0" tIns="0" rIns="0" bIns="0" rtlCol="0" anchor="ctr"/>
          <a:lstStyle/>
          <a:p>
            <a:pPr indent="0" marL="0">
              <a:buNone/>
            </a:pPr>
            <a:r>
              <a:rPr lang="en-US" sz="1300" dirty="0">
                <a:solidFill>
                  <a:srgbClr val="A78BFA"/>
                </a:solidFill>
              </a:rPr>
              <a:t>Patent Portfolio</a:t>
            </a:r>
            <a:endParaRPr lang="en-US" sz="1300" dirty="0"/>
          </a:p>
        </p:txBody>
      </p:sp>
      <p:sp>
        <p:nvSpPr>
          <p:cNvPr id="4" name="Text 2"/>
          <p:cNvSpPr/>
          <p:nvPr/>
        </p:nvSpPr>
        <p:spPr>
          <a:xfrm>
            <a:off x="365760" y="621792"/>
            <a:ext cx="8412480" cy="475488"/>
          </a:xfrm>
          <a:prstGeom prst="rect">
            <a:avLst/>
          </a:prstGeom>
          <a:noFill/>
          <a:ln/>
        </p:spPr>
        <p:txBody>
          <a:bodyPr wrap="square" lIns="0" tIns="0" rIns="0" bIns="0" rtlCol="0" anchor="ctr"/>
          <a:lstStyle/>
          <a:p>
            <a:pPr indent="0" marL="0">
              <a:buNone/>
            </a:pPr>
            <a:r>
              <a:rPr lang="en-US" sz="2800" b="1" dirty="0">
                <a:solidFill>
                  <a:srgbClr val="FFFFFF"/>
                </a:solidFill>
              </a:rPr>
              <a:t>Rankings by Estimated Acceptance</a:t>
            </a:r>
            <a:endParaRPr lang="en-US" sz="2800" dirty="0"/>
          </a:p>
        </p:txBody>
      </p:sp>
      <p:sp>
        <p:nvSpPr>
          <p:cNvPr id="5" name="Shape 3"/>
          <p:cNvSpPr/>
          <p:nvPr/>
        </p:nvSpPr>
        <p:spPr>
          <a:xfrm>
            <a:off x="365760" y="1234440"/>
            <a:ext cx="3337560" cy="292608"/>
          </a:xfrm>
          <a:prstGeom prst="roundRect">
            <a:avLst>
              <a:gd name="adj" fmla="val 12500"/>
            </a:avLst>
          </a:prstGeom>
          <a:solidFill>
            <a:srgbClr val="2D1B69"/>
          </a:solidFill>
          <a:ln w="6350">
            <a:solidFill>
              <a:srgbClr val="7C3AED"/>
            </a:solidFill>
            <a:prstDash val="solid"/>
          </a:ln>
        </p:spPr>
      </p:sp>
      <p:sp>
        <p:nvSpPr>
          <p:cNvPr id="6" name="Text 4"/>
          <p:cNvSpPr/>
          <p:nvPr/>
        </p:nvSpPr>
        <p:spPr>
          <a:xfrm>
            <a:off x="365760" y="1234440"/>
            <a:ext cx="3337560" cy="292608"/>
          </a:xfrm>
          <a:prstGeom prst="rect">
            <a:avLst/>
          </a:prstGeom>
          <a:noFill/>
          <a:ln/>
        </p:spPr>
        <p:txBody>
          <a:bodyPr wrap="square" lIns="0" tIns="76200" rIns="0" bIns="0" rtlCol="0" anchor="ctr"/>
          <a:lstStyle/>
          <a:p>
            <a:pPr algn="l" indent="0" marL="0">
              <a:buNone/>
            </a:pPr>
            <a:r>
              <a:rPr lang="en-US" sz="900" b="1" dirty="0">
                <a:solidFill>
                  <a:srgbClr val="A78BFA"/>
                </a:solidFill>
              </a:rPr>
              <a:t>Patent Idea</a:t>
            </a:r>
            <a:endParaRPr lang="en-US" sz="900" dirty="0"/>
          </a:p>
        </p:txBody>
      </p:sp>
      <p:sp>
        <p:nvSpPr>
          <p:cNvPr id="7" name="Shape 5"/>
          <p:cNvSpPr/>
          <p:nvPr/>
        </p:nvSpPr>
        <p:spPr>
          <a:xfrm>
            <a:off x="3840480" y="1234440"/>
            <a:ext cx="1353312" cy="292608"/>
          </a:xfrm>
          <a:prstGeom prst="roundRect">
            <a:avLst>
              <a:gd name="adj" fmla="val 12500"/>
            </a:avLst>
          </a:prstGeom>
          <a:solidFill>
            <a:srgbClr val="2D1B69"/>
          </a:solidFill>
          <a:ln w="6350">
            <a:solidFill>
              <a:srgbClr val="7C3AED"/>
            </a:solidFill>
            <a:prstDash val="solid"/>
          </a:ln>
        </p:spPr>
      </p:sp>
      <p:sp>
        <p:nvSpPr>
          <p:cNvPr id="8" name="Text 6"/>
          <p:cNvSpPr/>
          <p:nvPr/>
        </p:nvSpPr>
        <p:spPr>
          <a:xfrm>
            <a:off x="3840480" y="1234440"/>
            <a:ext cx="1353312" cy="292608"/>
          </a:xfrm>
          <a:prstGeom prst="rect">
            <a:avLst/>
          </a:prstGeom>
          <a:noFill/>
          <a:ln/>
        </p:spPr>
        <p:txBody>
          <a:bodyPr wrap="square" lIns="0" tIns="0" rIns="0" bIns="0" rtlCol="0" anchor="ctr"/>
          <a:lstStyle/>
          <a:p>
            <a:pPr algn="ctr" indent="0" marL="0">
              <a:buNone/>
            </a:pPr>
            <a:r>
              <a:rPr lang="en-US" sz="900" b="1" dirty="0">
                <a:solidFill>
                  <a:srgbClr val="A78BFA"/>
                </a:solidFill>
              </a:rPr>
              <a:t>Acceptance</a:t>
            </a:r>
            <a:endParaRPr lang="en-US" sz="900" dirty="0"/>
          </a:p>
        </p:txBody>
      </p:sp>
      <p:sp>
        <p:nvSpPr>
          <p:cNvPr id="9" name="Shape 7"/>
          <p:cNvSpPr/>
          <p:nvPr/>
        </p:nvSpPr>
        <p:spPr>
          <a:xfrm>
            <a:off x="5349240" y="1234440"/>
            <a:ext cx="1353312" cy="292608"/>
          </a:xfrm>
          <a:prstGeom prst="roundRect">
            <a:avLst>
              <a:gd name="adj" fmla="val 12500"/>
            </a:avLst>
          </a:prstGeom>
          <a:solidFill>
            <a:srgbClr val="2D1B69"/>
          </a:solidFill>
          <a:ln w="6350">
            <a:solidFill>
              <a:srgbClr val="7C3AED"/>
            </a:solidFill>
            <a:prstDash val="solid"/>
          </a:ln>
        </p:spPr>
      </p:sp>
      <p:sp>
        <p:nvSpPr>
          <p:cNvPr id="10" name="Text 8"/>
          <p:cNvSpPr/>
          <p:nvPr/>
        </p:nvSpPr>
        <p:spPr>
          <a:xfrm>
            <a:off x="5349240" y="1234440"/>
            <a:ext cx="1353312" cy="292608"/>
          </a:xfrm>
          <a:prstGeom prst="rect">
            <a:avLst/>
          </a:prstGeom>
          <a:noFill/>
          <a:ln/>
        </p:spPr>
        <p:txBody>
          <a:bodyPr wrap="square" lIns="0" tIns="0" rIns="0" bIns="0" rtlCol="0" anchor="ctr"/>
          <a:lstStyle/>
          <a:p>
            <a:pPr algn="ctr" indent="0" marL="0">
              <a:buNone/>
            </a:pPr>
            <a:r>
              <a:rPr lang="en-US" sz="900" b="1" dirty="0">
                <a:solidFill>
                  <a:srgbClr val="A78BFA"/>
                </a:solidFill>
              </a:rPr>
              <a:t>Overlap</a:t>
            </a:r>
            <a:endParaRPr lang="en-US" sz="900" dirty="0"/>
          </a:p>
        </p:txBody>
      </p:sp>
      <p:sp>
        <p:nvSpPr>
          <p:cNvPr id="11" name="Shape 9"/>
          <p:cNvSpPr/>
          <p:nvPr/>
        </p:nvSpPr>
        <p:spPr>
          <a:xfrm>
            <a:off x="6858000" y="1234440"/>
            <a:ext cx="1353312" cy="292608"/>
          </a:xfrm>
          <a:prstGeom prst="roundRect">
            <a:avLst>
              <a:gd name="adj" fmla="val 12500"/>
            </a:avLst>
          </a:prstGeom>
          <a:solidFill>
            <a:srgbClr val="2D1B69"/>
          </a:solidFill>
          <a:ln w="6350">
            <a:solidFill>
              <a:srgbClr val="7C3AED"/>
            </a:solidFill>
            <a:prstDash val="solid"/>
          </a:ln>
        </p:spPr>
      </p:sp>
      <p:sp>
        <p:nvSpPr>
          <p:cNvPr id="12" name="Text 10"/>
          <p:cNvSpPr/>
          <p:nvPr/>
        </p:nvSpPr>
        <p:spPr>
          <a:xfrm>
            <a:off x="6858000" y="1234440"/>
            <a:ext cx="1353312" cy="292608"/>
          </a:xfrm>
          <a:prstGeom prst="rect">
            <a:avLst/>
          </a:prstGeom>
          <a:noFill/>
          <a:ln/>
        </p:spPr>
        <p:txBody>
          <a:bodyPr wrap="square" lIns="0" tIns="0" rIns="0" bIns="0" rtlCol="0" anchor="ctr"/>
          <a:lstStyle/>
          <a:p>
            <a:pPr algn="ctr" indent="0" marL="0">
              <a:buNone/>
            </a:pPr>
            <a:r>
              <a:rPr lang="en-US" sz="900" b="1" dirty="0">
                <a:solidFill>
                  <a:srgbClr val="A78BFA"/>
                </a:solidFill>
              </a:rPr>
              <a:t>Novelty</a:t>
            </a:r>
            <a:endParaRPr lang="en-US" sz="900" dirty="0"/>
          </a:p>
        </p:txBody>
      </p:sp>
      <p:sp>
        <p:nvSpPr>
          <p:cNvPr id="13" name="Shape 11"/>
          <p:cNvSpPr/>
          <p:nvPr/>
        </p:nvSpPr>
        <p:spPr>
          <a:xfrm>
            <a:off x="365760" y="1581912"/>
            <a:ext cx="7863840" cy="310896"/>
          </a:xfrm>
          <a:prstGeom prst="roundRect">
            <a:avLst>
              <a:gd name="adj" fmla="val 11765"/>
            </a:avLst>
          </a:prstGeom>
          <a:solidFill>
            <a:srgbClr val="1A2235"/>
          </a:solidFill>
          <a:ln w="3810">
            <a:solidFill>
              <a:srgbClr val="2D3748"/>
            </a:solidFill>
            <a:prstDash val="solid"/>
          </a:ln>
        </p:spPr>
      </p:sp>
      <p:sp>
        <p:nvSpPr>
          <p:cNvPr id="14" name="Text 12"/>
          <p:cNvSpPr/>
          <p:nvPr/>
        </p:nvSpPr>
        <p:spPr>
          <a:xfrm>
            <a:off x="411480" y="1581912"/>
            <a:ext cx="3337560" cy="310896"/>
          </a:xfrm>
          <a:prstGeom prst="rect">
            <a:avLst/>
          </a:prstGeom>
          <a:noFill/>
          <a:ln/>
        </p:spPr>
        <p:txBody>
          <a:bodyPr wrap="square" lIns="0" tIns="50800" rIns="0" bIns="0" rtlCol="0" anchor="ctr"/>
          <a:lstStyle/>
          <a:p>
            <a:pPr indent="0" marL="0">
              <a:buNone/>
            </a:pPr>
            <a:r>
              <a:rPr lang="en-US" sz="950" dirty="0">
                <a:solidFill>
                  <a:srgbClr val="F8FAFC"/>
                </a:solidFill>
              </a:rPr>
              <a:t>#3  Morphogenetic Role Differentiation Engine</a:t>
            </a:r>
            <a:endParaRPr lang="en-US" sz="950" dirty="0"/>
          </a:p>
        </p:txBody>
      </p:sp>
      <p:sp>
        <p:nvSpPr>
          <p:cNvPr id="15" name="Shape 13"/>
          <p:cNvSpPr/>
          <p:nvPr/>
        </p:nvSpPr>
        <p:spPr>
          <a:xfrm>
            <a:off x="3886200" y="1618488"/>
            <a:ext cx="1261872" cy="237744"/>
          </a:xfrm>
          <a:prstGeom prst="roundRect">
            <a:avLst>
              <a:gd name="adj" fmla="val 11538"/>
            </a:avLst>
          </a:prstGeom>
          <a:solidFill>
            <a:srgbClr val="064E3B"/>
          </a:solidFill>
          <a:ln w="6350">
            <a:solidFill>
              <a:srgbClr val="34D399"/>
            </a:solidFill>
            <a:prstDash val="solid"/>
          </a:ln>
        </p:spPr>
      </p:sp>
      <p:sp>
        <p:nvSpPr>
          <p:cNvPr id="16" name="Text 14"/>
          <p:cNvSpPr/>
          <p:nvPr/>
        </p:nvSpPr>
        <p:spPr>
          <a:xfrm>
            <a:off x="3886200" y="1618488"/>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82%</a:t>
            </a:r>
            <a:endParaRPr lang="en-US" sz="1200" dirty="0"/>
          </a:p>
        </p:txBody>
      </p:sp>
      <p:sp>
        <p:nvSpPr>
          <p:cNvPr id="17" name="Shape 15"/>
          <p:cNvSpPr/>
          <p:nvPr/>
        </p:nvSpPr>
        <p:spPr>
          <a:xfrm>
            <a:off x="5394960" y="1618488"/>
            <a:ext cx="1261872" cy="237744"/>
          </a:xfrm>
          <a:prstGeom prst="roundRect">
            <a:avLst>
              <a:gd name="adj" fmla="val 11538"/>
            </a:avLst>
          </a:prstGeom>
          <a:solidFill>
            <a:srgbClr val="064E3B"/>
          </a:solidFill>
          <a:ln w="6350">
            <a:solidFill>
              <a:srgbClr val="34D399"/>
            </a:solidFill>
            <a:prstDash val="solid"/>
          </a:ln>
        </p:spPr>
      </p:sp>
      <p:sp>
        <p:nvSpPr>
          <p:cNvPr id="18" name="Text 16"/>
          <p:cNvSpPr/>
          <p:nvPr/>
        </p:nvSpPr>
        <p:spPr>
          <a:xfrm>
            <a:off x="5394960" y="1618488"/>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8%</a:t>
            </a:r>
            <a:endParaRPr lang="en-US" sz="1200" dirty="0"/>
          </a:p>
        </p:txBody>
      </p:sp>
      <p:sp>
        <p:nvSpPr>
          <p:cNvPr id="19" name="Shape 17"/>
          <p:cNvSpPr/>
          <p:nvPr/>
        </p:nvSpPr>
        <p:spPr>
          <a:xfrm>
            <a:off x="6903720" y="1618488"/>
            <a:ext cx="1261872" cy="237744"/>
          </a:xfrm>
          <a:prstGeom prst="roundRect">
            <a:avLst>
              <a:gd name="adj" fmla="val 11538"/>
            </a:avLst>
          </a:prstGeom>
          <a:solidFill>
            <a:srgbClr val="2D1B69"/>
          </a:solidFill>
          <a:ln w="6350">
            <a:solidFill>
              <a:srgbClr val="A78BFA"/>
            </a:solidFill>
            <a:prstDash val="solid"/>
          </a:ln>
        </p:spPr>
      </p:sp>
      <p:sp>
        <p:nvSpPr>
          <p:cNvPr id="20" name="Text 18"/>
          <p:cNvSpPr/>
          <p:nvPr/>
        </p:nvSpPr>
        <p:spPr>
          <a:xfrm>
            <a:off x="6903720" y="1618488"/>
            <a:ext cx="1261872" cy="237744"/>
          </a:xfrm>
          <a:prstGeom prst="rect">
            <a:avLst/>
          </a:prstGeom>
          <a:noFill/>
          <a:ln/>
        </p:spPr>
        <p:txBody>
          <a:bodyPr wrap="square" lIns="0" tIns="0" rIns="0" bIns="0" rtlCol="0" anchor="ctr"/>
          <a:lstStyle/>
          <a:p>
            <a:pPr algn="ctr" indent="0" marL="0">
              <a:buNone/>
            </a:pPr>
            <a:r>
              <a:rPr lang="en-US" sz="1200" b="1" dirty="0">
                <a:solidFill>
                  <a:srgbClr val="A78BFA"/>
                </a:solidFill>
              </a:rPr>
              <a:t>92%</a:t>
            </a:r>
            <a:endParaRPr lang="en-US" sz="1200" dirty="0"/>
          </a:p>
        </p:txBody>
      </p:sp>
      <p:sp>
        <p:nvSpPr>
          <p:cNvPr id="21" name="Shape 19"/>
          <p:cNvSpPr/>
          <p:nvPr/>
        </p:nvSpPr>
        <p:spPr>
          <a:xfrm>
            <a:off x="365760" y="1915668"/>
            <a:ext cx="7863840" cy="310896"/>
          </a:xfrm>
          <a:prstGeom prst="roundRect">
            <a:avLst>
              <a:gd name="adj" fmla="val 11765"/>
            </a:avLst>
          </a:prstGeom>
          <a:solidFill>
            <a:srgbClr val="111827"/>
          </a:solidFill>
          <a:ln w="3810">
            <a:solidFill>
              <a:srgbClr val="2D3748"/>
            </a:solidFill>
            <a:prstDash val="solid"/>
          </a:ln>
        </p:spPr>
      </p:sp>
      <p:sp>
        <p:nvSpPr>
          <p:cNvPr id="22" name="Text 20"/>
          <p:cNvSpPr/>
          <p:nvPr/>
        </p:nvSpPr>
        <p:spPr>
          <a:xfrm>
            <a:off x="411480" y="1915668"/>
            <a:ext cx="3337560" cy="310896"/>
          </a:xfrm>
          <a:prstGeom prst="rect">
            <a:avLst/>
          </a:prstGeom>
          <a:noFill/>
          <a:ln/>
        </p:spPr>
        <p:txBody>
          <a:bodyPr wrap="square" lIns="0" tIns="50800" rIns="0" bIns="0" rtlCol="0" anchor="ctr"/>
          <a:lstStyle/>
          <a:p>
            <a:pPr indent="0" marL="0">
              <a:buNone/>
            </a:pPr>
            <a:r>
              <a:rPr lang="en-US" sz="950" dirty="0">
                <a:solidFill>
                  <a:srgbClr val="F8FAFC"/>
                </a:solidFill>
              </a:rPr>
              <a:t>#6  Epigenetic Memory Gating &amp; Silencing</a:t>
            </a:r>
            <a:endParaRPr lang="en-US" sz="950" dirty="0"/>
          </a:p>
        </p:txBody>
      </p:sp>
      <p:sp>
        <p:nvSpPr>
          <p:cNvPr id="23" name="Shape 21"/>
          <p:cNvSpPr/>
          <p:nvPr/>
        </p:nvSpPr>
        <p:spPr>
          <a:xfrm>
            <a:off x="3886200" y="1952244"/>
            <a:ext cx="1261872" cy="237744"/>
          </a:xfrm>
          <a:prstGeom prst="roundRect">
            <a:avLst>
              <a:gd name="adj" fmla="val 11538"/>
            </a:avLst>
          </a:prstGeom>
          <a:solidFill>
            <a:srgbClr val="064E3B"/>
          </a:solidFill>
          <a:ln w="6350">
            <a:solidFill>
              <a:srgbClr val="34D399"/>
            </a:solidFill>
            <a:prstDash val="solid"/>
          </a:ln>
        </p:spPr>
      </p:sp>
      <p:sp>
        <p:nvSpPr>
          <p:cNvPr id="24" name="Text 22"/>
          <p:cNvSpPr/>
          <p:nvPr/>
        </p:nvSpPr>
        <p:spPr>
          <a:xfrm>
            <a:off x="3886200" y="1952244"/>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80%</a:t>
            </a:r>
            <a:endParaRPr lang="en-US" sz="1200" dirty="0"/>
          </a:p>
        </p:txBody>
      </p:sp>
      <p:sp>
        <p:nvSpPr>
          <p:cNvPr id="25" name="Shape 23"/>
          <p:cNvSpPr/>
          <p:nvPr/>
        </p:nvSpPr>
        <p:spPr>
          <a:xfrm>
            <a:off x="5394960" y="1952244"/>
            <a:ext cx="1261872" cy="237744"/>
          </a:xfrm>
          <a:prstGeom prst="roundRect">
            <a:avLst>
              <a:gd name="adj" fmla="val 11538"/>
            </a:avLst>
          </a:prstGeom>
          <a:solidFill>
            <a:srgbClr val="064E3B"/>
          </a:solidFill>
          <a:ln w="6350">
            <a:solidFill>
              <a:srgbClr val="34D399"/>
            </a:solidFill>
            <a:prstDash val="solid"/>
          </a:ln>
        </p:spPr>
      </p:sp>
      <p:sp>
        <p:nvSpPr>
          <p:cNvPr id="26" name="Text 24"/>
          <p:cNvSpPr/>
          <p:nvPr/>
        </p:nvSpPr>
        <p:spPr>
          <a:xfrm>
            <a:off x="5394960" y="1952244"/>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9%</a:t>
            </a:r>
            <a:endParaRPr lang="en-US" sz="1200" dirty="0"/>
          </a:p>
        </p:txBody>
      </p:sp>
      <p:sp>
        <p:nvSpPr>
          <p:cNvPr id="27" name="Shape 25"/>
          <p:cNvSpPr/>
          <p:nvPr/>
        </p:nvSpPr>
        <p:spPr>
          <a:xfrm>
            <a:off x="6903720" y="1952244"/>
            <a:ext cx="1261872" cy="237744"/>
          </a:xfrm>
          <a:prstGeom prst="roundRect">
            <a:avLst>
              <a:gd name="adj" fmla="val 11538"/>
            </a:avLst>
          </a:prstGeom>
          <a:solidFill>
            <a:srgbClr val="2D1B69"/>
          </a:solidFill>
          <a:ln w="6350">
            <a:solidFill>
              <a:srgbClr val="A78BFA"/>
            </a:solidFill>
            <a:prstDash val="solid"/>
          </a:ln>
        </p:spPr>
      </p:sp>
      <p:sp>
        <p:nvSpPr>
          <p:cNvPr id="28" name="Text 26"/>
          <p:cNvSpPr/>
          <p:nvPr/>
        </p:nvSpPr>
        <p:spPr>
          <a:xfrm>
            <a:off x="6903720" y="1952244"/>
            <a:ext cx="1261872" cy="237744"/>
          </a:xfrm>
          <a:prstGeom prst="rect">
            <a:avLst/>
          </a:prstGeom>
          <a:noFill/>
          <a:ln/>
        </p:spPr>
        <p:txBody>
          <a:bodyPr wrap="square" lIns="0" tIns="0" rIns="0" bIns="0" rtlCol="0" anchor="ctr"/>
          <a:lstStyle/>
          <a:p>
            <a:pPr algn="ctr" indent="0" marL="0">
              <a:buNone/>
            </a:pPr>
            <a:r>
              <a:rPr lang="en-US" sz="1200" b="1" dirty="0">
                <a:solidFill>
                  <a:srgbClr val="A78BFA"/>
                </a:solidFill>
              </a:rPr>
              <a:t>91%</a:t>
            </a:r>
            <a:endParaRPr lang="en-US" sz="1200" dirty="0"/>
          </a:p>
        </p:txBody>
      </p:sp>
      <p:sp>
        <p:nvSpPr>
          <p:cNvPr id="29" name="Shape 27"/>
          <p:cNvSpPr/>
          <p:nvPr/>
        </p:nvSpPr>
        <p:spPr>
          <a:xfrm>
            <a:off x="365760" y="2249424"/>
            <a:ext cx="7863840" cy="310896"/>
          </a:xfrm>
          <a:prstGeom prst="roundRect">
            <a:avLst>
              <a:gd name="adj" fmla="val 11765"/>
            </a:avLst>
          </a:prstGeom>
          <a:solidFill>
            <a:srgbClr val="1A2235"/>
          </a:solidFill>
          <a:ln w="3810">
            <a:solidFill>
              <a:srgbClr val="2D3748"/>
            </a:solidFill>
            <a:prstDash val="solid"/>
          </a:ln>
        </p:spPr>
      </p:sp>
      <p:sp>
        <p:nvSpPr>
          <p:cNvPr id="30" name="Text 28"/>
          <p:cNvSpPr/>
          <p:nvPr/>
        </p:nvSpPr>
        <p:spPr>
          <a:xfrm>
            <a:off x="411480" y="2249424"/>
            <a:ext cx="3337560" cy="310896"/>
          </a:xfrm>
          <a:prstGeom prst="rect">
            <a:avLst/>
          </a:prstGeom>
          <a:noFill/>
          <a:ln/>
        </p:spPr>
        <p:txBody>
          <a:bodyPr wrap="square" lIns="0" tIns="50800" rIns="0" bIns="0" rtlCol="0" anchor="ctr"/>
          <a:lstStyle/>
          <a:p>
            <a:pPr indent="0" marL="0">
              <a:buNone/>
            </a:pPr>
            <a:r>
              <a:rPr lang="en-US" sz="950" dirty="0">
                <a:solidFill>
                  <a:srgbClr val="F8FAFC"/>
                </a:solidFill>
              </a:rPr>
              <a:t>#4  Topological Error Correction Shell</a:t>
            </a:r>
            <a:endParaRPr lang="en-US" sz="950" dirty="0"/>
          </a:p>
        </p:txBody>
      </p:sp>
      <p:sp>
        <p:nvSpPr>
          <p:cNvPr id="31" name="Shape 29"/>
          <p:cNvSpPr/>
          <p:nvPr/>
        </p:nvSpPr>
        <p:spPr>
          <a:xfrm>
            <a:off x="3886200" y="2286000"/>
            <a:ext cx="1261872" cy="237744"/>
          </a:xfrm>
          <a:prstGeom prst="roundRect">
            <a:avLst>
              <a:gd name="adj" fmla="val 11538"/>
            </a:avLst>
          </a:prstGeom>
          <a:solidFill>
            <a:srgbClr val="064E3B"/>
          </a:solidFill>
          <a:ln w="6350">
            <a:solidFill>
              <a:srgbClr val="34D399"/>
            </a:solidFill>
            <a:prstDash val="solid"/>
          </a:ln>
        </p:spPr>
      </p:sp>
      <p:sp>
        <p:nvSpPr>
          <p:cNvPr id="32" name="Text 30"/>
          <p:cNvSpPr/>
          <p:nvPr/>
        </p:nvSpPr>
        <p:spPr>
          <a:xfrm>
            <a:off x="3886200" y="2286000"/>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79%</a:t>
            </a:r>
            <a:endParaRPr lang="en-US" sz="1200" dirty="0"/>
          </a:p>
        </p:txBody>
      </p:sp>
      <p:sp>
        <p:nvSpPr>
          <p:cNvPr id="33" name="Shape 31"/>
          <p:cNvSpPr/>
          <p:nvPr/>
        </p:nvSpPr>
        <p:spPr>
          <a:xfrm>
            <a:off x="5394960" y="2286000"/>
            <a:ext cx="1261872" cy="237744"/>
          </a:xfrm>
          <a:prstGeom prst="roundRect">
            <a:avLst>
              <a:gd name="adj" fmla="val 11538"/>
            </a:avLst>
          </a:prstGeom>
          <a:solidFill>
            <a:srgbClr val="064E3B"/>
          </a:solidFill>
          <a:ln w="6350">
            <a:solidFill>
              <a:srgbClr val="34D399"/>
            </a:solidFill>
            <a:prstDash val="solid"/>
          </a:ln>
        </p:spPr>
      </p:sp>
      <p:sp>
        <p:nvSpPr>
          <p:cNvPr id="34" name="Text 32"/>
          <p:cNvSpPr/>
          <p:nvPr/>
        </p:nvSpPr>
        <p:spPr>
          <a:xfrm>
            <a:off x="5394960" y="2286000"/>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11%</a:t>
            </a:r>
            <a:endParaRPr lang="en-US" sz="1200" dirty="0"/>
          </a:p>
        </p:txBody>
      </p:sp>
      <p:sp>
        <p:nvSpPr>
          <p:cNvPr id="35" name="Shape 33"/>
          <p:cNvSpPr/>
          <p:nvPr/>
        </p:nvSpPr>
        <p:spPr>
          <a:xfrm>
            <a:off x="6903720" y="2286000"/>
            <a:ext cx="1261872" cy="237744"/>
          </a:xfrm>
          <a:prstGeom prst="roundRect">
            <a:avLst>
              <a:gd name="adj" fmla="val 11538"/>
            </a:avLst>
          </a:prstGeom>
          <a:solidFill>
            <a:srgbClr val="2D1B69"/>
          </a:solidFill>
          <a:ln w="6350">
            <a:solidFill>
              <a:srgbClr val="A78BFA"/>
            </a:solidFill>
            <a:prstDash val="solid"/>
          </a:ln>
        </p:spPr>
      </p:sp>
      <p:sp>
        <p:nvSpPr>
          <p:cNvPr id="36" name="Text 34"/>
          <p:cNvSpPr/>
          <p:nvPr/>
        </p:nvSpPr>
        <p:spPr>
          <a:xfrm>
            <a:off x="6903720" y="2286000"/>
            <a:ext cx="1261872" cy="237744"/>
          </a:xfrm>
          <a:prstGeom prst="rect">
            <a:avLst/>
          </a:prstGeom>
          <a:noFill/>
          <a:ln/>
        </p:spPr>
        <p:txBody>
          <a:bodyPr wrap="square" lIns="0" tIns="0" rIns="0" bIns="0" rtlCol="0" anchor="ctr"/>
          <a:lstStyle/>
          <a:p>
            <a:pPr algn="ctr" indent="0" marL="0">
              <a:buNone/>
            </a:pPr>
            <a:r>
              <a:rPr lang="en-US" sz="1200" b="1" dirty="0">
                <a:solidFill>
                  <a:srgbClr val="A78BFA"/>
                </a:solidFill>
              </a:rPr>
              <a:t>89%</a:t>
            </a:r>
            <a:endParaRPr lang="en-US" sz="1200" dirty="0"/>
          </a:p>
        </p:txBody>
      </p:sp>
      <p:sp>
        <p:nvSpPr>
          <p:cNvPr id="37" name="Shape 35"/>
          <p:cNvSpPr/>
          <p:nvPr/>
        </p:nvSpPr>
        <p:spPr>
          <a:xfrm>
            <a:off x="365760" y="2583180"/>
            <a:ext cx="7863840" cy="310896"/>
          </a:xfrm>
          <a:prstGeom prst="roundRect">
            <a:avLst>
              <a:gd name="adj" fmla="val 11765"/>
            </a:avLst>
          </a:prstGeom>
          <a:solidFill>
            <a:srgbClr val="111827"/>
          </a:solidFill>
          <a:ln w="3810">
            <a:solidFill>
              <a:srgbClr val="2D3748"/>
            </a:solidFill>
            <a:prstDash val="solid"/>
          </a:ln>
        </p:spPr>
      </p:sp>
      <p:sp>
        <p:nvSpPr>
          <p:cNvPr id="38" name="Text 36"/>
          <p:cNvSpPr/>
          <p:nvPr/>
        </p:nvSpPr>
        <p:spPr>
          <a:xfrm>
            <a:off x="411480" y="2583180"/>
            <a:ext cx="3337560" cy="310896"/>
          </a:xfrm>
          <a:prstGeom prst="rect">
            <a:avLst/>
          </a:prstGeom>
          <a:noFill/>
          <a:ln/>
        </p:spPr>
        <p:txBody>
          <a:bodyPr wrap="square" lIns="0" tIns="50800" rIns="0" bIns="0" rtlCol="0" anchor="ctr"/>
          <a:lstStyle/>
          <a:p>
            <a:pPr indent="0" marL="0">
              <a:buNone/>
            </a:pPr>
            <a:r>
              <a:rPr lang="en-US" sz="950" dirty="0">
                <a:solidFill>
                  <a:srgbClr val="F8FAFC"/>
                </a:solidFill>
              </a:rPr>
              <a:t>#7  Tensegrity-Topology Agent Network</a:t>
            </a:r>
            <a:endParaRPr lang="en-US" sz="950" dirty="0"/>
          </a:p>
        </p:txBody>
      </p:sp>
      <p:sp>
        <p:nvSpPr>
          <p:cNvPr id="39" name="Shape 37"/>
          <p:cNvSpPr/>
          <p:nvPr/>
        </p:nvSpPr>
        <p:spPr>
          <a:xfrm>
            <a:off x="3886200" y="2619756"/>
            <a:ext cx="1261872" cy="237744"/>
          </a:xfrm>
          <a:prstGeom prst="roundRect">
            <a:avLst>
              <a:gd name="adj" fmla="val 11538"/>
            </a:avLst>
          </a:prstGeom>
          <a:solidFill>
            <a:srgbClr val="064E3B"/>
          </a:solidFill>
          <a:ln w="6350">
            <a:solidFill>
              <a:srgbClr val="34D399"/>
            </a:solidFill>
            <a:prstDash val="solid"/>
          </a:ln>
        </p:spPr>
      </p:sp>
      <p:sp>
        <p:nvSpPr>
          <p:cNvPr id="40" name="Text 38"/>
          <p:cNvSpPr/>
          <p:nvPr/>
        </p:nvSpPr>
        <p:spPr>
          <a:xfrm>
            <a:off x="3886200" y="2619756"/>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78%</a:t>
            </a:r>
            <a:endParaRPr lang="en-US" sz="1200" dirty="0"/>
          </a:p>
        </p:txBody>
      </p:sp>
      <p:sp>
        <p:nvSpPr>
          <p:cNvPr id="41" name="Shape 39"/>
          <p:cNvSpPr/>
          <p:nvPr/>
        </p:nvSpPr>
        <p:spPr>
          <a:xfrm>
            <a:off x="5394960" y="2619756"/>
            <a:ext cx="1261872" cy="237744"/>
          </a:xfrm>
          <a:prstGeom prst="roundRect">
            <a:avLst>
              <a:gd name="adj" fmla="val 11538"/>
            </a:avLst>
          </a:prstGeom>
          <a:solidFill>
            <a:srgbClr val="064E3B"/>
          </a:solidFill>
          <a:ln w="6350">
            <a:solidFill>
              <a:srgbClr val="34D399"/>
            </a:solidFill>
            <a:prstDash val="solid"/>
          </a:ln>
        </p:spPr>
      </p:sp>
      <p:sp>
        <p:nvSpPr>
          <p:cNvPr id="42" name="Text 40"/>
          <p:cNvSpPr/>
          <p:nvPr/>
        </p:nvSpPr>
        <p:spPr>
          <a:xfrm>
            <a:off x="5394960" y="2619756"/>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12%</a:t>
            </a:r>
            <a:endParaRPr lang="en-US" sz="1200" dirty="0"/>
          </a:p>
        </p:txBody>
      </p:sp>
      <p:sp>
        <p:nvSpPr>
          <p:cNvPr id="43" name="Shape 41"/>
          <p:cNvSpPr/>
          <p:nvPr/>
        </p:nvSpPr>
        <p:spPr>
          <a:xfrm>
            <a:off x="6903720" y="2619756"/>
            <a:ext cx="1261872" cy="237744"/>
          </a:xfrm>
          <a:prstGeom prst="roundRect">
            <a:avLst>
              <a:gd name="adj" fmla="val 11538"/>
            </a:avLst>
          </a:prstGeom>
          <a:solidFill>
            <a:srgbClr val="2D1B69"/>
          </a:solidFill>
          <a:ln w="6350">
            <a:solidFill>
              <a:srgbClr val="A78BFA"/>
            </a:solidFill>
            <a:prstDash val="solid"/>
          </a:ln>
        </p:spPr>
      </p:sp>
      <p:sp>
        <p:nvSpPr>
          <p:cNvPr id="44" name="Text 42"/>
          <p:cNvSpPr/>
          <p:nvPr/>
        </p:nvSpPr>
        <p:spPr>
          <a:xfrm>
            <a:off x="6903720" y="2619756"/>
            <a:ext cx="1261872" cy="237744"/>
          </a:xfrm>
          <a:prstGeom prst="rect">
            <a:avLst/>
          </a:prstGeom>
          <a:noFill/>
          <a:ln/>
        </p:spPr>
        <p:txBody>
          <a:bodyPr wrap="square" lIns="0" tIns="0" rIns="0" bIns="0" rtlCol="0" anchor="ctr"/>
          <a:lstStyle/>
          <a:p>
            <a:pPr algn="ctr" indent="0" marL="0">
              <a:buNone/>
            </a:pPr>
            <a:r>
              <a:rPr lang="en-US" sz="1200" b="1" dirty="0">
                <a:solidFill>
                  <a:srgbClr val="A78BFA"/>
                </a:solidFill>
              </a:rPr>
              <a:t>88%</a:t>
            </a:r>
            <a:endParaRPr lang="en-US" sz="1200" dirty="0"/>
          </a:p>
        </p:txBody>
      </p:sp>
      <p:sp>
        <p:nvSpPr>
          <p:cNvPr id="45" name="Shape 43"/>
          <p:cNvSpPr/>
          <p:nvPr/>
        </p:nvSpPr>
        <p:spPr>
          <a:xfrm>
            <a:off x="365760" y="2916936"/>
            <a:ext cx="7863840" cy="310896"/>
          </a:xfrm>
          <a:prstGeom prst="roundRect">
            <a:avLst>
              <a:gd name="adj" fmla="val 11765"/>
            </a:avLst>
          </a:prstGeom>
          <a:solidFill>
            <a:srgbClr val="1A2235"/>
          </a:solidFill>
          <a:ln w="3810">
            <a:solidFill>
              <a:srgbClr val="2D3748"/>
            </a:solidFill>
            <a:prstDash val="solid"/>
          </a:ln>
        </p:spPr>
      </p:sp>
      <p:sp>
        <p:nvSpPr>
          <p:cNvPr id="46" name="Text 44"/>
          <p:cNvSpPr/>
          <p:nvPr/>
        </p:nvSpPr>
        <p:spPr>
          <a:xfrm>
            <a:off x="411480" y="2916936"/>
            <a:ext cx="3337560" cy="310896"/>
          </a:xfrm>
          <a:prstGeom prst="rect">
            <a:avLst/>
          </a:prstGeom>
          <a:noFill/>
          <a:ln/>
        </p:spPr>
        <p:txBody>
          <a:bodyPr wrap="square" lIns="0" tIns="50800" rIns="0" bIns="0" rtlCol="0" anchor="ctr"/>
          <a:lstStyle/>
          <a:p>
            <a:pPr indent="0" marL="0">
              <a:buNone/>
            </a:pPr>
            <a:r>
              <a:rPr lang="en-US" sz="950" dirty="0">
                <a:solidFill>
                  <a:srgbClr val="F8FAFC"/>
                </a:solidFill>
              </a:rPr>
              <a:t>#5  Ecological Succession Lifecycle Mgr</a:t>
            </a:r>
            <a:endParaRPr lang="en-US" sz="950" dirty="0"/>
          </a:p>
        </p:txBody>
      </p:sp>
      <p:sp>
        <p:nvSpPr>
          <p:cNvPr id="47" name="Shape 45"/>
          <p:cNvSpPr/>
          <p:nvPr/>
        </p:nvSpPr>
        <p:spPr>
          <a:xfrm>
            <a:off x="3886200" y="2953512"/>
            <a:ext cx="1261872" cy="237744"/>
          </a:xfrm>
          <a:prstGeom prst="roundRect">
            <a:avLst>
              <a:gd name="adj" fmla="val 11538"/>
            </a:avLst>
          </a:prstGeom>
          <a:solidFill>
            <a:srgbClr val="064E3B"/>
          </a:solidFill>
          <a:ln w="6350">
            <a:solidFill>
              <a:srgbClr val="34D399"/>
            </a:solidFill>
            <a:prstDash val="solid"/>
          </a:ln>
        </p:spPr>
      </p:sp>
      <p:sp>
        <p:nvSpPr>
          <p:cNvPr id="48" name="Text 46"/>
          <p:cNvSpPr/>
          <p:nvPr/>
        </p:nvSpPr>
        <p:spPr>
          <a:xfrm>
            <a:off x="3886200" y="2953512"/>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76%</a:t>
            </a:r>
            <a:endParaRPr lang="en-US" sz="1200" dirty="0"/>
          </a:p>
        </p:txBody>
      </p:sp>
      <p:sp>
        <p:nvSpPr>
          <p:cNvPr id="49" name="Shape 47"/>
          <p:cNvSpPr/>
          <p:nvPr/>
        </p:nvSpPr>
        <p:spPr>
          <a:xfrm>
            <a:off x="5394960" y="2953512"/>
            <a:ext cx="1261872" cy="237744"/>
          </a:xfrm>
          <a:prstGeom prst="roundRect">
            <a:avLst>
              <a:gd name="adj" fmla="val 11538"/>
            </a:avLst>
          </a:prstGeom>
          <a:solidFill>
            <a:srgbClr val="064E3B"/>
          </a:solidFill>
          <a:ln w="6350">
            <a:solidFill>
              <a:srgbClr val="34D399"/>
            </a:solidFill>
            <a:prstDash val="solid"/>
          </a:ln>
        </p:spPr>
      </p:sp>
      <p:sp>
        <p:nvSpPr>
          <p:cNvPr id="50" name="Text 48"/>
          <p:cNvSpPr/>
          <p:nvPr/>
        </p:nvSpPr>
        <p:spPr>
          <a:xfrm>
            <a:off x="5394960" y="2953512"/>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13%</a:t>
            </a:r>
            <a:endParaRPr lang="en-US" sz="1200" dirty="0"/>
          </a:p>
        </p:txBody>
      </p:sp>
      <p:sp>
        <p:nvSpPr>
          <p:cNvPr id="51" name="Shape 49"/>
          <p:cNvSpPr/>
          <p:nvPr/>
        </p:nvSpPr>
        <p:spPr>
          <a:xfrm>
            <a:off x="6903720" y="2953512"/>
            <a:ext cx="1261872" cy="237744"/>
          </a:xfrm>
          <a:prstGeom prst="roundRect">
            <a:avLst>
              <a:gd name="adj" fmla="val 11538"/>
            </a:avLst>
          </a:prstGeom>
          <a:solidFill>
            <a:srgbClr val="2D1B69"/>
          </a:solidFill>
          <a:ln w="6350">
            <a:solidFill>
              <a:srgbClr val="A78BFA"/>
            </a:solidFill>
            <a:prstDash val="solid"/>
          </a:ln>
        </p:spPr>
      </p:sp>
      <p:sp>
        <p:nvSpPr>
          <p:cNvPr id="52" name="Text 50"/>
          <p:cNvSpPr/>
          <p:nvPr/>
        </p:nvSpPr>
        <p:spPr>
          <a:xfrm>
            <a:off x="6903720" y="2953512"/>
            <a:ext cx="1261872" cy="237744"/>
          </a:xfrm>
          <a:prstGeom prst="rect">
            <a:avLst/>
          </a:prstGeom>
          <a:noFill/>
          <a:ln/>
        </p:spPr>
        <p:txBody>
          <a:bodyPr wrap="square" lIns="0" tIns="0" rIns="0" bIns="0" rtlCol="0" anchor="ctr"/>
          <a:lstStyle/>
          <a:p>
            <a:pPr algn="ctr" indent="0" marL="0">
              <a:buNone/>
            </a:pPr>
            <a:r>
              <a:rPr lang="en-US" sz="1200" b="1" dirty="0">
                <a:solidFill>
                  <a:srgbClr val="A78BFA"/>
                </a:solidFill>
              </a:rPr>
              <a:t>87%</a:t>
            </a:r>
            <a:endParaRPr lang="en-US" sz="1200" dirty="0"/>
          </a:p>
        </p:txBody>
      </p:sp>
      <p:sp>
        <p:nvSpPr>
          <p:cNvPr id="53" name="Shape 51"/>
          <p:cNvSpPr/>
          <p:nvPr/>
        </p:nvSpPr>
        <p:spPr>
          <a:xfrm>
            <a:off x="365760" y="3250692"/>
            <a:ext cx="7863840" cy="310896"/>
          </a:xfrm>
          <a:prstGeom prst="roundRect">
            <a:avLst>
              <a:gd name="adj" fmla="val 11765"/>
            </a:avLst>
          </a:prstGeom>
          <a:solidFill>
            <a:srgbClr val="111827"/>
          </a:solidFill>
          <a:ln w="3810">
            <a:solidFill>
              <a:srgbClr val="2D3748"/>
            </a:solidFill>
            <a:prstDash val="solid"/>
          </a:ln>
        </p:spPr>
      </p:sp>
      <p:sp>
        <p:nvSpPr>
          <p:cNvPr id="54" name="Text 52"/>
          <p:cNvSpPr/>
          <p:nvPr/>
        </p:nvSpPr>
        <p:spPr>
          <a:xfrm>
            <a:off x="411480" y="3250692"/>
            <a:ext cx="3337560" cy="310896"/>
          </a:xfrm>
          <a:prstGeom prst="rect">
            <a:avLst/>
          </a:prstGeom>
          <a:noFill/>
          <a:ln/>
        </p:spPr>
        <p:txBody>
          <a:bodyPr wrap="square" lIns="0" tIns="50800" rIns="0" bIns="0" rtlCol="0" anchor="ctr"/>
          <a:lstStyle/>
          <a:p>
            <a:pPr indent="0" marL="0">
              <a:buNone/>
            </a:pPr>
            <a:r>
              <a:rPr lang="en-US" sz="950" dirty="0">
                <a:solidFill>
                  <a:srgbClr val="F8FAFC"/>
                </a:solidFill>
              </a:rPr>
              <a:t>#9  Immune System Threat Detection</a:t>
            </a:r>
            <a:endParaRPr lang="en-US" sz="950" dirty="0"/>
          </a:p>
        </p:txBody>
      </p:sp>
      <p:sp>
        <p:nvSpPr>
          <p:cNvPr id="55" name="Shape 53"/>
          <p:cNvSpPr/>
          <p:nvPr/>
        </p:nvSpPr>
        <p:spPr>
          <a:xfrm>
            <a:off x="3886200" y="3287268"/>
            <a:ext cx="1261872" cy="237744"/>
          </a:xfrm>
          <a:prstGeom prst="roundRect">
            <a:avLst>
              <a:gd name="adj" fmla="val 11538"/>
            </a:avLst>
          </a:prstGeom>
          <a:solidFill>
            <a:srgbClr val="064E3B"/>
          </a:solidFill>
          <a:ln w="6350">
            <a:solidFill>
              <a:srgbClr val="34D399"/>
            </a:solidFill>
            <a:prstDash val="solid"/>
          </a:ln>
        </p:spPr>
      </p:sp>
      <p:sp>
        <p:nvSpPr>
          <p:cNvPr id="56" name="Text 54"/>
          <p:cNvSpPr/>
          <p:nvPr/>
        </p:nvSpPr>
        <p:spPr>
          <a:xfrm>
            <a:off x="3886200" y="3287268"/>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75%</a:t>
            </a:r>
            <a:endParaRPr lang="en-US" sz="1200" dirty="0"/>
          </a:p>
        </p:txBody>
      </p:sp>
      <p:sp>
        <p:nvSpPr>
          <p:cNvPr id="57" name="Shape 55"/>
          <p:cNvSpPr/>
          <p:nvPr/>
        </p:nvSpPr>
        <p:spPr>
          <a:xfrm>
            <a:off x="5394960" y="3287268"/>
            <a:ext cx="1261872" cy="237744"/>
          </a:xfrm>
          <a:prstGeom prst="roundRect">
            <a:avLst>
              <a:gd name="adj" fmla="val 11538"/>
            </a:avLst>
          </a:prstGeom>
          <a:solidFill>
            <a:srgbClr val="064E3B"/>
          </a:solidFill>
          <a:ln w="6350">
            <a:solidFill>
              <a:srgbClr val="34D399"/>
            </a:solidFill>
            <a:prstDash val="solid"/>
          </a:ln>
        </p:spPr>
      </p:sp>
      <p:sp>
        <p:nvSpPr>
          <p:cNvPr id="58" name="Text 56"/>
          <p:cNvSpPr/>
          <p:nvPr/>
        </p:nvSpPr>
        <p:spPr>
          <a:xfrm>
            <a:off x="5394960" y="3287268"/>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15%</a:t>
            </a:r>
            <a:endParaRPr lang="en-US" sz="1200" dirty="0"/>
          </a:p>
        </p:txBody>
      </p:sp>
      <p:sp>
        <p:nvSpPr>
          <p:cNvPr id="59" name="Shape 57"/>
          <p:cNvSpPr/>
          <p:nvPr/>
        </p:nvSpPr>
        <p:spPr>
          <a:xfrm>
            <a:off x="6903720" y="3287268"/>
            <a:ext cx="1261872" cy="237744"/>
          </a:xfrm>
          <a:prstGeom prst="roundRect">
            <a:avLst>
              <a:gd name="adj" fmla="val 11538"/>
            </a:avLst>
          </a:prstGeom>
          <a:solidFill>
            <a:srgbClr val="2D1B69"/>
          </a:solidFill>
          <a:ln w="6350">
            <a:solidFill>
              <a:srgbClr val="A78BFA"/>
            </a:solidFill>
            <a:prstDash val="solid"/>
          </a:ln>
        </p:spPr>
      </p:sp>
      <p:sp>
        <p:nvSpPr>
          <p:cNvPr id="60" name="Text 58"/>
          <p:cNvSpPr/>
          <p:nvPr/>
        </p:nvSpPr>
        <p:spPr>
          <a:xfrm>
            <a:off x="6903720" y="3287268"/>
            <a:ext cx="1261872" cy="237744"/>
          </a:xfrm>
          <a:prstGeom prst="rect">
            <a:avLst/>
          </a:prstGeom>
          <a:noFill/>
          <a:ln/>
        </p:spPr>
        <p:txBody>
          <a:bodyPr wrap="square" lIns="0" tIns="0" rIns="0" bIns="0" rtlCol="0" anchor="ctr"/>
          <a:lstStyle/>
          <a:p>
            <a:pPr algn="ctr" indent="0" marL="0">
              <a:buNone/>
            </a:pPr>
            <a:r>
              <a:rPr lang="en-US" sz="1200" b="1" dirty="0">
                <a:solidFill>
                  <a:srgbClr val="A78BFA"/>
                </a:solidFill>
              </a:rPr>
              <a:t>85%</a:t>
            </a:r>
            <a:endParaRPr lang="en-US" sz="1200" dirty="0"/>
          </a:p>
        </p:txBody>
      </p:sp>
      <p:sp>
        <p:nvSpPr>
          <p:cNvPr id="61" name="Shape 59"/>
          <p:cNvSpPr/>
          <p:nvPr/>
        </p:nvSpPr>
        <p:spPr>
          <a:xfrm>
            <a:off x="365760" y="3584448"/>
            <a:ext cx="7863840" cy="310896"/>
          </a:xfrm>
          <a:prstGeom prst="roundRect">
            <a:avLst>
              <a:gd name="adj" fmla="val 11765"/>
            </a:avLst>
          </a:prstGeom>
          <a:solidFill>
            <a:srgbClr val="1A2235"/>
          </a:solidFill>
          <a:ln w="3810">
            <a:solidFill>
              <a:srgbClr val="2D3748"/>
            </a:solidFill>
            <a:prstDash val="solid"/>
          </a:ln>
        </p:spPr>
      </p:sp>
      <p:sp>
        <p:nvSpPr>
          <p:cNvPr id="62" name="Text 60"/>
          <p:cNvSpPr/>
          <p:nvPr/>
        </p:nvSpPr>
        <p:spPr>
          <a:xfrm>
            <a:off x="411480" y="3584448"/>
            <a:ext cx="3337560" cy="310896"/>
          </a:xfrm>
          <a:prstGeom prst="rect">
            <a:avLst/>
          </a:prstGeom>
          <a:noFill/>
          <a:ln/>
        </p:spPr>
        <p:txBody>
          <a:bodyPr wrap="square" lIns="0" tIns="50800" rIns="0" bIns="0" rtlCol="0" anchor="ctr"/>
          <a:lstStyle/>
          <a:p>
            <a:pPr indent="0" marL="0">
              <a:buNone/>
            </a:pPr>
            <a:r>
              <a:rPr lang="en-US" sz="950" dirty="0">
                <a:solidFill>
                  <a:srgbClr val="F8FAFC"/>
                </a:solidFill>
              </a:rPr>
              <a:t>#2  Stigmergic Pheromone Coordination</a:t>
            </a:r>
            <a:endParaRPr lang="en-US" sz="950" dirty="0"/>
          </a:p>
        </p:txBody>
      </p:sp>
      <p:sp>
        <p:nvSpPr>
          <p:cNvPr id="63" name="Shape 61"/>
          <p:cNvSpPr/>
          <p:nvPr/>
        </p:nvSpPr>
        <p:spPr>
          <a:xfrm>
            <a:off x="3886200" y="3621024"/>
            <a:ext cx="1261872" cy="237744"/>
          </a:xfrm>
          <a:prstGeom prst="roundRect">
            <a:avLst>
              <a:gd name="adj" fmla="val 11538"/>
            </a:avLst>
          </a:prstGeom>
          <a:solidFill>
            <a:srgbClr val="064E3B"/>
          </a:solidFill>
          <a:ln w="6350">
            <a:solidFill>
              <a:srgbClr val="34D399"/>
            </a:solidFill>
            <a:prstDash val="solid"/>
          </a:ln>
        </p:spPr>
      </p:sp>
      <p:sp>
        <p:nvSpPr>
          <p:cNvPr id="64" name="Text 62"/>
          <p:cNvSpPr/>
          <p:nvPr/>
        </p:nvSpPr>
        <p:spPr>
          <a:xfrm>
            <a:off x="3886200" y="3621024"/>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74%</a:t>
            </a:r>
            <a:endParaRPr lang="en-US" sz="1200" dirty="0"/>
          </a:p>
        </p:txBody>
      </p:sp>
      <p:sp>
        <p:nvSpPr>
          <p:cNvPr id="65" name="Shape 63"/>
          <p:cNvSpPr/>
          <p:nvPr/>
        </p:nvSpPr>
        <p:spPr>
          <a:xfrm>
            <a:off x="5394960" y="3621024"/>
            <a:ext cx="1261872" cy="237744"/>
          </a:xfrm>
          <a:prstGeom prst="roundRect">
            <a:avLst>
              <a:gd name="adj" fmla="val 11538"/>
            </a:avLst>
          </a:prstGeom>
          <a:solidFill>
            <a:srgbClr val="064E3B"/>
          </a:solidFill>
          <a:ln w="6350">
            <a:solidFill>
              <a:srgbClr val="34D399"/>
            </a:solidFill>
            <a:prstDash val="solid"/>
          </a:ln>
        </p:spPr>
      </p:sp>
      <p:sp>
        <p:nvSpPr>
          <p:cNvPr id="66" name="Text 64"/>
          <p:cNvSpPr/>
          <p:nvPr/>
        </p:nvSpPr>
        <p:spPr>
          <a:xfrm>
            <a:off x="5394960" y="3621024"/>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16%</a:t>
            </a:r>
            <a:endParaRPr lang="en-US" sz="1200" dirty="0"/>
          </a:p>
        </p:txBody>
      </p:sp>
      <p:sp>
        <p:nvSpPr>
          <p:cNvPr id="67" name="Shape 65"/>
          <p:cNvSpPr/>
          <p:nvPr/>
        </p:nvSpPr>
        <p:spPr>
          <a:xfrm>
            <a:off x="6903720" y="3621024"/>
            <a:ext cx="1261872" cy="237744"/>
          </a:xfrm>
          <a:prstGeom prst="roundRect">
            <a:avLst>
              <a:gd name="adj" fmla="val 11538"/>
            </a:avLst>
          </a:prstGeom>
          <a:solidFill>
            <a:srgbClr val="2D1B69"/>
          </a:solidFill>
          <a:ln w="6350">
            <a:solidFill>
              <a:srgbClr val="A78BFA"/>
            </a:solidFill>
            <a:prstDash val="solid"/>
          </a:ln>
        </p:spPr>
      </p:sp>
      <p:sp>
        <p:nvSpPr>
          <p:cNvPr id="68" name="Text 66"/>
          <p:cNvSpPr/>
          <p:nvPr/>
        </p:nvSpPr>
        <p:spPr>
          <a:xfrm>
            <a:off x="6903720" y="3621024"/>
            <a:ext cx="1261872" cy="237744"/>
          </a:xfrm>
          <a:prstGeom prst="rect">
            <a:avLst/>
          </a:prstGeom>
          <a:noFill/>
          <a:ln/>
        </p:spPr>
        <p:txBody>
          <a:bodyPr wrap="square" lIns="0" tIns="0" rIns="0" bIns="0" rtlCol="0" anchor="ctr"/>
          <a:lstStyle/>
          <a:p>
            <a:pPr algn="ctr" indent="0" marL="0">
              <a:buNone/>
            </a:pPr>
            <a:r>
              <a:rPr lang="en-US" sz="1200" b="1" dirty="0">
                <a:solidFill>
                  <a:srgbClr val="A78BFA"/>
                </a:solidFill>
              </a:rPr>
              <a:t>84%</a:t>
            </a:r>
            <a:endParaRPr lang="en-US" sz="1200" dirty="0"/>
          </a:p>
        </p:txBody>
      </p:sp>
      <p:sp>
        <p:nvSpPr>
          <p:cNvPr id="69" name="Shape 67"/>
          <p:cNvSpPr/>
          <p:nvPr/>
        </p:nvSpPr>
        <p:spPr>
          <a:xfrm>
            <a:off x="365760" y="3918204"/>
            <a:ext cx="7863840" cy="310896"/>
          </a:xfrm>
          <a:prstGeom prst="roundRect">
            <a:avLst>
              <a:gd name="adj" fmla="val 11765"/>
            </a:avLst>
          </a:prstGeom>
          <a:solidFill>
            <a:srgbClr val="111827"/>
          </a:solidFill>
          <a:ln w="3810">
            <a:solidFill>
              <a:srgbClr val="2D3748"/>
            </a:solidFill>
            <a:prstDash val="solid"/>
          </a:ln>
        </p:spPr>
      </p:sp>
      <p:sp>
        <p:nvSpPr>
          <p:cNvPr id="70" name="Text 68"/>
          <p:cNvSpPr/>
          <p:nvPr/>
        </p:nvSpPr>
        <p:spPr>
          <a:xfrm>
            <a:off x="411480" y="3918204"/>
            <a:ext cx="3337560" cy="310896"/>
          </a:xfrm>
          <a:prstGeom prst="rect">
            <a:avLst/>
          </a:prstGeom>
          <a:noFill/>
          <a:ln/>
        </p:spPr>
        <p:txBody>
          <a:bodyPr wrap="square" lIns="0" tIns="50800" rIns="0" bIns="0" rtlCol="0" anchor="ctr"/>
          <a:lstStyle/>
          <a:p>
            <a:pPr indent="0" marL="0">
              <a:buNone/>
            </a:pPr>
            <a:r>
              <a:rPr lang="en-US" sz="950" dirty="0">
                <a:solidFill>
                  <a:srgbClr val="F8FAFC"/>
                </a:solidFill>
              </a:rPr>
              <a:t>#1  Homeostatic Meta-Learning Orchestrator</a:t>
            </a:r>
            <a:endParaRPr lang="en-US" sz="950" dirty="0"/>
          </a:p>
        </p:txBody>
      </p:sp>
      <p:sp>
        <p:nvSpPr>
          <p:cNvPr id="71" name="Shape 69"/>
          <p:cNvSpPr/>
          <p:nvPr/>
        </p:nvSpPr>
        <p:spPr>
          <a:xfrm>
            <a:off x="3886200" y="3954780"/>
            <a:ext cx="1261872" cy="237744"/>
          </a:xfrm>
          <a:prstGeom prst="roundRect">
            <a:avLst>
              <a:gd name="adj" fmla="val 11538"/>
            </a:avLst>
          </a:prstGeom>
          <a:solidFill>
            <a:srgbClr val="064E3B"/>
          </a:solidFill>
          <a:ln w="6350">
            <a:solidFill>
              <a:srgbClr val="34D399"/>
            </a:solidFill>
            <a:prstDash val="solid"/>
          </a:ln>
        </p:spPr>
      </p:sp>
      <p:sp>
        <p:nvSpPr>
          <p:cNvPr id="72" name="Text 70"/>
          <p:cNvSpPr/>
          <p:nvPr/>
        </p:nvSpPr>
        <p:spPr>
          <a:xfrm>
            <a:off x="3886200" y="3954780"/>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77%</a:t>
            </a:r>
            <a:endParaRPr lang="en-US" sz="1200" dirty="0"/>
          </a:p>
        </p:txBody>
      </p:sp>
      <p:sp>
        <p:nvSpPr>
          <p:cNvPr id="73" name="Shape 71"/>
          <p:cNvSpPr/>
          <p:nvPr/>
        </p:nvSpPr>
        <p:spPr>
          <a:xfrm>
            <a:off x="5394960" y="3954780"/>
            <a:ext cx="1261872" cy="237744"/>
          </a:xfrm>
          <a:prstGeom prst="roundRect">
            <a:avLst>
              <a:gd name="adj" fmla="val 11538"/>
            </a:avLst>
          </a:prstGeom>
          <a:solidFill>
            <a:srgbClr val="064E3B"/>
          </a:solidFill>
          <a:ln w="6350">
            <a:solidFill>
              <a:srgbClr val="34D399"/>
            </a:solidFill>
            <a:prstDash val="solid"/>
          </a:ln>
        </p:spPr>
      </p:sp>
      <p:sp>
        <p:nvSpPr>
          <p:cNvPr id="74" name="Text 72"/>
          <p:cNvSpPr/>
          <p:nvPr/>
        </p:nvSpPr>
        <p:spPr>
          <a:xfrm>
            <a:off x="5394960" y="3954780"/>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14%</a:t>
            </a:r>
            <a:endParaRPr lang="en-US" sz="1200" dirty="0"/>
          </a:p>
        </p:txBody>
      </p:sp>
      <p:sp>
        <p:nvSpPr>
          <p:cNvPr id="75" name="Shape 73"/>
          <p:cNvSpPr/>
          <p:nvPr/>
        </p:nvSpPr>
        <p:spPr>
          <a:xfrm>
            <a:off x="6903720" y="3954780"/>
            <a:ext cx="1261872" cy="237744"/>
          </a:xfrm>
          <a:prstGeom prst="roundRect">
            <a:avLst>
              <a:gd name="adj" fmla="val 11538"/>
            </a:avLst>
          </a:prstGeom>
          <a:solidFill>
            <a:srgbClr val="2D1B69"/>
          </a:solidFill>
          <a:ln w="6350">
            <a:solidFill>
              <a:srgbClr val="A78BFA"/>
            </a:solidFill>
            <a:prstDash val="solid"/>
          </a:ln>
        </p:spPr>
      </p:sp>
      <p:sp>
        <p:nvSpPr>
          <p:cNvPr id="76" name="Text 74"/>
          <p:cNvSpPr/>
          <p:nvPr/>
        </p:nvSpPr>
        <p:spPr>
          <a:xfrm>
            <a:off x="6903720" y="3954780"/>
            <a:ext cx="1261872" cy="237744"/>
          </a:xfrm>
          <a:prstGeom prst="rect">
            <a:avLst/>
          </a:prstGeom>
          <a:noFill/>
          <a:ln/>
        </p:spPr>
        <p:txBody>
          <a:bodyPr wrap="square" lIns="0" tIns="0" rIns="0" bIns="0" rtlCol="0" anchor="ctr"/>
          <a:lstStyle/>
          <a:p>
            <a:pPr algn="ctr" indent="0" marL="0">
              <a:buNone/>
            </a:pPr>
            <a:r>
              <a:rPr lang="en-US" sz="1200" b="1" dirty="0">
                <a:solidFill>
                  <a:srgbClr val="A78BFA"/>
                </a:solidFill>
              </a:rPr>
              <a:t>86%</a:t>
            </a:r>
            <a:endParaRPr lang="en-US" sz="1200" dirty="0"/>
          </a:p>
        </p:txBody>
      </p:sp>
      <p:sp>
        <p:nvSpPr>
          <p:cNvPr id="77" name="Shape 75"/>
          <p:cNvSpPr/>
          <p:nvPr/>
        </p:nvSpPr>
        <p:spPr>
          <a:xfrm>
            <a:off x="365760" y="4251960"/>
            <a:ext cx="7863840" cy="310896"/>
          </a:xfrm>
          <a:prstGeom prst="roundRect">
            <a:avLst>
              <a:gd name="adj" fmla="val 11765"/>
            </a:avLst>
          </a:prstGeom>
          <a:solidFill>
            <a:srgbClr val="1A2235"/>
          </a:solidFill>
          <a:ln w="3810">
            <a:solidFill>
              <a:srgbClr val="2D3748"/>
            </a:solidFill>
            <a:prstDash val="solid"/>
          </a:ln>
        </p:spPr>
      </p:sp>
      <p:sp>
        <p:nvSpPr>
          <p:cNvPr id="78" name="Text 76"/>
          <p:cNvSpPr/>
          <p:nvPr/>
        </p:nvSpPr>
        <p:spPr>
          <a:xfrm>
            <a:off x="411480" y="4251960"/>
            <a:ext cx="3337560" cy="310896"/>
          </a:xfrm>
          <a:prstGeom prst="rect">
            <a:avLst/>
          </a:prstGeom>
          <a:noFill/>
          <a:ln/>
        </p:spPr>
        <p:txBody>
          <a:bodyPr wrap="square" lIns="0" tIns="50800" rIns="0" bIns="0" rtlCol="0" anchor="ctr"/>
          <a:lstStyle/>
          <a:p>
            <a:pPr indent="0" marL="0">
              <a:buNone/>
            </a:pPr>
            <a:r>
              <a:rPr lang="en-US" sz="950" dirty="0">
                <a:solidFill>
                  <a:srgbClr val="F8FAFC"/>
                </a:solidFill>
              </a:rPr>
              <a:t>#8  Phase-Transition Crystallisation Planner</a:t>
            </a:r>
            <a:endParaRPr lang="en-US" sz="950" dirty="0"/>
          </a:p>
        </p:txBody>
      </p:sp>
      <p:sp>
        <p:nvSpPr>
          <p:cNvPr id="79" name="Shape 77"/>
          <p:cNvSpPr/>
          <p:nvPr/>
        </p:nvSpPr>
        <p:spPr>
          <a:xfrm>
            <a:off x="3886200" y="4288536"/>
            <a:ext cx="1261872" cy="237744"/>
          </a:xfrm>
          <a:prstGeom prst="roundRect">
            <a:avLst>
              <a:gd name="adj" fmla="val 11538"/>
            </a:avLst>
          </a:prstGeom>
          <a:solidFill>
            <a:srgbClr val="064E3B"/>
          </a:solidFill>
          <a:ln w="6350">
            <a:solidFill>
              <a:srgbClr val="34D399"/>
            </a:solidFill>
            <a:prstDash val="solid"/>
          </a:ln>
        </p:spPr>
      </p:sp>
      <p:sp>
        <p:nvSpPr>
          <p:cNvPr id="80" name="Text 78"/>
          <p:cNvSpPr/>
          <p:nvPr/>
        </p:nvSpPr>
        <p:spPr>
          <a:xfrm>
            <a:off x="3886200" y="4288536"/>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73%</a:t>
            </a:r>
            <a:endParaRPr lang="en-US" sz="1200" dirty="0"/>
          </a:p>
        </p:txBody>
      </p:sp>
      <p:sp>
        <p:nvSpPr>
          <p:cNvPr id="81" name="Shape 79"/>
          <p:cNvSpPr/>
          <p:nvPr/>
        </p:nvSpPr>
        <p:spPr>
          <a:xfrm>
            <a:off x="5394960" y="4288536"/>
            <a:ext cx="1261872" cy="237744"/>
          </a:xfrm>
          <a:prstGeom prst="roundRect">
            <a:avLst>
              <a:gd name="adj" fmla="val 11538"/>
            </a:avLst>
          </a:prstGeom>
          <a:solidFill>
            <a:srgbClr val="064E3B"/>
          </a:solidFill>
          <a:ln w="6350">
            <a:solidFill>
              <a:srgbClr val="34D399"/>
            </a:solidFill>
            <a:prstDash val="solid"/>
          </a:ln>
        </p:spPr>
      </p:sp>
      <p:sp>
        <p:nvSpPr>
          <p:cNvPr id="82" name="Text 80"/>
          <p:cNvSpPr/>
          <p:nvPr/>
        </p:nvSpPr>
        <p:spPr>
          <a:xfrm>
            <a:off x="5394960" y="4288536"/>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17%</a:t>
            </a:r>
            <a:endParaRPr lang="en-US" sz="1200" dirty="0"/>
          </a:p>
        </p:txBody>
      </p:sp>
      <p:sp>
        <p:nvSpPr>
          <p:cNvPr id="83" name="Shape 81"/>
          <p:cNvSpPr/>
          <p:nvPr/>
        </p:nvSpPr>
        <p:spPr>
          <a:xfrm>
            <a:off x="6903720" y="4288536"/>
            <a:ext cx="1261872" cy="237744"/>
          </a:xfrm>
          <a:prstGeom prst="roundRect">
            <a:avLst>
              <a:gd name="adj" fmla="val 11538"/>
            </a:avLst>
          </a:prstGeom>
          <a:solidFill>
            <a:srgbClr val="2D1B69"/>
          </a:solidFill>
          <a:ln w="6350">
            <a:solidFill>
              <a:srgbClr val="A78BFA"/>
            </a:solidFill>
            <a:prstDash val="solid"/>
          </a:ln>
        </p:spPr>
      </p:sp>
      <p:sp>
        <p:nvSpPr>
          <p:cNvPr id="84" name="Text 82"/>
          <p:cNvSpPr/>
          <p:nvPr/>
        </p:nvSpPr>
        <p:spPr>
          <a:xfrm>
            <a:off x="6903720" y="4288536"/>
            <a:ext cx="1261872" cy="237744"/>
          </a:xfrm>
          <a:prstGeom prst="rect">
            <a:avLst/>
          </a:prstGeom>
          <a:noFill/>
          <a:ln/>
        </p:spPr>
        <p:txBody>
          <a:bodyPr wrap="square" lIns="0" tIns="0" rIns="0" bIns="0" rtlCol="0" anchor="ctr"/>
          <a:lstStyle/>
          <a:p>
            <a:pPr algn="ctr" indent="0" marL="0">
              <a:buNone/>
            </a:pPr>
            <a:r>
              <a:rPr lang="en-US" sz="1200" b="1" dirty="0">
                <a:solidFill>
                  <a:srgbClr val="A78BFA"/>
                </a:solidFill>
              </a:rPr>
              <a:t>83%</a:t>
            </a:r>
            <a:endParaRPr lang="en-US" sz="1200" dirty="0"/>
          </a:p>
        </p:txBody>
      </p:sp>
      <p:sp>
        <p:nvSpPr>
          <p:cNvPr id="85" name="Shape 83"/>
          <p:cNvSpPr/>
          <p:nvPr/>
        </p:nvSpPr>
        <p:spPr>
          <a:xfrm>
            <a:off x="365760" y="4585716"/>
            <a:ext cx="7863840" cy="310896"/>
          </a:xfrm>
          <a:prstGeom prst="roundRect">
            <a:avLst>
              <a:gd name="adj" fmla="val 11765"/>
            </a:avLst>
          </a:prstGeom>
          <a:solidFill>
            <a:srgbClr val="111827"/>
          </a:solidFill>
          <a:ln w="3810">
            <a:solidFill>
              <a:srgbClr val="2D3748"/>
            </a:solidFill>
            <a:prstDash val="solid"/>
          </a:ln>
        </p:spPr>
      </p:sp>
      <p:sp>
        <p:nvSpPr>
          <p:cNvPr id="86" name="Text 84"/>
          <p:cNvSpPr/>
          <p:nvPr/>
        </p:nvSpPr>
        <p:spPr>
          <a:xfrm>
            <a:off x="411480" y="4585716"/>
            <a:ext cx="3337560" cy="310896"/>
          </a:xfrm>
          <a:prstGeom prst="rect">
            <a:avLst/>
          </a:prstGeom>
          <a:noFill/>
          <a:ln/>
        </p:spPr>
        <p:txBody>
          <a:bodyPr wrap="square" lIns="0" tIns="50800" rIns="0" bIns="0" rtlCol="0" anchor="ctr"/>
          <a:lstStyle/>
          <a:p>
            <a:pPr indent="0" marL="0">
              <a:buNone/>
            </a:pPr>
            <a:r>
              <a:rPr lang="en-US" sz="950" dirty="0">
                <a:solidFill>
                  <a:srgbClr val="F8FAFC"/>
                </a:solidFill>
              </a:rPr>
              <a:t>#10 Quantum Game Theory Nash Planner</a:t>
            </a:r>
            <a:endParaRPr lang="en-US" sz="950" dirty="0"/>
          </a:p>
        </p:txBody>
      </p:sp>
      <p:sp>
        <p:nvSpPr>
          <p:cNvPr id="87" name="Shape 85"/>
          <p:cNvSpPr/>
          <p:nvPr/>
        </p:nvSpPr>
        <p:spPr>
          <a:xfrm>
            <a:off x="3886200" y="4622292"/>
            <a:ext cx="1261872" cy="237744"/>
          </a:xfrm>
          <a:prstGeom prst="roundRect">
            <a:avLst>
              <a:gd name="adj" fmla="val 11538"/>
            </a:avLst>
          </a:prstGeom>
          <a:solidFill>
            <a:srgbClr val="064E3B"/>
          </a:solidFill>
          <a:ln w="6350">
            <a:solidFill>
              <a:srgbClr val="34D399"/>
            </a:solidFill>
            <a:prstDash val="solid"/>
          </a:ln>
        </p:spPr>
      </p:sp>
      <p:sp>
        <p:nvSpPr>
          <p:cNvPr id="88" name="Text 86"/>
          <p:cNvSpPr/>
          <p:nvPr/>
        </p:nvSpPr>
        <p:spPr>
          <a:xfrm>
            <a:off x="3886200" y="4622292"/>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69%</a:t>
            </a:r>
            <a:endParaRPr lang="en-US" sz="1200" dirty="0"/>
          </a:p>
        </p:txBody>
      </p:sp>
      <p:sp>
        <p:nvSpPr>
          <p:cNvPr id="89" name="Shape 87"/>
          <p:cNvSpPr/>
          <p:nvPr/>
        </p:nvSpPr>
        <p:spPr>
          <a:xfrm>
            <a:off x="5394960" y="4622292"/>
            <a:ext cx="1261872" cy="237744"/>
          </a:xfrm>
          <a:prstGeom prst="roundRect">
            <a:avLst>
              <a:gd name="adj" fmla="val 11538"/>
            </a:avLst>
          </a:prstGeom>
          <a:solidFill>
            <a:srgbClr val="064E3B"/>
          </a:solidFill>
          <a:ln w="6350">
            <a:solidFill>
              <a:srgbClr val="34D399"/>
            </a:solidFill>
            <a:prstDash val="solid"/>
          </a:ln>
        </p:spPr>
      </p:sp>
      <p:sp>
        <p:nvSpPr>
          <p:cNvPr id="90" name="Text 88"/>
          <p:cNvSpPr/>
          <p:nvPr/>
        </p:nvSpPr>
        <p:spPr>
          <a:xfrm>
            <a:off x="5394960" y="4622292"/>
            <a:ext cx="1261872" cy="237744"/>
          </a:xfrm>
          <a:prstGeom prst="rect">
            <a:avLst/>
          </a:prstGeom>
          <a:noFill/>
          <a:ln/>
        </p:spPr>
        <p:txBody>
          <a:bodyPr wrap="square" lIns="0" tIns="0" rIns="0" bIns="0" rtlCol="0" anchor="ctr"/>
          <a:lstStyle/>
          <a:p>
            <a:pPr algn="ctr" indent="0" marL="0">
              <a:buNone/>
            </a:pPr>
            <a:r>
              <a:rPr lang="en-US" sz="1200" b="1" dirty="0">
                <a:solidFill>
                  <a:srgbClr val="34D399"/>
                </a:solidFill>
              </a:rPr>
              <a:t>21%</a:t>
            </a:r>
            <a:endParaRPr lang="en-US" sz="1200" dirty="0"/>
          </a:p>
        </p:txBody>
      </p:sp>
      <p:sp>
        <p:nvSpPr>
          <p:cNvPr id="91" name="Shape 89"/>
          <p:cNvSpPr/>
          <p:nvPr/>
        </p:nvSpPr>
        <p:spPr>
          <a:xfrm>
            <a:off x="6903720" y="4622292"/>
            <a:ext cx="1261872" cy="237744"/>
          </a:xfrm>
          <a:prstGeom prst="roundRect">
            <a:avLst>
              <a:gd name="adj" fmla="val 11538"/>
            </a:avLst>
          </a:prstGeom>
          <a:solidFill>
            <a:srgbClr val="2D1B69"/>
          </a:solidFill>
          <a:ln w="6350">
            <a:solidFill>
              <a:srgbClr val="A78BFA"/>
            </a:solidFill>
            <a:prstDash val="solid"/>
          </a:ln>
        </p:spPr>
      </p:sp>
      <p:sp>
        <p:nvSpPr>
          <p:cNvPr id="92" name="Text 90"/>
          <p:cNvSpPr/>
          <p:nvPr/>
        </p:nvSpPr>
        <p:spPr>
          <a:xfrm>
            <a:off x="6903720" y="4622292"/>
            <a:ext cx="1261872" cy="237744"/>
          </a:xfrm>
          <a:prstGeom prst="rect">
            <a:avLst/>
          </a:prstGeom>
          <a:noFill/>
          <a:ln/>
        </p:spPr>
        <p:txBody>
          <a:bodyPr wrap="square" lIns="0" tIns="0" rIns="0" bIns="0" rtlCol="0" anchor="ctr"/>
          <a:lstStyle/>
          <a:p>
            <a:pPr algn="ctr" indent="0" marL="0">
              <a:buNone/>
            </a:pPr>
            <a:r>
              <a:rPr lang="en-US" sz="1200" b="1" dirty="0">
                <a:solidFill>
                  <a:srgbClr val="A78BFA"/>
                </a:solidFill>
              </a:rPr>
              <a:t>79%</a:t>
            </a:r>
            <a:endParaRPr lang="en-US" sz="1200" dirty="0"/>
          </a:p>
        </p:txBody>
      </p:sp>
      <p:sp>
        <p:nvSpPr>
          <p:cNvPr id="93" name="Text 91"/>
          <p:cNvSpPr/>
          <p:nvPr/>
        </p:nvSpPr>
        <p:spPr>
          <a:xfrm>
            <a:off x="365760" y="4956048"/>
            <a:ext cx="8412480" cy="182880"/>
          </a:xfrm>
          <a:prstGeom prst="rect">
            <a:avLst/>
          </a:prstGeom>
          <a:noFill/>
          <a:ln/>
        </p:spPr>
        <p:txBody>
          <a:bodyPr wrap="square" lIns="0" tIns="0" rIns="0" bIns="0" rtlCol="0" anchor="ctr"/>
          <a:lstStyle/>
          <a:p>
            <a:pPr indent="0" marL="0">
              <a:buNone/>
            </a:pPr>
            <a:r>
              <a:rPr lang="en-US" sz="750" dirty="0">
                <a:solidFill>
                  <a:srgbClr val="94A3B8"/>
                </a:solidFill>
              </a:rPr>
              <a:t>* Scores are engineering estimates, not legal conclusions. File provisional applications within 90 days to secure priority dates.</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2026-05-18T05:13:00Z</dcterms:created>
  <dcterms:modified xsi:type="dcterms:W3CDTF">2026-05-18T05:13:00Z</dcterms:modified>
</cp:coreProperties>
</file>