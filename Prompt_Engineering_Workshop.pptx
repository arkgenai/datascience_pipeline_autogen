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011680"/>
            <a:ext cx="2743200" cy="274320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0292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54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🛠  WORKSHOP SESSION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32918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2944368"/>
            <a:ext cx="109728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90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Transformer Architecture to Agentic 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Sampling Params · Prompting Techniques · LangChain · Agents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90 Minutes   |   Level: Intermediate–Advanced   |   Format: Workshop + Live Demos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4864" cy="621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19072" y="96926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95097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FOUNDATION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852928" y="91440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Transformer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41080" y="914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1527048"/>
            <a:ext cx="850392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27048"/>
            <a:ext cx="54864" cy="6217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618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0:10–0:22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19072" y="167335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16550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MECHANICS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52928" y="1618488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Windows, Tokenization &amp; Sampling Params (temp, top_p, top_k)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41080" y="1618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0040" y="2231136"/>
            <a:ext cx="850392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31136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32257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0:22–0:35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19072" y="237744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19072" y="23591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BASICS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52928" y="232257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Anatomy: Zero-Shot → Few-Shot → Chain-of-Thought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41080" y="232257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" y="2935224"/>
            <a:ext cx="850392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35224"/>
            <a:ext cx="5486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02666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0:35–0:55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19072" y="308152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19072" y="30632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ADVANCED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52928" y="3026664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Prompting: ReAct, ToT, Self-Consistency, Meta-Prompting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41080" y="302666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" y="3639312"/>
            <a:ext cx="850392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639312"/>
            <a:ext cx="54864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730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0:55–1:15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719072" y="378561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19072" y="37673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ENGINEERING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852928" y="3730752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LangChain: PromptTemplates, Chains, Memory &amp; Agents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41080" y="37307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20040" y="4343400"/>
            <a:ext cx="850392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4343400"/>
            <a:ext cx="54864" cy="62179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4434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1:15–1:30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719072" y="448970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F472B6">
              <a:alpha val="18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19072" y="44714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72B6"/>
                </a:solidFill>
              </a:rPr>
              <a:t>HANDS-ON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852928" y="443484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 + Prompt Anti-Patterns &amp; Q&amp;A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641080" y="4434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|  LLMs &amp; Transformer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96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LLM?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machine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predicting the next token over a </a:t>
            </a:r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token vocabulary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trillions of tokens of 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04672"/>
            <a:ext cx="4023360" cy="475488"/>
          </a:xfrm>
          <a:prstGeom prst="rect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046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47688" y="1280160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4023360" cy="475488"/>
          </a:xfrm>
          <a:prstGeom prst="rect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716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47688" y="1847088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938528"/>
            <a:ext cx="4023360" cy="475488"/>
          </a:xfrm>
          <a:prstGeom prst="rect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9385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47688" y="2414016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505456"/>
            <a:ext cx="4023360" cy="475488"/>
          </a:xfrm>
          <a:prstGeom prst="rect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5054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2980944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072384"/>
            <a:ext cx="4023360" cy="475488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0723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Logits → Next Token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41080" y="1371600"/>
            <a:ext cx="640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 layers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95728"/>
            <a:ext cx="283464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395728"/>
            <a:ext cx="28346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5054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Mechanism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2871216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token relationships across entire context — "All you need" 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395728"/>
            <a:ext cx="283464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22D3EE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395728"/>
            <a:ext cx="283464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25054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RLHF / Fine-Tuning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2871216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→ Instruction tuning → RLHF → Aligned, helpful LLM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395728"/>
            <a:ext cx="283464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395728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5054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Emergent Abilities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27648" y="2871216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unlocks reasoning, coding, math — not explicitly trained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38221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LLMs don't "know" facts — they model token probability distributions.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7091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min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Context Windows, Tokenization &amp; Sampling Parameters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Context Window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57400" y="822960"/>
            <a:ext cx="1554480" cy="457200"/>
          </a:xfrm>
          <a:prstGeom prst="rect">
            <a:avLst/>
          </a:prstGeom>
          <a:solidFill>
            <a:srgbClr val="6366F1">
              <a:alpha val="4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3976" y="8229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Prompt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30168" y="822960"/>
            <a:ext cx="2194560" cy="45720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8229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Few-Shot Examples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43016" y="822960"/>
            <a:ext cx="2011680" cy="457200"/>
          </a:xfrm>
          <a:prstGeom prst="rect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8229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Chat History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72984" y="822960"/>
            <a:ext cx="1280160" cy="457200"/>
          </a:xfrm>
          <a:prstGeom prst="rect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822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Input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71432" y="822960"/>
            <a:ext cx="914400" cy="457200"/>
          </a:xfrm>
          <a:prstGeom prst="rect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08008" y="82296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→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344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GPT-4: 128K tokens  |  Claude 3.5: 200K tokens  |  Gemini 1.5: 1M tokens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719072"/>
            <a:ext cx="8595360" cy="5486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755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Tokenization: 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91640" y="1801368"/>
            <a:ext cx="713232" cy="347472"/>
          </a:xfrm>
          <a:prstGeom prst="rect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8013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Prompt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50592" y="1801368"/>
            <a:ext cx="621792" cy="347472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0592" y="18013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Engi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18104" y="1801368"/>
            <a:ext cx="530352" cy="34747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8104" y="180136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94176" y="1801368"/>
            <a:ext cx="438912" cy="347472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94176" y="18013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78808" y="1801368"/>
            <a:ext cx="438912" cy="347472"/>
          </a:xfrm>
          <a:prstGeom prst="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78808" y="18013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801368"/>
            <a:ext cx="713232" cy="347472"/>
          </a:xfrm>
          <a:prstGeom prst="rect">
            <a:avLst/>
          </a:prstGeom>
          <a:solidFill>
            <a:srgbClr val="F472B6">
              <a:alpha val="3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8013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power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22392" y="1801368"/>
            <a:ext cx="438912" cy="347472"/>
          </a:xfrm>
          <a:prstGeom prst="rect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22392" y="18013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07024" y="1801368"/>
            <a:ext cx="256032" cy="347472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7024" y="180136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0216" y="1801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≈ 1 token per ~4 chars (English)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395728"/>
            <a:ext cx="2834640" cy="2240280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395728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🌡️  Temperature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84048" y="28712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Range: 0.0 → 2.0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" y="3172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Low →  Deterministic, precise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84048" y="3447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High →  Creative, unpredictable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" y="3767328"/>
            <a:ext cx="2615184" cy="749808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794760"/>
            <a:ext cx="2505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0.1 for code/SQL · 0.7 for writing · 1.2+ for brainstorm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18688" y="2395728"/>
            <a:ext cx="2834640" cy="2240280"/>
          </a:xfrm>
          <a:prstGeom prst="rect">
            <a:avLst/>
          </a:prstGeom>
          <a:solidFill>
            <a:srgbClr val="1A2235"/>
          </a:solidFill>
          <a:ln w="12700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18688" y="2395728"/>
            <a:ext cx="2834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28416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Top-P (Nucleus)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28416" y="28712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Range: 0.0 → 1.0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28416" y="3172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Low →  Narrow vocabulary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28416" y="3447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High →  Broad vocabulary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28416" y="3767328"/>
            <a:ext cx="2615184" cy="749808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0" y="3794760"/>
            <a:ext cx="2505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0.9 is the sweet spot for most tasks. Pair with low temp for precision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63056" y="2395728"/>
            <a:ext cx="2834640" cy="224028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63056" y="2395728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72784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Top-K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272784" y="28712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Range: 1 → 100+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72784" y="3172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Low →  K=1 = greedy decode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72784" y="3447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High →  K=40+ = diverse outputs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72784" y="3767328"/>
            <a:ext cx="2615184" cy="749808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3794760"/>
            <a:ext cx="2505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Top-K limits candidate pool before Top-P sampling further filters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503920" y="47091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min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|  Prompt Anatomy: From Zero-Shot to Chain-of-Thought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Anatomy of a Well-Crafted Prompt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777240" cy="420624"/>
          </a:xfrm>
          <a:prstGeom prst="rect">
            <a:avLst/>
          </a:prstGeom>
          <a:solidFill>
            <a:srgbClr val="6366F1">
              <a:alpha val="4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78992" y="1188720"/>
            <a:ext cx="475488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18872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backend engineer specializing in Python APIs.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777240" cy="420624"/>
          </a:xfrm>
          <a:prstGeom prst="rect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6420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78992" y="1664208"/>
            <a:ext cx="475488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6642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following function handles auth for a FastAPI app...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777240" cy="420624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3969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78992" y="2139696"/>
            <a:ext cx="475488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13969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the code below and identify security vulnerabilities.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777240" cy="420624"/>
          </a:xfrm>
          <a:prstGeom prst="rect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1518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FORMAT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78992" y="2615184"/>
            <a:ext cx="475488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261518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findings as a JSON array with keys: severity, line, fix.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777240" cy="420624"/>
          </a:xfrm>
          <a:prstGeom prst="rect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9067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CONSTRAINT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78992" y="3090672"/>
            <a:ext cx="475488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0906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to top 3 critical issues. Be concise.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Prompting Ladder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1207008"/>
            <a:ext cx="2743200" cy="475488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01968" y="1682496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2344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Zero-Shot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14538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No examples — just task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1773936"/>
            <a:ext cx="2743200" cy="475488"/>
          </a:xfrm>
          <a:prstGeom prst="rect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01968" y="2249424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18013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Few-Shot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20208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2–5 examples inline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340864"/>
            <a:ext cx="2743200" cy="475488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01968" y="2816352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23682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Chain-of-Thought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36208" y="25877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"Think step by step"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2907792"/>
            <a:ext cx="2743200" cy="47548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01968" y="3383280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293522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Auto-CoT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36208" y="3154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Model self-generates examples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3474720"/>
            <a:ext cx="2743200" cy="475488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36208" y="35021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Structured Output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36208" y="37216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JSON / XML schemas enforced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794760"/>
            <a:ext cx="85953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7947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Live Demo: "Zero-Shot vs Few-Shot" on a real classification task — watch accuracy jump!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03920" y="47091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min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|  Advanced Prompting Techniques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34640" cy="196596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834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40280" y="91440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8961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Reason+Act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Interleaves Thought → Action → Observation loops. Powers modern AI agents.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83664"/>
            <a:ext cx="2651760" cy="804672"/>
          </a:xfrm>
          <a:prstGeom prst="rect">
            <a:avLst/>
          </a:prstGeom>
          <a:solidFill>
            <a:srgbClr val="0A0E19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Need current BTC price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search('BTC USD price')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Obs: $67,200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Now I can answer...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834640" cy="1965960"/>
          </a:xfrm>
          <a:prstGeom prst="rect">
            <a:avLst/>
          </a:prstGeom>
          <a:solidFill>
            <a:srgbClr val="1A2235"/>
          </a:solidFill>
          <a:ln w="12700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04672"/>
            <a:ext cx="2834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96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🌳  Tree of Thoughts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91440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8961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ToT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branches multiple reasoning paths, evaluates, and backtracks — ideal for planning.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883664"/>
            <a:ext cx="2651760" cy="804672"/>
          </a:xfrm>
          <a:prstGeom prst="rect">
            <a:avLst/>
          </a:prstGeom>
          <a:solidFill>
            <a:srgbClr val="0A0E19"/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90195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A: Sort first → O(n log 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B: Hash approach → O(n)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Evaluate: B wins on large input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804672"/>
            <a:ext cx="2834640" cy="196596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804672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896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🎲  Self-Consistency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83880" y="91440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8961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Ensemble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6364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 reasoning paths, take majority vote — boosts accuracy on math &amp; logic by 15%+.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1883664"/>
            <a:ext cx="2651760" cy="804672"/>
          </a:xfrm>
          <a:prstGeom prst="rect">
            <a:avLst/>
          </a:prstGeom>
          <a:solidFill>
            <a:srgbClr val="0A0E19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90195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1: ans=42  Run 2: ans=42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3: ans=41  Run 4: ans=42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Majority vote: 42 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907792"/>
            <a:ext cx="2834640" cy="1965960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07792"/>
            <a:ext cx="28346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992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Meta-Prompting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40280" y="301752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29992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Scaffold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" y="3364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LLM to generate or improve its own prompt — compresses human prompt engineering.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986784"/>
            <a:ext cx="2651760" cy="804672"/>
          </a:xfrm>
          <a:prstGeom prst="rect">
            <a:avLst/>
          </a:prstGeom>
          <a:solidFill>
            <a:srgbClr val="0A0E19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0507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the optimal 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solve: {task_description}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constraints: {constraints}"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2907792"/>
            <a:ext cx="2834640" cy="1965960"/>
          </a:xfrm>
          <a:prstGeom prst="rect">
            <a:avLst/>
          </a:prstGeom>
          <a:solidFill>
            <a:srgbClr val="1A2235"/>
          </a:solidFill>
          <a:ln w="12700">
            <a:solidFill>
              <a:srgbClr val="F472B6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2907792"/>
            <a:ext cx="283464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29992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Directional Stimulus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12080" y="301752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29992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72B6"/>
                </a:solidFill>
              </a:rPr>
              <a:t>DSP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91840" y="3364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hint tokens or keywords to steer style, tone, or specific creativity dimensions.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3986784"/>
            <a:ext cx="2651760" cy="804672"/>
          </a:xfrm>
          <a:prstGeom prst="rect">
            <a:avLst/>
          </a:prstGeom>
          <a:solidFill>
            <a:srgbClr val="0A0E19"/>
          </a:solidFill>
          <a:ln w="12700">
            <a:solidFill>
              <a:srgbClr val="F472B6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400507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"Explain [topic].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use analogy, be concise,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senior engineers"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2907792"/>
            <a:ext cx="2834640" cy="1965960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2200" y="2907792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29992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Context Engineering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183880" y="301752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83880" y="29992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2025+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63640" y="3364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compose what enters the context window — RAG + memory + structured data.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3986784"/>
            <a:ext cx="2651760" cy="804672"/>
          </a:xfrm>
          <a:prstGeom prst="rect">
            <a:avLst/>
          </a:prstGeom>
          <a:solidFill>
            <a:srgbClr val="0A0E19"/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00507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role + guardrails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retrieved_docs + history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query + output_schema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32320" y="4709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 min  ·  includes live demo of ReAct with tool calls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|  LangChain: PromptTemplates, Chains &amp; Memory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965960"/>
          </a:xfrm>
          <a:prstGeom prst="rect">
            <a:avLst/>
          </a:prstGeom>
          <a:solidFill>
            <a:srgbClr val="0A0E19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41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PromptTemplate — Placeholder Power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langchain.prompts import PromptTemplate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= PromptTemplate(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input_variables=["role", "task", "format"],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template="""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 are a {role}.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Task: {task}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Respond in: {format}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template.format(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role="data engineer",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task="optimize this SQL query",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format="JSON with steps"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804672"/>
            <a:ext cx="4206240" cy="1965960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841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LCEL Chain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3931920" cy="347472"/>
          </a:xfrm>
          <a:prstGeom prst="rect">
            <a:avLst/>
          </a:prstGeom>
          <a:solidFill>
            <a:srgbClr val="A78BFA">
              <a:alpha val="2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07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PromptTemplate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39128" y="1554480"/>
            <a:ext cx="5486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618488"/>
            <a:ext cx="3931920" cy="347472"/>
          </a:xfrm>
          <a:prstGeom prst="rect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184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LLM (ChatOpenAI)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39128" y="1965960"/>
            <a:ext cx="5486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29968"/>
            <a:ext cx="3931920" cy="347472"/>
          </a:xfrm>
          <a:prstGeom prst="rect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029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OutputParser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39128" y="2377440"/>
            <a:ext cx="5486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441448"/>
            <a:ext cx="3931920" cy="347472"/>
          </a:xfrm>
          <a:prstGeom prst="rect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Memory / Store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834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prompt | llm | parser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07792"/>
            <a:ext cx="2011680" cy="1389888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07792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ChatPromptTemplate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4107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Human + AI turn templates for multi-turn conversations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50592" y="2907792"/>
            <a:ext cx="2011680" cy="1389888"/>
          </a:xfrm>
          <a:prstGeom prst="rect">
            <a:avLst/>
          </a:prstGeom>
          <a:solidFill>
            <a:srgbClr val="1A2235"/>
          </a:solidFill>
          <a:ln w="12700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50592" y="2907792"/>
            <a:ext cx="20116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42032" y="34107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ConversationBufferMemory · SummaryMemory · VectorStoreMemory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2907792"/>
            <a:ext cx="2011680" cy="1389888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2907792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LCEL Pipe Syntax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18304" y="34107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llm | parser — compose any chain declaratively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03136" y="2907792"/>
            <a:ext cx="2011680" cy="1389888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03136" y="2907792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 Tracing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94576" y="34107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token, latency, cost — debug prompts in production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47091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 min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05b  |  Agents, RAG &amp; Prompt Engineering in Production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3246120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🤖 LangChain Agent Loop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84048" cy="38404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344168"/>
            <a:ext cx="3401568" cy="34747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350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682496"/>
            <a:ext cx="54864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81051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1856232"/>
            <a:ext cx="3401568" cy="347472"/>
          </a:xfrm>
          <a:prstGeom prst="rect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184708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Prompt (Thought)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194560"/>
            <a:ext cx="54864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225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2368296"/>
            <a:ext cx="3401568" cy="34747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35915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+ Call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2706624"/>
            <a:ext cx="54864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83464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2880360"/>
            <a:ext cx="3401568" cy="34747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28712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Injected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3218688"/>
            <a:ext cx="54864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346704"/>
            <a:ext cx="384048" cy="38404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" y="3392424"/>
            <a:ext cx="3401568" cy="347472"/>
          </a:xfrm>
          <a:prstGeom prst="rect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338328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 Final Answer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↺  loops until done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804672"/>
            <a:ext cx="4251960" cy="324612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36592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📚 RAG Pipeline with Prompts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36592" y="1325880"/>
            <a:ext cx="4023360" cy="475488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3258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Documents → Chunks → Embeddings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20840" y="1801368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1892808"/>
            <a:ext cx="4023360" cy="475488"/>
          </a:xfrm>
          <a:prstGeom prst="rect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8928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Query → Embed → Vector Search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20840" y="2368296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36592" y="2459736"/>
            <a:ext cx="4023360" cy="475488"/>
          </a:xfrm>
          <a:prstGeom prst="rect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45973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Top-K docs injected into Context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20840" y="2935224"/>
            <a:ext cx="5486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36592" y="3026664"/>
            <a:ext cx="4023360" cy="475488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02666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LLM generates grounded answer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36592" y="3639312"/>
            <a:ext cx="4023360" cy="347472"/>
          </a:xfrm>
          <a:prstGeom prst="rect">
            <a:avLst/>
          </a:prstGeom>
          <a:solidFill>
            <a:srgbClr val="0A0E19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64845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Prompt: "Answer using ONLY the context below:\n{context}\nQuestion: {question}"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330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Hands-On: Build a ReAct Agent with 3 tools in LangChain — SQL + Search + Calculator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|  Prompt Anti-Patterns &amp; Prompt Hygiene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F472B6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778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Vague Tasks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97864"/>
            <a:ext cx="3977640" cy="292608"/>
          </a:xfrm>
          <a:prstGeom prst="rect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F472B6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978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me some code"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554480"/>
            <a:ext cx="3977640" cy="47548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636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Role + lang + constraints + output format specified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0624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F472B6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18888" y="8778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Negative Instructions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18888" y="1197864"/>
            <a:ext cx="3977640" cy="292608"/>
          </a:xfrm>
          <a:prstGeom prst="rect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F472B6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1978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"Don't be verbose"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8888" y="1554480"/>
            <a:ext cx="3977640" cy="47548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5636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"Respond in ≤ 150 words as a JSON object"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49424"/>
            <a:ext cx="420624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F472B6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3225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Monolithic Prompts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2642616"/>
            <a:ext cx="3977640" cy="292608"/>
          </a:xfrm>
          <a:prstGeom prst="rect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F472B6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6426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giant wall-of-text prompt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999232"/>
            <a:ext cx="3977640" cy="47548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0083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Chain steps: outline → draft → critique → refine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249424"/>
            <a:ext cx="420624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F472B6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23225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Wrong Sampling Params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18888" y="2642616"/>
            <a:ext cx="3977640" cy="292608"/>
          </a:xfrm>
          <a:prstGeom prst="rect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F472B6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26426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Temperature=0 for creative writing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18888" y="2999232"/>
            <a:ext cx="3977640" cy="47548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0083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Match temp to task type: creative vs. factual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94176"/>
            <a:ext cx="420624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F472B6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4048" y="37673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Unstructured Output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" y="4087368"/>
            <a:ext cx="3977640" cy="292608"/>
          </a:xfrm>
          <a:prstGeom prst="rect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F472B6">
                <a:alpha val="2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0873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output schema → hallucination risk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4443984"/>
            <a:ext cx="3977640" cy="47548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4531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Enforce JSON/XML schema via system prompt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694176"/>
            <a:ext cx="420624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F472B6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18888" y="37673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No Iteration Loop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18888" y="4087368"/>
            <a:ext cx="3977640" cy="292608"/>
          </a:xfrm>
          <a:prstGeom prst="rect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F472B6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40873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prompt for all edge cases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18888" y="4443984"/>
            <a:ext cx="3977640" cy="47548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44531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Dynamic template + fallback + eval harness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47091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 min  ·  Live refactor of a bad prompt → production-grade prompt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Resources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621792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54864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4124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905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Before You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probability engine. Know your sampling knobs.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621792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22D3EE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27632"/>
            <a:ext cx="54864" cy="6766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2763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Is Everything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975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Context + Task + Format + Constraints = 80% of quality.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621792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14016"/>
            <a:ext cx="54864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1401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478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Escalate Thoughtfully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761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→ Few-shot → CoT → ReAct → Agents. Don't over-engineer.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621792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00400"/>
            <a:ext cx="54864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20040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264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Engineer, Don't Guess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547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PromptTemplates, version control, LangSmith evals in production.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986784"/>
            <a:ext cx="621792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986784"/>
            <a:ext cx="54864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4050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With Metrics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334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ML — measure, test, refine with an eval harness.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841248"/>
            <a:ext cx="2194560" cy="3931920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84848" y="896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Resources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84848" y="1316736"/>
            <a:ext cx="1965960" cy="475488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1325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Guide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promptingguide.ai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84848" y="1865376"/>
            <a:ext cx="1965960" cy="475488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langchain.com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2414016"/>
            <a:ext cx="1965960" cy="475488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9712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Cookbook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github.com/openai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84848" y="2962656"/>
            <a:ext cx="1965960" cy="475488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9712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DAIR.AI Papers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dair.ai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84848" y="3511296"/>
            <a:ext cx="1965960" cy="475488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3520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Evals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smith.langchain.com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quality of your prompt is the quality of your AI." — Start structured, iterate relentlessly.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Workshop</dc:title>
  <dc:subject>PptxGenJS Presentation</dc:subject>
  <dc:creator>PptxGenJS</dc:creator>
  <cp:lastModifiedBy>PptxGenJS</cp:lastModifiedBy>
  <cp:revision>1</cp:revision>
  <dcterms:created xsi:type="dcterms:W3CDTF">2026-06-01T07:53:52Z</dcterms:created>
  <dcterms:modified xsi:type="dcterms:W3CDTF">2026-06-01T07:53:52Z</dcterms:modified>
</cp:coreProperties>
</file>