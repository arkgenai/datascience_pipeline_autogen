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060A0">
              <a:alpha val="18000"/>
            </a:srgbClr>
          </a:solidFill>
          <a:ln w="12700">
            <a:solidFill>
              <a:srgbClr val="0060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5020A0">
              <a:alpha val="18000"/>
            </a:srgbClr>
          </a:solidFill>
          <a:ln w="12700">
            <a:solidFill>
              <a:srgbClr val="5020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0584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0184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51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C8FF"/>
                </a:solidFill>
              </a:rPr>
              <a:t>PROMPTING TECHNIQUES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148840" y="914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Foundational Prompting Strategies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32520" y="128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7090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2816352" cy="4169664"/>
          </a:xfrm>
          <a:prstGeom prst="rect">
            <a:avLst/>
          </a:prstGeom>
          <a:solidFill>
            <a:srgbClr val="001828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749808"/>
            <a:ext cx="2816352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87782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87782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1220"/>
                </a:solidFill>
              </a:rPr>
              <a:t>ZERO-SHOT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14016" y="841248"/>
            <a:ext cx="475488" cy="475488"/>
          </a:xfrm>
          <a:prstGeom prst="ellipse">
            <a:avLst/>
          </a:prstGeom>
          <a:solidFill>
            <a:srgbClr val="00C8FF">
              <a:alpha val="18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14016" y="841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F"/>
                </a:solidFill>
              </a:rPr>
              <a:t>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" y="1170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Zero-Shot Learning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1463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C8FF"/>
                </a:solidFill>
              </a:rPr>
              <a:t>No examples. Pure instruction.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" y="170078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6E8FF"/>
                </a:solidFill>
              </a:rPr>
              <a:t>The model is given a task and asked to respond with no prior examples in the prompt. It relies entirely on pre-trained knowledge and natural language understanding.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377440"/>
            <a:ext cx="2560320" cy="932688"/>
          </a:xfrm>
          <a:prstGeom prst="rect">
            <a:avLst/>
          </a:prstGeom>
          <a:solidFill>
            <a:srgbClr val="060E18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23160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A7090"/>
                </a:solidFill>
              </a:rPr>
              <a:t>EXAMPLE PROMPT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57200" y="2578608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 the sentiment: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service was slow but friendly."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Sentiment: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3310128"/>
            <a:ext cx="2560320" cy="219456"/>
          </a:xfrm>
          <a:prstGeom prst="rect">
            <a:avLst/>
          </a:prstGeom>
          <a:solidFill>
            <a:srgbClr val="081420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3697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A8C0"/>
                </a:solidFill>
              </a:rPr>
              <a:t>Output: </a:t>
            </a:r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</a:rPr>
              <a:t>Mixed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35295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b="1" spc="100" kern="0" dirty="0">
                <a:solidFill>
                  <a:srgbClr val="00C8FF"/>
                </a:solidFill>
              </a:rPr>
              <a:t>BEST FOR  </a:t>
            </a:r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90A8C0"/>
                </a:solidFill>
              </a:rPr>
              <a:t>Simple, well-defined tasks with clear output expectations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391363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C8FF"/>
                </a:solidFill>
              </a:rPr>
              <a:t>✓  Zero setup time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6E8FF"/>
                </a:solidFill>
              </a:rPr>
              <a:t>✓  Minimal tokens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6E8FF"/>
                </a:solidFill>
              </a:rPr>
              <a:t>✓  Great for common tasks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4626864"/>
            <a:ext cx="2816352" cy="292608"/>
          </a:xfrm>
          <a:prstGeom prst="rect">
            <a:avLst/>
          </a:prstGeom>
          <a:solidFill>
            <a:srgbClr val="0D1520"/>
          </a:solidFill>
          <a:ln w="12700">
            <a:solidFill>
              <a:srgbClr val="0D15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645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7090"/>
                </a:solidFill>
              </a:rPr>
              <a:t>⚠  Fails on niche formats or domain-specific tasks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200400" y="749808"/>
            <a:ext cx="2816352" cy="4169664"/>
          </a:xfrm>
          <a:prstGeom prst="rect">
            <a:avLst/>
          </a:prstGeom>
          <a:solidFill>
            <a:srgbClr val="001A10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749808"/>
            <a:ext cx="2816352" cy="7315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28416" y="87782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28416" y="87782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1220"/>
                </a:solidFill>
              </a:rPr>
              <a:t>ONE-SHOT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358384" y="841248"/>
            <a:ext cx="475488" cy="475488"/>
          </a:xfrm>
          <a:prstGeom prst="ellipse">
            <a:avLst/>
          </a:prstGeom>
          <a:solidFill>
            <a:srgbClr val="00E5A0">
              <a:alpha val="1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58384" y="841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A0"/>
                </a:solidFill>
              </a:rPr>
              <a:t>1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28416" y="1170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One-Shot Learning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28416" y="1463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E5A0"/>
                </a:solidFill>
              </a:rPr>
              <a:t>One example guides the model.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28416" y="170078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6E8FF"/>
                </a:solidFill>
              </a:rPr>
              <a:t>A single input-output example is provided before the actual task. The model infers the pattern from that single demonstration and applies it.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28416" y="2377440"/>
            <a:ext cx="2560320" cy="932688"/>
          </a:xfrm>
          <a:prstGeom prst="rect">
            <a:avLst/>
          </a:prstGeom>
          <a:solidFill>
            <a:srgbClr val="060E18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01568" y="2423160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A7090"/>
                </a:solidFill>
              </a:rPr>
              <a:t>EXAMPLE PROMPT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401568" y="2578608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 → 😊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"Terrible experience" →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328416" y="3310128"/>
            <a:ext cx="2560320" cy="219456"/>
          </a:xfrm>
          <a:prstGeom prst="rect">
            <a:avLst/>
          </a:prstGeom>
          <a:solidFill>
            <a:srgbClr val="081420"/>
          </a:solidFill>
          <a:ln w="6350">
            <a:solidFill>
              <a:srgbClr val="00E5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01568" y="323697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A8C0"/>
                </a:solidFill>
              </a:rPr>
              <a:t>Output: </a:t>
            </a:r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</a:rPr>
              <a:t>😞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28416" y="35295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b="1" spc="100" kern="0" dirty="0">
                <a:solidFill>
                  <a:srgbClr val="00E5A0"/>
                </a:solidFill>
              </a:rPr>
              <a:t>BEST FOR  </a:t>
            </a:r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90A8C0"/>
                </a:solidFill>
              </a:rPr>
              <a:t>Tasks needing format guidance but low ambiguity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328416" y="391363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E5A0"/>
                </a:solidFill>
              </a:rPr>
              <a:t>✓  Teaches output format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6E8FF"/>
                </a:solidFill>
              </a:rPr>
              <a:t>✓  Minimal overhead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6E8FF"/>
                </a:solidFill>
              </a:rPr>
              <a:t>✓  Works well for classification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0" y="4626864"/>
            <a:ext cx="2816352" cy="292608"/>
          </a:xfrm>
          <a:prstGeom prst="rect">
            <a:avLst/>
          </a:prstGeom>
          <a:solidFill>
            <a:srgbClr val="0D1520"/>
          </a:solidFill>
          <a:ln w="12700">
            <a:solidFill>
              <a:srgbClr val="0D15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28416" y="4645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7090"/>
                </a:solidFill>
              </a:rPr>
              <a:t>⚠  One example may be insufficient for complex patterns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144768" y="749808"/>
            <a:ext cx="2816352" cy="4169664"/>
          </a:xfrm>
          <a:prstGeom prst="rect">
            <a:avLst/>
          </a:prstGeom>
          <a:solidFill>
            <a:srgbClr val="130A28"/>
          </a:solidFill>
          <a:ln w="12700">
            <a:solidFill>
              <a:srgbClr val="9B6D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44768" y="749808"/>
            <a:ext cx="2816352" cy="73152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72784" y="87782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72784" y="87782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1220"/>
                </a:solidFill>
              </a:rPr>
              <a:t>FEW-SHOT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302752" y="841248"/>
            <a:ext cx="475488" cy="475488"/>
          </a:xfrm>
          <a:prstGeom prst="ellipse">
            <a:avLst/>
          </a:prstGeom>
          <a:solidFill>
            <a:srgbClr val="9B6DFF">
              <a:alpha val="18000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02752" y="841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6DFF"/>
                </a:solidFill>
              </a:rPr>
              <a:t>3+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272784" y="1170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Few-Shot Learning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272784" y="1463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6DFF"/>
                </a:solidFill>
              </a:rPr>
              <a:t>2–5 examples for pattern lock.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72784" y="170078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6E8FF"/>
                </a:solidFill>
              </a:rPr>
              <a:t>Multiple input-output pairs are provided to establish a strong pattern. The model generalises from the examples to handle unseen inputs accurately.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72784" y="2377440"/>
            <a:ext cx="2560320" cy="932688"/>
          </a:xfrm>
          <a:prstGeom prst="rect">
            <a:avLst/>
          </a:prstGeom>
          <a:solidFill>
            <a:srgbClr val="060E18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45936" y="2423160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A7090"/>
                </a:solidFill>
              </a:rPr>
              <a:t>EXAMPLE PROMPT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345936" y="2578608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Happy→Positive  Angry→Neg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Bored→Neutral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Excited →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72784" y="3310128"/>
            <a:ext cx="2560320" cy="219456"/>
          </a:xfrm>
          <a:prstGeom prst="rect">
            <a:avLst/>
          </a:prstGeom>
          <a:solidFill>
            <a:srgbClr val="081420"/>
          </a:solidFill>
          <a:ln w="6350">
            <a:solidFill>
              <a:srgbClr val="9B6D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45936" y="323697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A8C0"/>
                </a:solidFill>
              </a:rPr>
              <a:t>Output: </a:t>
            </a:r>
            <a:pPr indent="0" marL="0">
              <a:buNone/>
            </a:pPr>
            <a:r>
              <a:rPr lang="en-US" sz="900" b="1" dirty="0">
                <a:solidFill>
                  <a:srgbClr val="9B6DFF"/>
                </a:solidFill>
              </a:rPr>
              <a:t>Positive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272784" y="35295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b="1" spc="100" kern="0" dirty="0">
                <a:solidFill>
                  <a:srgbClr val="9B6DFF"/>
                </a:solidFill>
              </a:rPr>
              <a:t>BEST FOR  </a:t>
            </a:r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90A8C0"/>
                </a:solidFill>
              </a:rPr>
              <a:t>Complex patterns, custom formats, domain-specific outputs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272784" y="391363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B6DFF"/>
                </a:solidFill>
              </a:rPr>
              <a:t>✓  +30% accuracy over zero-shot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6E8FF"/>
                </a:solidFill>
              </a:rPr>
              <a:t>✓  Teaches nuance &amp; tone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6E8FF"/>
                </a:solidFill>
              </a:rPr>
              <a:t>✓  Reliable for production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144768" y="4626864"/>
            <a:ext cx="2816352" cy="292608"/>
          </a:xfrm>
          <a:prstGeom prst="rect">
            <a:avLst/>
          </a:prstGeom>
          <a:solidFill>
            <a:srgbClr val="0D1520"/>
          </a:solidFill>
          <a:ln w="12700">
            <a:solidFill>
              <a:srgbClr val="0D152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72784" y="4645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7090"/>
                </a:solidFill>
              </a:rPr>
              <a:t>⚠  Consumes more tokens; example quality matters greatly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4773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7090"/>
                </a:solidFill>
              </a:rPr>
              <a:t>ACCURACY COMPARISON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194560" y="4809744"/>
            <a:ext cx="2011680" cy="128016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94560" y="4809744"/>
            <a:ext cx="1106424" cy="12801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194560" y="476402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8FF"/>
                </a:solidFill>
              </a:rPr>
              <a:t>Zero-Shot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3337560" y="47640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8FF"/>
                </a:solidFill>
              </a:rPr>
              <a:t>55%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480560" y="4809744"/>
            <a:ext cx="2011680" cy="128016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480560" y="4809744"/>
            <a:ext cx="1448410" cy="12801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80560" y="476402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E5A0"/>
                </a:solidFill>
              </a:rPr>
              <a:t>One-Shot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965546" y="47640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E5A0"/>
                </a:solidFill>
              </a:rPr>
              <a:t>72%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766560" y="4809744"/>
            <a:ext cx="2011680" cy="128016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766560" y="4809744"/>
            <a:ext cx="1830629" cy="128016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66560" y="476402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B6DFF"/>
                </a:solidFill>
              </a:rPr>
              <a:t>Few-Shot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8633765" y="47640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B6DFF"/>
                </a:solidFill>
              </a:rPr>
              <a:t>91%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3200400" cy="3200400"/>
          </a:xfrm>
          <a:prstGeom prst="ellipse">
            <a:avLst/>
          </a:prstGeom>
          <a:solidFill>
            <a:srgbClr val="003040">
              <a:alpha val="25000"/>
            </a:srgbClr>
          </a:solidFill>
          <a:ln w="12700">
            <a:solidFill>
              <a:srgbClr val="003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202060">
              <a:alpha val="20000"/>
            </a:srgbClr>
          </a:solidFill>
          <a:ln w="12700">
            <a:solidFill>
              <a:srgbClr val="202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0584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0184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51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B830"/>
                </a:solidFill>
              </a:rPr>
              <a:t>ADVANCED TECHNIQUES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148840" y="914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Reasoning &amp; Agentic Prompting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32520" y="128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7090"/>
                </a:solidFill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694944"/>
            <a:ext cx="4133088" cy="4224528"/>
          </a:xfrm>
          <a:prstGeom prst="rect">
            <a:avLst/>
          </a:prstGeom>
          <a:solidFill>
            <a:srgbClr val="001820"/>
          </a:solidFill>
          <a:ln w="12700">
            <a:solidFill>
              <a:srgbClr val="FFB8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694944"/>
            <a:ext cx="4133088" cy="73152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822960"/>
            <a:ext cx="1508760" cy="237744"/>
          </a:xfrm>
          <a:prstGeom prst="roundRect">
            <a:avLst>
              <a:gd name="adj" fmla="val 15385"/>
            </a:avLst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82296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1220"/>
                </a:solidFill>
              </a:rPr>
              <a:t>CHAIN-OF-THOUGHT  CoT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1152144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Chain-of-Thought Prompting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" y="1426464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B830"/>
                </a:solidFill>
              </a:rPr>
              <a:t>"Think step by step."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1682496"/>
            <a:ext cx="3877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6E8FF"/>
                </a:solidFill>
              </a:rPr>
              <a:t>Instructs the model to reason through a problem explicitly before giving an answer. Externalising reasoning dramatically improves accuracy on multi-step tasks.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2304288"/>
            <a:ext cx="256032" cy="256032"/>
          </a:xfrm>
          <a:prstGeom prst="ellipse">
            <a:avLst/>
          </a:prstGeom>
          <a:solidFill>
            <a:srgbClr val="0A1830"/>
          </a:solidFill>
          <a:ln w="12700">
            <a:solidFill>
              <a:srgbClr val="7EAE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304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EAED4"/>
                </a:solidFill>
              </a:rPr>
              <a:t>Q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1520" y="2340864"/>
            <a:ext cx="3493008" cy="201168"/>
          </a:xfrm>
          <a:prstGeom prst="rect">
            <a:avLst/>
          </a:prstGeom>
          <a:solidFill>
            <a:srgbClr val="080E18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23408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8C0"/>
                </a:solidFill>
              </a:rPr>
              <a:t>Roger has 5 balls. Buys 2 cans × 3 balls. How many?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0624" y="256032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2679192"/>
            <a:ext cx="256032" cy="256032"/>
          </a:xfrm>
          <a:prstGeom prst="ellipse">
            <a:avLst/>
          </a:prstGeom>
          <a:solidFill>
            <a:srgbClr val="2A180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679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830"/>
                </a:solidFill>
              </a:rPr>
              <a:t>①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1520" y="2715768"/>
            <a:ext cx="3493008" cy="201168"/>
          </a:xfrm>
          <a:prstGeom prst="rect">
            <a:avLst/>
          </a:prstGeom>
          <a:solidFill>
            <a:srgbClr val="080E18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27157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</a:rPr>
              <a:t>Start: 5 balls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0624" y="293522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↓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3054096"/>
            <a:ext cx="256032" cy="256032"/>
          </a:xfrm>
          <a:prstGeom prst="ellipse">
            <a:avLst/>
          </a:prstGeom>
          <a:solidFill>
            <a:srgbClr val="2A180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830"/>
                </a:solidFill>
              </a:rPr>
              <a:t>②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1520" y="3090672"/>
            <a:ext cx="3493008" cy="201168"/>
          </a:xfrm>
          <a:prstGeom prst="rect">
            <a:avLst/>
          </a:prstGeom>
          <a:solidFill>
            <a:srgbClr val="080E18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" y="30906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</a:rPr>
              <a:t>2 cans × 3 = 6 new balls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0624" y="331012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↓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4048" y="3429000"/>
            <a:ext cx="256032" cy="256032"/>
          </a:xfrm>
          <a:prstGeom prst="ellipse">
            <a:avLst/>
          </a:prstGeom>
          <a:solidFill>
            <a:srgbClr val="2A180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429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830"/>
                </a:solidFill>
              </a:rPr>
              <a:t>③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31520" y="3465576"/>
            <a:ext cx="3493008" cy="201168"/>
          </a:xfrm>
          <a:prstGeom prst="rect">
            <a:avLst/>
          </a:prstGeom>
          <a:solidFill>
            <a:srgbClr val="080E18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" y="34655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</a:rPr>
              <a:t>Total: 5 + 6 = 11 balls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0624" y="36850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↓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4048" y="3803904"/>
            <a:ext cx="256032" cy="256032"/>
          </a:xfrm>
          <a:prstGeom prst="ellipse">
            <a:avLst/>
          </a:prstGeom>
          <a:solidFill>
            <a:srgbClr val="003A2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803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A0"/>
                </a:solidFill>
              </a:rPr>
              <a:t>✓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31520" y="3840480"/>
            <a:ext cx="3493008" cy="201168"/>
          </a:xfrm>
          <a:prstGeom prst="rect">
            <a:avLst/>
          </a:prstGeom>
          <a:solidFill>
            <a:srgbClr val="080E18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" y="38404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</a:rPr>
              <a:t>Answer: 11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4048" y="4480560"/>
            <a:ext cx="3877056" cy="329184"/>
          </a:xfrm>
          <a:prstGeom prst="rect">
            <a:avLst/>
          </a:prstGeom>
          <a:solidFill>
            <a:srgbClr val="1A1000"/>
          </a:solidFill>
          <a:ln w="6350">
            <a:solidFill>
              <a:srgbClr val="FFB8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480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30"/>
                </a:solidFill>
              </a:rPr>
              <a:t>+40%</a:t>
            </a:r>
            <a:pPr indent="0" marL="0">
              <a:buNone/>
            </a:pPr>
            <a:r>
              <a:rPr lang="en-US" sz="850" dirty="0">
                <a:solidFill>
                  <a:srgbClr val="90A8C0"/>
                </a:solidFill>
              </a:rPr>
              <a:t>  accuracy on math &amp; logic vs zero-shot  ·  Use: </a:t>
            </a:r>
            <a:pPr indent="0" marL="0">
              <a:buNone/>
            </a:pPr>
            <a:r>
              <a:rPr lang="en-US" sz="850" i="1" dirty="0">
                <a:solidFill>
                  <a:srgbClr val="FFB830"/>
                </a:solidFill>
              </a:rPr>
              <a:t>"Let's think step by step"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53712" y="694944"/>
            <a:ext cx="4334256" cy="2029968"/>
          </a:xfrm>
          <a:prstGeom prst="rect">
            <a:avLst/>
          </a:prstGeom>
          <a:solidFill>
            <a:srgbClr val="0A1220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53712" y="694944"/>
            <a:ext cx="4334256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81728" y="822960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81728" y="8229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REACT PROMPTING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681728" y="1152144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ReAct: Reason + Act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681728" y="1463040"/>
            <a:ext cx="1243584" cy="804672"/>
          </a:xfrm>
          <a:prstGeom prst="rect">
            <a:avLst/>
          </a:prstGeom>
          <a:solidFill>
            <a:srgbClr val="060E18"/>
          </a:solidFill>
          <a:ln w="10160">
            <a:solidFill>
              <a:srgbClr val="FFB83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81728" y="1463040"/>
            <a:ext cx="1243584" cy="164592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81728" y="146304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1220"/>
                </a:solidFill>
              </a:rPr>
              <a:t>THOUGHT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736592" y="1664208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B830"/>
                </a:solidFill>
              </a:rPr>
              <a:t>Reason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B830"/>
                </a:solidFill>
              </a:rPr>
              <a:t>about task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943600" y="1755648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090"/>
                </a:solidFill>
              </a:rPr>
              <a:t>→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089904" y="1463040"/>
            <a:ext cx="1243584" cy="804672"/>
          </a:xfrm>
          <a:prstGeom prst="rect">
            <a:avLst/>
          </a:prstGeom>
          <a:solidFill>
            <a:srgbClr val="060E18"/>
          </a:solidFill>
          <a:ln w="10160">
            <a:solidFill>
              <a:srgbClr val="FF6B6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89904" y="1463040"/>
            <a:ext cx="1243584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89904" y="146304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1220"/>
                </a:solidFill>
              </a:rPr>
              <a:t>ACTION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144768" y="1664208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6B6B"/>
                </a:solidFill>
              </a:rPr>
              <a:t>Call tool /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6B6B"/>
                </a:solidFill>
              </a:rPr>
              <a:t>API / search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351776" y="1755648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090"/>
                </a:solidFill>
              </a:rPr>
              <a:t>→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498080" y="1463040"/>
            <a:ext cx="1243584" cy="804672"/>
          </a:xfrm>
          <a:prstGeom prst="rect">
            <a:avLst/>
          </a:prstGeom>
          <a:solidFill>
            <a:srgbClr val="060E18"/>
          </a:solidFill>
          <a:ln w="10160">
            <a:solidFill>
              <a:srgbClr val="7EAED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98080" y="1463040"/>
            <a:ext cx="1243584" cy="164592"/>
          </a:xfrm>
          <a:prstGeom prst="rect">
            <a:avLst/>
          </a:prstGeom>
          <a:solidFill>
            <a:srgbClr val="7EAED4"/>
          </a:solidFill>
          <a:ln w="12700">
            <a:solidFill>
              <a:srgbClr val="7EAE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0" y="146304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1220"/>
                </a:solidFill>
              </a:rPr>
              <a:t>OBSERVE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552944" y="1664208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EAED4"/>
                </a:solidFill>
              </a:rPr>
              <a:t>Read tool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EAED4"/>
                </a:solidFill>
              </a:rPr>
              <a:t>result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681728" y="2322576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6B6B"/>
                </a:solidFill>
              </a:rPr>
              <a:t>↺  Loop until task complete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681728" y="2523744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090"/>
                </a:solidFill>
              </a:rPr>
              <a:t>Powers AI Agents · LangGraph · AutoGen · Tool-calling LLMs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553712" y="2816352"/>
            <a:ext cx="4334256" cy="2103120"/>
          </a:xfrm>
          <a:prstGeom prst="rect">
            <a:avLst/>
          </a:prstGeom>
          <a:solidFill>
            <a:srgbClr val="0A0A20"/>
          </a:solidFill>
          <a:ln w="12700">
            <a:solidFill>
              <a:srgbClr val="9B6D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553712" y="2816352"/>
            <a:ext cx="4334256" cy="73152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81728" y="2944368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81728" y="29443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TREE OF THOUGHTS  ToT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4681728" y="3273552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Tree-of-Thoughts Prompting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6217920" y="3584448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1A0A30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0" y="3584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6DFF"/>
                </a:solidFill>
              </a:rPr>
              <a:t>Problem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720840" y="3858768"/>
            <a:ext cx="-1764792" cy="292608"/>
          </a:xfrm>
          <a:prstGeom prst="line">
            <a:avLst/>
          </a:prstGeom>
          <a:noFill/>
          <a:ln w="10160">
            <a:solidFill>
              <a:srgbClr val="1E305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20840" y="3858768"/>
            <a:ext cx="-457200" cy="292608"/>
          </a:xfrm>
          <a:prstGeom prst="line">
            <a:avLst/>
          </a:prstGeom>
          <a:noFill/>
          <a:ln w="10160">
            <a:solidFill>
              <a:srgbClr val="1E305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720840" y="3858768"/>
            <a:ext cx="868680" cy="292608"/>
          </a:xfrm>
          <a:prstGeom prst="line">
            <a:avLst/>
          </a:prstGeom>
          <a:noFill/>
          <a:ln w="10160">
            <a:solidFill>
              <a:srgbClr val="1E305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754880" y="4169664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100820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54880" y="4169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8C0"/>
                </a:solidFill>
              </a:rPr>
              <a:t>Path A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754880" y="4462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6B"/>
                </a:solidFill>
              </a:rPr>
              <a:t>✗ Dead end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144768" y="4169664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10082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44768" y="4169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A0"/>
                </a:solidFill>
              </a:rPr>
              <a:t>Path B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144768" y="4462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5A0"/>
                </a:solidFill>
              </a:rPr>
              <a:t>✓ Best!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534656" y="4169664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100820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534656" y="4169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8C0"/>
                </a:solidFill>
              </a:rPr>
              <a:t>Path C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534656" y="4462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090"/>
                </a:solidFill>
              </a:rPr>
              <a:t>✗ Sub-optimal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681728" y="4663440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7090"/>
                </a:solidFill>
              </a:rPr>
              <a:t>Explores multiple reasoning branches in parallel · Uses BFS/DFS · Votes on best path  ·  +40% on hard planning tasks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74320" y="48097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A7090"/>
                </a:solidFill>
              </a:rPr>
              <a:t>QUICK COMPARE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1600200" y="4828032"/>
            <a:ext cx="73152" cy="256032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728216" y="480974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830"/>
                </a:solidFill>
              </a:rPr>
              <a:t>Chain-of-Thought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1728216" y="49560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8C0"/>
                </a:solidFill>
              </a:rPr>
              <a:t>Serial, explicit reasoning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105656" y="4828032"/>
            <a:ext cx="73152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233672" y="480974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6B"/>
                </a:solidFill>
              </a:rPr>
              <a:t>ReAct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4233672" y="49560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8C0"/>
                </a:solidFill>
              </a:rPr>
              <a:t>Reason + external tool use loop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6611112" y="4828032"/>
            <a:ext cx="73152" cy="256032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739128" y="480974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DFF"/>
                </a:solidFill>
              </a:rPr>
              <a:t>Tree-of-Thoughts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6739128" y="49560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8C0"/>
                </a:solidFill>
              </a:rPr>
              <a:t>Parallel exploration + best-path voting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03030">
              <a:alpha val="22000"/>
            </a:srgbClr>
          </a:solidFill>
          <a:ln w="12700">
            <a:solidFill>
              <a:srgbClr val="00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102040">
              <a:alpha val="18000"/>
            </a:srgbClr>
          </a:solidFill>
          <a:ln w="12700">
            <a:solidFill>
              <a:srgbClr val="10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0584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003018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51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E5A0"/>
                </a:solidFill>
              </a:rPr>
              <a:t>🦜 LANGCHAIN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12848" y="914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Prompt Engineering with LangChain Framework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32520" y="128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7090"/>
                </a:solidFill>
              </a:rPr>
              <a:t>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640080"/>
            <a:ext cx="8631936" cy="402336"/>
          </a:xfrm>
          <a:prstGeom prst="rect">
            <a:avLst/>
          </a:prstGeom>
          <a:solidFill>
            <a:srgbClr val="091520"/>
          </a:solidFill>
          <a:ln w="889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67665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E5A0"/>
                </a:solidFill>
              </a:rPr>
              <a:t>LCEL PIPELINE  ( pipe operator  | 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971800" y="713232"/>
            <a:ext cx="1353312" cy="256032"/>
          </a:xfrm>
          <a:prstGeom prst="roundRect">
            <a:avLst>
              <a:gd name="adj" fmla="val 14286"/>
            </a:avLst>
          </a:prstGeom>
          <a:solidFill>
            <a:srgbClr val="0A1828"/>
          </a:solidFill>
          <a:ln w="889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7132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FF"/>
                </a:solidFill>
              </a:rPr>
              <a:t>PromptTemplate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16552" y="713232"/>
            <a:ext cx="1353312" cy="256032"/>
          </a:xfrm>
          <a:prstGeom prst="roundRect">
            <a:avLst>
              <a:gd name="adj" fmla="val 14286"/>
            </a:avLst>
          </a:prstGeom>
          <a:solidFill>
            <a:srgbClr val="0A1828"/>
          </a:solidFill>
          <a:ln w="889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6552" y="7132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A0"/>
                </a:solidFill>
              </a:rPr>
              <a:t>| ChatModel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861304" y="713232"/>
            <a:ext cx="1353312" cy="256032"/>
          </a:xfrm>
          <a:prstGeom prst="roundRect">
            <a:avLst>
              <a:gd name="adj" fmla="val 14286"/>
            </a:avLst>
          </a:prstGeom>
          <a:solidFill>
            <a:srgbClr val="0A1828"/>
          </a:solidFill>
          <a:ln w="8890">
            <a:solidFill>
              <a:srgbClr val="9B6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61304" y="7132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DFF"/>
                </a:solidFill>
              </a:rPr>
              <a:t>| OutputParser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06056" y="713232"/>
            <a:ext cx="1353312" cy="256032"/>
          </a:xfrm>
          <a:prstGeom prst="roundRect">
            <a:avLst>
              <a:gd name="adj" fmla="val 14286"/>
            </a:avLst>
          </a:prstGeom>
          <a:solidFill>
            <a:srgbClr val="0A1828"/>
          </a:solidFill>
          <a:ln w="8890">
            <a:solidFill>
              <a:srgbClr val="FFB8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06056" y="7132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830"/>
                </a:solidFill>
              </a:rPr>
              <a:t>→ Result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1133856"/>
            <a:ext cx="4206240" cy="1792224"/>
          </a:xfrm>
          <a:prstGeom prst="rect">
            <a:avLst/>
          </a:prstGeom>
          <a:solidFill>
            <a:srgbClr val="051422"/>
          </a:solidFill>
          <a:ln w="11430">
            <a:solidFill>
              <a:srgbClr val="00C8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1133856"/>
            <a:ext cx="420624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1243584"/>
            <a:ext cx="1325880" cy="219456"/>
          </a:xfrm>
          <a:prstGeom prst="roundRect">
            <a:avLst>
              <a:gd name="adj" fmla="val 16667"/>
            </a:avLst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124358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1220"/>
                </a:solidFill>
              </a:rPr>
              <a:t>PromptTemplate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810512" y="127101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A8C0"/>
                </a:solidFill>
              </a:rPr>
              <a:t>Simple text with {variables}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" y="1536192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6E8FF"/>
                </a:solidFill>
              </a:rPr>
              <a:t>Injects runtime values into a reusable string template via named {placeholders}. Foundation of all LangChain prompts.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" y="1938528"/>
            <a:ext cx="3950208" cy="914400"/>
          </a:xfrm>
          <a:prstGeom prst="rect">
            <a:avLst/>
          </a:prstGeom>
          <a:solidFill>
            <a:srgbClr val="030C16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1993392"/>
            <a:ext cx="3803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0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langchain_core.prompts</a:t>
            </a:r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0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import PromptTemplate
</a:t>
            </a:r>
            <a:pPr indent="0" marL="0">
              <a:lnSpc>
                <a:spcPct val="128000"/>
              </a:lnSpc>
              <a:buNone/>
            </a:pPr>
            <a:endParaRPr lang="en-US" sz="8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</a:t>
            </a:r>
            <a:endParaRPr lang="en-US" sz="8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PromptTemplate.from_template(
</a:t>
            </a:r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FB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"Summarise {topic} in {style} tone"
</a:t>
            </a:r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.format(</a:t>
            </a:r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</a:t>
            </a:r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FB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="RAG"</a:t>
            </a:r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FB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="concise"</a:t>
            </a:r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81728" y="1133856"/>
            <a:ext cx="4206240" cy="1792224"/>
          </a:xfrm>
          <a:prstGeom prst="rect">
            <a:avLst/>
          </a:prstGeom>
          <a:solidFill>
            <a:srgbClr val="0A0A20"/>
          </a:solidFill>
          <a:ln w="11430">
            <a:solidFill>
              <a:srgbClr val="9B6D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81728" y="1133856"/>
            <a:ext cx="4206240" cy="64008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9744" y="1243584"/>
            <a:ext cx="1645920" cy="219456"/>
          </a:xfrm>
          <a:prstGeom prst="roundRect">
            <a:avLst>
              <a:gd name="adj" fmla="val 16667"/>
            </a:avLst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12435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ChatPromptTemplate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65392" y="127101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A8C0"/>
                </a:solidFill>
              </a:rPr>
              <a:t>System + Human + AI turns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9744" y="1536192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6E8FF"/>
                </a:solidFill>
              </a:rPr>
              <a:t>Structures multi-turn chat with typed message roles: system (persona), human (user input), AI (assistant response).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9744" y="1938528"/>
            <a:ext cx="3950208" cy="914400"/>
          </a:xfrm>
          <a:prstGeom prst="rect">
            <a:avLst/>
          </a:prstGeom>
          <a:solidFill>
            <a:srgbClr val="050510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82896" y="1993392"/>
            <a:ext cx="3803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B6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ChatPromptTemplate</a:t>
            </a:r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.from_messages([
</a:t>
            </a:r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("system"</a:t>
            </a:r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FB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"You are a {role}."),
</a:t>
            </a:r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("human"</a:t>
            </a:r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FB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"Explain: {topic}"),
</a:t>
            </a:r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7EAE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("ai"</a:t>
            </a:r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FB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"Sure! {topic} means..."),
</a:t>
            </a:r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56032" y="3017520"/>
            <a:ext cx="4206240" cy="1865376"/>
          </a:xfrm>
          <a:prstGeom prst="rect">
            <a:avLst/>
          </a:prstGeom>
          <a:solidFill>
            <a:srgbClr val="0F1A10"/>
          </a:solidFill>
          <a:ln w="11430">
            <a:solidFill>
              <a:srgbClr val="00E5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" y="3017520"/>
            <a:ext cx="420624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" y="3127248"/>
            <a:ext cx="1737360" cy="219456"/>
          </a:xfrm>
          <a:prstGeom prst="roundRect">
            <a:avLst>
              <a:gd name="adj" fmla="val 16667"/>
            </a:avLst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31272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1220"/>
                </a:solidFill>
              </a:rPr>
              <a:t>MessagesPlaceholder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231136" y="315468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A8C0"/>
                </a:solidFill>
              </a:rPr>
              <a:t>Inject conversation history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4048" y="3419856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6E8FF"/>
                </a:solidFill>
              </a:rPr>
              <a:t>Dynamically inserts a list of past messages (chat history) into a ChatPromptTemplate, enabling stateful multi-turn conversations and memory.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84048" y="3858768"/>
            <a:ext cx="3950208" cy="877824"/>
          </a:xfrm>
          <a:prstGeom prst="rect">
            <a:avLst/>
          </a:prstGeom>
          <a:solidFill>
            <a:srgbClr val="050E08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3913632"/>
            <a:ext cx="658368" cy="201168"/>
          </a:xfrm>
          <a:prstGeom prst="rect">
            <a:avLst/>
          </a:prstGeom>
          <a:solidFill>
            <a:srgbClr val="1A0A2A"/>
          </a:solidFill>
          <a:ln w="6350">
            <a:solidFill>
              <a:srgbClr val="9B6D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9136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6DFF"/>
                </a:solidFill>
              </a:rPr>
              <a:t>system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188720" y="3931920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helpful assistant."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" y="4169664"/>
            <a:ext cx="658368" cy="201168"/>
          </a:xfrm>
          <a:prstGeom prst="rect">
            <a:avLst/>
          </a:prstGeom>
          <a:solidFill>
            <a:srgbClr val="1A3020"/>
          </a:solidFill>
          <a:ln w="6350">
            <a:solidFill>
              <a:srgbClr val="00E5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1696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A0"/>
                </a:solidFill>
              </a:rPr>
              <a:t>history →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88720" y="4187952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MessagesPlaceholder("chat_history")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57200" y="4425696"/>
            <a:ext cx="658368" cy="201168"/>
          </a:xfrm>
          <a:prstGeom prst="rect">
            <a:avLst/>
          </a:prstGeom>
          <a:solidFill>
            <a:srgbClr val="2A1800"/>
          </a:solidFill>
          <a:ln w="6350">
            <a:solidFill>
              <a:srgbClr val="FFB83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42569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B830"/>
                </a:solidFill>
              </a:rPr>
              <a:t>human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88720" y="4443984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did I ask before?"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84048" y="4809744"/>
            <a:ext cx="3950208" cy="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048" y="4681728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E5A0"/>
                </a:solidFill>
              </a:rPr>
              <a:t>KEY  </a:t>
            </a:r>
            <a:pPr indent="0" marL="0">
              <a:buNone/>
            </a:pPr>
            <a:r>
              <a:rPr lang="en-US" sz="800" dirty="0">
                <a:solidFill>
                  <a:srgbClr val="90A8C0"/>
                </a:solidFill>
              </a:rPr>
              <a:t>Without MessagesPlaceholder, every new message has no conversation context — the model 'forgets'.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81728" y="3017520"/>
            <a:ext cx="4206240" cy="1865376"/>
          </a:xfrm>
          <a:prstGeom prst="rect">
            <a:avLst/>
          </a:prstGeom>
          <a:solidFill>
            <a:srgbClr val="150A10"/>
          </a:solidFill>
          <a:ln w="1143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81728" y="3017520"/>
            <a:ext cx="420624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09744" y="3127248"/>
            <a:ext cx="1417320" cy="219456"/>
          </a:xfrm>
          <a:prstGeom prst="roundRect">
            <a:avLst>
              <a:gd name="adj" fmla="val 16667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09744" y="31272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Prompt Chaining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345936" y="3154680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A8C0"/>
                </a:solidFill>
              </a:rPr>
              <a:t>Output of one feeds next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09744" y="3419856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6E8FF"/>
                </a:solidFill>
              </a:rPr>
              <a:t>Connects multiple prompts sequentially via LCEL — the output of one chain becomes the input of the next, enabling complex multi-step workflows.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09744" y="3895344"/>
            <a:ext cx="822960" cy="603504"/>
          </a:xfrm>
          <a:prstGeom prst="rect">
            <a:avLst/>
          </a:prstGeom>
          <a:solidFill>
            <a:srgbClr val="0A0A14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09744" y="3895344"/>
            <a:ext cx="822960" cy="12801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9744" y="389534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1220"/>
                </a:solidFill>
              </a:rPr>
              <a:t>Prompt 1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809744" y="40416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C8FF"/>
                </a:solidFill>
              </a:rPr>
              <a:t>Extract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C8FF"/>
                </a:solidFill>
              </a:rPr>
              <a:t>entities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650992" y="409651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7090"/>
                </a:solidFill>
              </a:rPr>
              <a:t>→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797296" y="3895344"/>
            <a:ext cx="822960" cy="603504"/>
          </a:xfrm>
          <a:prstGeom prst="rect">
            <a:avLst/>
          </a:prstGeom>
          <a:solidFill>
            <a:srgbClr val="0A0A14"/>
          </a:solidFill>
          <a:ln w="10160">
            <a:solidFill>
              <a:srgbClr val="FFB83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797296" y="3895344"/>
            <a:ext cx="822960" cy="128016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97296" y="389534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1220"/>
                </a:solidFill>
              </a:rPr>
              <a:t>Prompt 2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797296" y="40416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B830"/>
                </a:solidFill>
              </a:rPr>
              <a:t>Classify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B830"/>
                </a:solidFill>
              </a:rPr>
              <a:t>risk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638544" y="409651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7090"/>
                </a:solidFill>
              </a:rPr>
              <a:t>→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784848" y="3895344"/>
            <a:ext cx="822960" cy="603504"/>
          </a:xfrm>
          <a:prstGeom prst="rect">
            <a:avLst/>
          </a:prstGeom>
          <a:solidFill>
            <a:srgbClr val="0A0A14"/>
          </a:solidFill>
          <a:ln w="10160">
            <a:solidFill>
              <a:srgbClr val="FF6B6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84848" y="3895344"/>
            <a:ext cx="822960" cy="12801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84848" y="389534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1220"/>
                </a:solidFill>
              </a:rPr>
              <a:t>Prompt 3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784848" y="40416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6B6B"/>
                </a:solidFill>
              </a:rPr>
              <a:t>Draft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6B6B"/>
                </a:solidFill>
              </a:rPr>
              <a:t>report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626096" y="409651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7090"/>
                </a:solidFill>
              </a:rPr>
              <a:t>→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772400" y="3895344"/>
            <a:ext cx="822960" cy="603504"/>
          </a:xfrm>
          <a:prstGeom prst="rect">
            <a:avLst/>
          </a:prstGeom>
          <a:solidFill>
            <a:srgbClr val="0A0A14"/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772400" y="3895344"/>
            <a:ext cx="822960" cy="12801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772400" y="389534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1220"/>
                </a:solidFill>
              </a:rPr>
              <a:t>Output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7772400" y="40416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E5A0"/>
                </a:solidFill>
              </a:rPr>
              <a:t>Final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E5A0"/>
                </a:solidFill>
              </a:rPr>
              <a:t>result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809744" y="4553712"/>
            <a:ext cx="3950208" cy="274320"/>
          </a:xfrm>
          <a:prstGeom prst="rect">
            <a:avLst/>
          </a:prstGeom>
          <a:solidFill>
            <a:srgbClr val="060810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82896" y="4590288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</a:t>
            </a:r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prompt1 </a:t>
            </a:r>
            <a:pPr indent="0" marL="0">
              <a:buNone/>
            </a:pPr>
            <a:r>
              <a:rPr lang="en-US" sz="900" b="1" dirty="0">
                <a:solidFill>
                  <a:srgbClr val="FFB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llm </a:t>
            </a:r>
            <a:pPr indent="0" marL="0">
              <a:buNone/>
            </a:pPr>
            <a:r>
              <a:rPr lang="en-US" sz="900" b="1" dirty="0">
                <a:solidFill>
                  <a:srgbClr val="FFB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prompt2 </a:t>
            </a:r>
            <a:pPr indent="0" marL="0">
              <a:buNone/>
            </a:pPr>
            <a:r>
              <a:rPr lang="en-US" sz="900" b="1" dirty="0">
                <a:solidFill>
                  <a:srgbClr val="FFB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llm </a:t>
            </a:r>
            <a:pPr indent="0" marL="0">
              <a:buNone/>
            </a:pPr>
            <a:r>
              <a:rPr lang="en-US" sz="900" b="1" dirty="0">
                <a:solidFill>
                  <a:srgbClr val="FFB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900" dirty="0">
                <a:solidFill>
                  <a:srgbClr val="9B6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StrOutputParser()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4320" y="48097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A7090"/>
                </a:solidFill>
              </a:rPr>
              <a:t>WHEN TO USE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1463040" y="48006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8FF"/>
                </a:solidFill>
              </a:rPr>
              <a:t>◈  PromptTemplate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1463040" y="494690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A8C0"/>
                </a:solidFill>
              </a:rPr>
              <a:t>Single-turn, text tasks with variables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3383280" y="48006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6DFF"/>
                </a:solidFill>
              </a:rPr>
              <a:t>◈  ChatPromptTemplate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3383280" y="494690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A8C0"/>
                </a:solidFill>
              </a:rPr>
              <a:t>Chat models with system/human/AI roles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5303520" y="48006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E5A0"/>
                </a:solidFill>
              </a:rPr>
              <a:t>◈  MessagesPlaceholder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5303520" y="494690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A8C0"/>
                </a:solidFill>
              </a:rPr>
              <a:t>Multi-turn memory &amp; conversation history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7223760" y="48006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6B"/>
                </a:solidFill>
              </a:rPr>
              <a:t>◈  Prompt Chaining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7223760" y="494690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A8C0"/>
                </a:solidFill>
              </a:rPr>
              <a:t>Complex pipelines, multi-step reasoning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2026-06-08T19:47:06Z</dcterms:created>
  <dcterms:modified xsi:type="dcterms:W3CDTF">2026-06-08T19:47:06Z</dcterms:modified>
</cp:coreProperties>
</file>