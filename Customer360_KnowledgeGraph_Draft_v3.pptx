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5"/>
    <p:sldId id="258" r:id="rId4"/>
    <p:sldId id="259" r:id="rId3"/>
    <p:sldId id="260" r:id="rId2"/>
    <p:sldId id="261" r:id="rId12"/>
    <p:sldId id="262" r:id="rId13"/>
    <p:sldId id="263" r:id="rId14"/>
    <p:sldId id="264" r:id="rId15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CUSTOMER 360  ·  KNOWLEDGE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Customer 360 Knowledge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8036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00A896"/>
                </a:solidFill>
                <a:latin typeface="Calibri"/>
              </a:rPr>
              <a:t>Enrichment, Use Cases &amp; Implementation Roadmap</a:t>
            </a:r>
          </a:p>
        </p:txBody>
      </p:sp>
      <p:sp>
        <p:nvSpPr>
          <p:cNvPr id="5" name="Oval 4"/>
          <p:cNvSpPr/>
          <p:nvPr/>
        </p:nvSpPr>
        <p:spPr>
          <a:xfrm>
            <a:off x="10010118" y="824668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27962" y="666926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75473" y="1256857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26730" y="1542006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81734" y="1393564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52749" y="703693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31080" y="2184569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71138" y="970293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76387" y="2427695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65935" y="1319202"/>
            <a:ext cx="54864" cy="5486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761"/>
                </a:solidFill>
                <a:latin typeface="Calibri"/>
              </a:rPr>
              <a:t>Core Questions the Knowledge Graph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593"/>
                </a:solidFill>
                <a:latin typeface="Calibri"/>
              </a:rPr>
              <a:t>Every capability in this deck maps back to these five questions</a:t>
            </a:r>
          </a:p>
        </p:txBody>
      </p:sp>
      <p:sp>
        <p:nvSpPr>
          <p:cNvPr id="5" name="Oval 4"/>
          <p:cNvSpPr/>
          <p:nvPr/>
        </p:nvSpPr>
        <p:spPr>
          <a:xfrm>
            <a:off x="768096" y="2103120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10312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965960"/>
            <a:ext cx="9235440" cy="749808"/>
          </a:xfrm>
          <a:prstGeom prst="roundRect">
            <a:avLst>
              <a:gd name="adj" fmla="val 7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1965960"/>
            <a:ext cx="8778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Who is this customer?</a:t>
            </a:r>
          </a:p>
        </p:txBody>
      </p:sp>
      <p:sp>
        <p:nvSpPr>
          <p:cNvPr id="9" name="Oval 8"/>
          <p:cNvSpPr/>
          <p:nvPr/>
        </p:nvSpPr>
        <p:spPr>
          <a:xfrm>
            <a:off x="768096" y="3017520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301752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2880360"/>
            <a:ext cx="9235440" cy="749808"/>
          </a:xfrm>
          <a:prstGeom prst="roundRect">
            <a:avLst>
              <a:gd name="adj" fmla="val 7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2880360"/>
            <a:ext cx="8778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Who are they connected to?</a:t>
            </a:r>
          </a:p>
        </p:txBody>
      </p:sp>
      <p:sp>
        <p:nvSpPr>
          <p:cNvPr id="13" name="Oval 12"/>
          <p:cNvSpPr/>
          <p:nvPr/>
        </p:nvSpPr>
        <p:spPr>
          <a:xfrm>
            <a:off x="768096" y="3931920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93192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3794760"/>
            <a:ext cx="9235440" cy="749808"/>
          </a:xfrm>
          <a:prstGeom prst="roundRect">
            <a:avLst>
              <a:gd name="adj" fmla="val 7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3794760"/>
            <a:ext cx="8778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What is happening in their financial life?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" y="4846320"/>
            <a:ext cx="475488" cy="47548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484632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4709160"/>
            <a:ext cx="9235440" cy="749808"/>
          </a:xfrm>
          <a:prstGeom prst="roundRect">
            <a:avLst>
              <a:gd name="adj" fmla="val 7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4709160"/>
            <a:ext cx="8778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C7A6E"/>
                </a:solidFill>
                <a:latin typeface="Calibri"/>
              </a:rPr>
              <a:t>Why is this recommendation appropriate?</a:t>
            </a:r>
          </a:p>
        </p:txBody>
      </p:sp>
      <p:sp>
        <p:nvSpPr>
          <p:cNvPr id="21" name="Oval 20"/>
          <p:cNvSpPr/>
          <p:nvPr/>
        </p:nvSpPr>
        <p:spPr>
          <a:xfrm>
            <a:off x="768096" y="5760720"/>
            <a:ext cx="475488" cy="47548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76072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20" y="5623560"/>
            <a:ext cx="9235440" cy="749808"/>
          </a:xfrm>
          <a:prstGeom prst="roundRect">
            <a:avLst>
              <a:gd name="adj" fmla="val 7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1640" y="5623560"/>
            <a:ext cx="8778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C7A6E"/>
                </a:solidFill>
                <a:latin typeface="Calibri"/>
              </a:rPr>
              <a:t>What should we do next?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KNOWLEDGE GRAPH ENRICHMENT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Calibri"/>
              </a:rPr>
              <a:t>Two-Table Foundation, Extended Through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593"/>
                </a:solidFill>
                <a:latin typeface="Calibri"/>
              </a:rPr>
              <a:t>Start from two core Customer 360 tables, then connect additional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247" y="12801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00">
                <a:solidFill>
                  <a:srgbClr val="6B7593"/>
                </a:solidFill>
                <a:latin typeface="Calibri"/>
              </a:rPr>
              <a:t>FOUNDATION: TWO CORE TABLES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95247" y="1600200"/>
            <a:ext cx="4663440" cy="105156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69567" y="17830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customer_360_demographic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9567" y="222199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Individual Card Members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600200"/>
            <a:ext cx="4663440" cy="105156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7327" y="17830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customer_360_commercial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22199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Corporate / Business Card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A896"/>
                </a:solidFill>
                <a:latin typeface="Calibri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00">
                <a:solidFill>
                  <a:srgbClr val="0C7A6E"/>
                </a:solidFill>
                <a:latin typeface="Calibri"/>
              </a:rPr>
              <a:t>EXTENDED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2048256" cy="1051560"/>
          </a:xfrm>
          <a:prstGeom prst="roundRect">
            <a:avLst>
              <a:gd name="adj" fmla="val 7000"/>
            </a:avLst>
          </a:prstGeom>
          <a:solidFill>
            <a:srgbClr val="E6F7F5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3474720"/>
            <a:ext cx="186537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C7A6E"/>
                </a:solidFill>
                <a:latin typeface="Calibri"/>
              </a:rPr>
              <a:t>Transaction</a:t>
            </a:r>
          </a:p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C7A6E"/>
                </a:solidFill>
                <a:latin typeface="Calibri"/>
              </a:rPr>
              <a:t>History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25496" y="3474720"/>
            <a:ext cx="2048256" cy="1051560"/>
          </a:xfrm>
          <a:prstGeom prst="roundRect">
            <a:avLst>
              <a:gd name="adj" fmla="val 7000"/>
            </a:avLst>
          </a:prstGeom>
          <a:solidFill>
            <a:srgbClr val="E6F7F5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16936" y="3474720"/>
            <a:ext cx="186537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C7A6E"/>
                </a:solidFill>
                <a:latin typeface="Calibri"/>
              </a:rPr>
              <a:t>Relationship</a:t>
            </a:r>
          </a:p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C7A6E"/>
                </a:solidFill>
                <a:latin typeface="Calibri"/>
              </a:rPr>
              <a:t>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10912" y="3474720"/>
            <a:ext cx="2048256" cy="1051560"/>
          </a:xfrm>
          <a:prstGeom prst="roundRect">
            <a:avLst>
              <a:gd name="adj" fmla="val 7000"/>
            </a:avLst>
          </a:prstGeom>
          <a:solidFill>
            <a:srgbClr val="E6F7F5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2352" y="3474720"/>
            <a:ext cx="186537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C7A6E"/>
                </a:solidFill>
                <a:latin typeface="Calibri"/>
              </a:rPr>
              <a:t>Life Event</a:t>
            </a:r>
          </a:p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C7A6E"/>
                </a:solidFill>
                <a:latin typeface="Calibri"/>
              </a:rPr>
              <a:t>Indicators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96328" y="3474720"/>
            <a:ext cx="2048256" cy="1051560"/>
          </a:xfrm>
          <a:prstGeom prst="roundRect">
            <a:avLst>
              <a:gd name="adj" fmla="val 7000"/>
            </a:avLst>
          </a:prstGeom>
          <a:solidFill>
            <a:srgbClr val="E6F7F5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87768" y="3474720"/>
            <a:ext cx="186537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C7A6E"/>
                </a:solidFill>
                <a:latin typeface="Calibri"/>
              </a:rPr>
              <a:t>Risk &amp; Fraud</a:t>
            </a:r>
          </a:p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C7A6E"/>
                </a:solidFill>
                <a:latin typeface="Calibri"/>
              </a:rPr>
              <a:t>Signals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81744" y="3474720"/>
            <a:ext cx="2048256" cy="1051560"/>
          </a:xfrm>
          <a:prstGeom prst="roundRect">
            <a:avLst>
              <a:gd name="adj" fmla="val 7000"/>
            </a:avLst>
          </a:prstGeom>
          <a:solidFill>
            <a:srgbClr val="E6F7F5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73184" y="3474720"/>
            <a:ext cx="186537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C7A6E"/>
                </a:solidFill>
                <a:latin typeface="Calibri"/>
              </a:rPr>
              <a:t>Customer</a:t>
            </a:r>
          </a:p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C7A6E"/>
                </a:solidFill>
                <a:latin typeface="Calibri"/>
              </a:rPr>
              <a:t>Interaction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91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B7593"/>
                </a:solidFill>
                <a:latin typeface="Calibri"/>
              </a:rPr>
              <a:t>Each new integration expands what the graph can explain — the same pattern extends to future use cases.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E2761"/>
                </a:solidFill>
                <a:latin typeface="Calibri"/>
              </a:rPr>
              <a:t>Use Cases Organized by Value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593"/>
                </a:solidFill>
                <a:latin typeface="Calibri"/>
              </a:rPr>
              <a:t>Data enrichment builds the foundation; engagement use cases act on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394960" cy="4480560"/>
          </a:xfrm>
          <a:prstGeom prst="roundRect">
            <a:avLst>
              <a:gd name="adj" fmla="val 7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C7A6E"/>
                </a:solidFill>
                <a:latin typeface="Calibri"/>
              </a:rPr>
              <a:t>Data Enrichment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06040"/>
            <a:ext cx="484632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2779776"/>
            <a:ext cx="292608" cy="29260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77977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7340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Calibri"/>
              </a:rPr>
              <a:t>Relationship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1546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593"/>
                </a:solidFill>
                <a:latin typeface="Calibri"/>
              </a:rPr>
              <a:t>Connect customer networks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794760"/>
            <a:ext cx="484632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88136" y="3968496"/>
            <a:ext cx="292608" cy="29260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396849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92277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Calibri"/>
              </a:rPr>
              <a:t>Life Event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3434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593"/>
                </a:solidFill>
                <a:latin typeface="Calibri"/>
              </a:rPr>
              <a:t>Identify key moments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83480"/>
            <a:ext cx="484632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8136" y="5157216"/>
            <a:ext cx="292608" cy="29260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" y="515721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11149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Calibri"/>
              </a:rPr>
              <a:t>Risk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5321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593"/>
                </a:solidFill>
                <a:latin typeface="Calibri"/>
              </a:rPr>
              <a:t>Understand risk factors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691640"/>
            <a:ext cx="5394960" cy="4480560"/>
          </a:xfrm>
          <a:prstGeom prst="roundRect">
            <a:avLst>
              <a:gd name="adj" fmla="val 7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Customer Engagement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2606040"/>
            <a:ext cx="484632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57416" y="2779776"/>
            <a:ext cx="292608" cy="29260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57416" y="277977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7340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Calibri"/>
              </a:rPr>
              <a:t>Perfect Time to 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1546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593"/>
                </a:solidFill>
                <a:latin typeface="Calibri"/>
              </a:rPr>
              <a:t>Optimal contact timing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3794760"/>
            <a:ext cx="484632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57416" y="3968496"/>
            <a:ext cx="292608" cy="29260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7416" y="396849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92277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Calibri"/>
              </a:rPr>
              <a:t>Next Best Conversation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43434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593"/>
                </a:solidFill>
                <a:latin typeface="Calibri"/>
              </a:rPr>
              <a:t>Relevant topics &amp; offers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REGULATORY &amp;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Regulatory &amp; Risk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593"/>
                </a:solidFill>
                <a:latin typeface="Calibri"/>
              </a:rPr>
              <a:t>Where the graph provides oversight, defensibility, and early warning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520440" cy="301752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7259" y="2354579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7259" y="235457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39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Fraud Ring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ADCFC"/>
                </a:solidFill>
                <a:latin typeface="Calibri"/>
              </a:rPr>
              <a:t>Identify connected fraud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03120"/>
            <a:ext cx="3520440" cy="301752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40579" y="2354579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0579" y="235457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063239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Explainable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79476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ADCFC"/>
                </a:solidFill>
                <a:latin typeface="Calibri"/>
              </a:rPr>
              <a:t>Justify decisions and recommendations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2103120"/>
            <a:ext cx="3520440" cy="301752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43899" y="2354579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3899" y="235457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63239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Risk Propagation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79476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ADCFC"/>
                </a:solidFill>
                <a:latin typeface="Calibri"/>
              </a:rPr>
              <a:t>Understand risk through relationships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USE CASE ILLUSTRATION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Preferred Time to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593"/>
                </a:solidFill>
                <a:latin typeface="Calibri"/>
              </a:rPr>
              <a:t>Problem → Data → Outcome →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881360" cy="777240"/>
          </a:xfrm>
          <a:prstGeom prst="roundRect">
            <a:avLst>
              <a:gd name="adj" fmla="val 7000"/>
            </a:avLst>
          </a:prstGeom>
          <a:solidFill>
            <a:srgbClr val="F0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463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691640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1B2333"/>
                </a:solidFill>
                <a:latin typeface="Calibri"/>
              </a:rPr>
              <a:t>When to contact customers for the best engagement?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881360" cy="1691640"/>
          </a:xfrm>
          <a:prstGeom prst="roundRect">
            <a:avLst>
              <a:gd name="adj" fmla="val 7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Data Sources Connected</a:t>
            </a:r>
          </a:p>
        </p:txBody>
      </p:sp>
      <p:sp>
        <p:nvSpPr>
          <p:cNvPr id="10" name="Oval 9"/>
          <p:cNvSpPr/>
          <p:nvPr/>
        </p:nvSpPr>
        <p:spPr>
          <a:xfrm>
            <a:off x="886967" y="3218688"/>
            <a:ext cx="237744" cy="23774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7" y="32186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200400"/>
            <a:ext cx="4663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333"/>
                </a:solidFill>
                <a:latin typeface="Calibri"/>
              </a:rPr>
              <a:t>Customer interaction patterns (5+ tables)</a:t>
            </a:r>
          </a:p>
        </p:txBody>
      </p:sp>
      <p:sp>
        <p:nvSpPr>
          <p:cNvPr id="13" name="Oval 12"/>
          <p:cNvSpPr/>
          <p:nvPr/>
        </p:nvSpPr>
        <p:spPr>
          <a:xfrm>
            <a:off x="6099048" y="3218688"/>
            <a:ext cx="237744" cy="23774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32186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4663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333"/>
                </a:solidFill>
                <a:latin typeface="Calibri"/>
              </a:rPr>
              <a:t>Transaction timing &amp; frequency</a:t>
            </a:r>
          </a:p>
        </p:txBody>
      </p:sp>
      <p:sp>
        <p:nvSpPr>
          <p:cNvPr id="16" name="Oval 15"/>
          <p:cNvSpPr/>
          <p:nvPr/>
        </p:nvSpPr>
        <p:spPr>
          <a:xfrm>
            <a:off x="886967" y="3721608"/>
            <a:ext cx="237744" cy="23774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7" y="372160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703320"/>
            <a:ext cx="4663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333"/>
                </a:solidFill>
                <a:latin typeface="Calibri"/>
              </a:rPr>
              <a:t>Customer availability indicators</a:t>
            </a:r>
          </a:p>
        </p:txBody>
      </p:sp>
      <p:sp>
        <p:nvSpPr>
          <p:cNvPr id="19" name="Oval 18"/>
          <p:cNvSpPr/>
          <p:nvPr/>
        </p:nvSpPr>
        <p:spPr>
          <a:xfrm>
            <a:off x="6099048" y="3721608"/>
            <a:ext cx="237744" cy="23774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8" y="372160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03320"/>
            <a:ext cx="4663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B2333"/>
                </a:solidFill>
                <a:latin typeface="Calibri"/>
              </a:rPr>
              <a:t>Relationship &amp; context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26280"/>
            <a:ext cx="5257800" cy="1417320"/>
          </a:xfrm>
          <a:prstGeom prst="roundRect">
            <a:avLst>
              <a:gd name="adj" fmla="val 7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663440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C7A6E"/>
                </a:solidFill>
                <a:latin typeface="Calibri"/>
              </a:rPr>
              <a:t>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029200"/>
            <a:ext cx="4800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333"/>
                </a:solidFill>
                <a:latin typeface="Calibri"/>
              </a:rPr>
              <a:t>Optimal contact time prediction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526280"/>
            <a:ext cx="5440680" cy="141732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663440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A896"/>
                </a:solidFill>
                <a:latin typeface="Calibri"/>
              </a:rPr>
              <a:t>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029200"/>
            <a:ext cx="4983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Higher engagement rates &amp; reduced customer fatigue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DEDICATED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Supporting Identity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593"/>
                </a:solidFill>
                <a:latin typeface="Calibri"/>
              </a:rPr>
              <a:t>One graph, one consistent view of every customer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881360" cy="777240"/>
          </a:xfrm>
          <a:prstGeom prst="roundRect">
            <a:avLst>
              <a:gd name="adj" fmla="val 7000"/>
            </a:avLst>
          </a:prstGeom>
          <a:solidFill>
            <a:srgbClr val="F0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828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91640"/>
            <a:ext cx="8503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1B2333"/>
                </a:solidFill>
                <a:latin typeface="Calibri"/>
              </a:rPr>
              <a:t>Maintaining a single customer view across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Knowledge Graph Capabilities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5257800" cy="1463040"/>
          </a:xfrm>
          <a:prstGeom prst="roundRect">
            <a:avLst>
              <a:gd name="adj" fmla="val 7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7259" y="336042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7259" y="336042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108960"/>
            <a:ext cx="416052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E2761"/>
                </a:solidFill>
                <a:latin typeface="Calibri"/>
              </a:rPr>
              <a:t>Entity linking &amp; consolidation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108960"/>
            <a:ext cx="5257800" cy="1463040"/>
          </a:xfrm>
          <a:prstGeom prst="roundRect">
            <a:avLst>
              <a:gd name="adj" fmla="val 7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60820" y="336042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0820" y="336042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108960"/>
            <a:ext cx="416052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E2761"/>
                </a:solidFill>
                <a:latin typeface="Calibri"/>
              </a:rPr>
              <a:t>Relationship verification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00600"/>
            <a:ext cx="5257800" cy="1463040"/>
          </a:xfrm>
          <a:prstGeom prst="roundRect">
            <a:avLst>
              <a:gd name="adj" fmla="val 7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7259" y="505206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59" y="50520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800600"/>
            <a:ext cx="416052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E2761"/>
                </a:solidFill>
                <a:latin typeface="Calibri"/>
              </a:rPr>
              <a:t>Duplicate detection &amp; resolution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800600"/>
            <a:ext cx="5257800" cy="1463040"/>
          </a:xfrm>
          <a:prstGeom prst="roundRect">
            <a:avLst>
              <a:gd name="adj" fmla="val 7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0820" y="505206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0820" y="50520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800600"/>
            <a:ext cx="416052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E2761"/>
                </a:solidFill>
                <a:latin typeface="Calibri"/>
              </a:rPr>
              <a:t>Cross-channel identity matching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806440"/>
            <a:ext cx="10881360" cy="77724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806440"/>
            <a:ext cx="14630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A896"/>
                </a:solidFill>
                <a:latin typeface="Calibri"/>
              </a:rPr>
              <a:t>Benefit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806440"/>
            <a:ext cx="89611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An accurate, 360° customer profile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One-Time KG Build → Multiple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593"/>
                </a:solidFill>
                <a:latin typeface="Calibri"/>
              </a:rPr>
              <a:t>Build once, use many times — or extend to new use cases as they arise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737360"/>
            <a:ext cx="5760720" cy="77724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1737360"/>
            <a:ext cx="5760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Core Graph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(customer_360 + tables + extensions)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542032"/>
            <a:ext cx="5760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0A896"/>
                </a:solidFill>
                <a:latin typeface="Calibri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926080"/>
            <a:ext cx="5760720" cy="777240"/>
          </a:xfrm>
          <a:prstGeom prst="roundRect">
            <a:avLst>
              <a:gd name="adj" fmla="val 7000"/>
            </a:avLst>
          </a:prstGeom>
          <a:solidFill>
            <a:srgbClr val="222B5C"/>
          </a:solidFill>
          <a:ln w="127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926080"/>
            <a:ext cx="5760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Unified Entity &amp; Relationship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730752"/>
            <a:ext cx="5760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0A896"/>
                </a:solidFill>
                <a:latin typeface="Calibri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Multiple Applications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72000"/>
            <a:ext cx="2514600" cy="1234440"/>
          </a:xfrm>
          <a:prstGeom prst="roundRect">
            <a:avLst>
              <a:gd name="adj" fmla="val 7000"/>
            </a:avLst>
          </a:prstGeom>
          <a:solidFill>
            <a:srgbClr val="E6F7F5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25146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0C7A6E"/>
                </a:solidFill>
                <a:latin typeface="Calibri"/>
              </a:rPr>
              <a:t>Risk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4572000"/>
            <a:ext cx="2514600" cy="1234440"/>
          </a:xfrm>
          <a:prstGeom prst="roundRect">
            <a:avLst>
              <a:gd name="adj" fmla="val 7000"/>
            </a:avLst>
          </a:prstGeom>
          <a:solidFill>
            <a:srgbClr val="E6F7F5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4572000"/>
            <a:ext cx="25146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0C7A6E"/>
                </a:solidFill>
                <a:latin typeface="Calibri"/>
              </a:rPr>
              <a:t>Customer Engagement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572000"/>
            <a:ext cx="2514600" cy="1234440"/>
          </a:xfrm>
          <a:prstGeom prst="roundRect">
            <a:avLst>
              <a:gd name="adj" fmla="val 7000"/>
            </a:avLst>
          </a:prstGeom>
          <a:solidFill>
            <a:srgbClr val="E6F7F5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4572000"/>
            <a:ext cx="25146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0C7A6E"/>
                </a:solidFill>
                <a:latin typeface="Calibri"/>
              </a:rPr>
              <a:t>Fraud Detection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4572000"/>
            <a:ext cx="2514600" cy="1234440"/>
          </a:xfrm>
          <a:prstGeom prst="roundRect">
            <a:avLst>
              <a:gd name="adj" fmla="val 7000"/>
            </a:avLst>
          </a:prstGeom>
          <a:solidFill>
            <a:srgbClr val="E6F7F5"/>
          </a:solidFill>
          <a:ln w="952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4572000"/>
            <a:ext cx="25146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0C7A6E"/>
                </a:solidFill>
                <a:latin typeface="Calibri"/>
              </a:rPr>
              <a:t>Regulatory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6B7593"/>
                </a:solidFill>
                <a:latin typeface="Calibri"/>
              </a:rPr>
              <a:t>Build Once, Use Many Times — or extend to multiple use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A896"/>
                </a:solidFill>
                <a:latin typeface="Calibri"/>
              </a:rPr>
              <a:t>VALUE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libri"/>
              </a:rPr>
              <a:t>Why Knowledge Graph, and How We'll Get There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Calibri"/>
              </a:rPr>
              <a:t>Why Knowledge Graph Approach?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606040" cy="1554480"/>
          </a:xfrm>
          <a:prstGeom prst="roundRect">
            <a:avLst>
              <a:gd name="adj" fmla="val 7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10512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Single Source of Truth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59152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593"/>
                </a:solidFill>
                <a:latin typeface="Calibri"/>
              </a:rPr>
              <a:t>Consistent customer view across all applications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606040" cy="1554480"/>
          </a:xfrm>
          <a:prstGeom prst="roundRect">
            <a:avLst>
              <a:gd name="adj" fmla="val 7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810512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Flexible &amp; Extensible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359152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593"/>
                </a:solidFill>
                <a:latin typeface="Calibri"/>
              </a:rPr>
              <a:t>Add new data sources &amp; use cases without redesign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606040" cy="1554480"/>
          </a:xfrm>
          <a:prstGeom prst="roundRect">
            <a:avLst>
              <a:gd name="adj" fmla="val 7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10512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Relationship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59152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593"/>
                </a:solidFill>
                <a:latin typeface="Calibri"/>
              </a:rPr>
              <a:t>Capture complex customer connections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645920"/>
            <a:ext cx="2606040" cy="1554480"/>
          </a:xfrm>
          <a:prstGeom prst="roundRect">
            <a:avLst>
              <a:gd name="adj" fmla="val 7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19" y="1810512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Scalable Solutions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19" y="2359152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593"/>
                </a:solidFill>
                <a:latin typeface="Calibri"/>
              </a:rPr>
              <a:t>Grows smoothly with new data and use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Calibri"/>
              </a:rPr>
              <a:t>Implementation Roadmap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40480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" y="402336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4023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61772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ADCFC"/>
                </a:solidFill>
                <a:latin typeface="Calibri"/>
              </a:rPr>
              <a:t>Phase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919472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534924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ADCFC"/>
                </a:solidFill>
                <a:latin typeface="Calibri"/>
              </a:rPr>
              <a:t>Build KG from customer_360_demographic &amp; commercial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800600"/>
            <a:ext cx="182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6B7593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3840480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11880" y="402336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4023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61772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ADCFC"/>
                </a:solidFill>
                <a:latin typeface="Calibri"/>
              </a:rPr>
              <a:t>Phase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919472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534924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ADCFC"/>
                </a:solidFill>
                <a:latin typeface="Calibri"/>
              </a:rPr>
              <a:t>Connect transaction, interaction &amp; risk tables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800600"/>
            <a:ext cx="182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6B7593"/>
                </a:solidFill>
                <a:latin typeface="Calibr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840480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0800" y="402336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023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61772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ADCFC"/>
                </a:solidFill>
                <a:latin typeface="Calibri"/>
              </a:rPr>
              <a:t>Phase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919472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Applications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34924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ADCFC"/>
                </a:solidFill>
                <a:latin typeface="Calibri"/>
              </a:rPr>
              <a:t>Deploy use cases with business impact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4800600"/>
            <a:ext cx="182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6B7593"/>
                </a:solidFill>
                <a:latin typeface="Calibr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06840" y="3840480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89719" y="40233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9719" y="4023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19" y="461772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B7593"/>
                </a:solidFill>
                <a:latin typeface="Calibri"/>
              </a:rPr>
              <a:t>Phase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19" y="4919472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C7A6E"/>
                </a:solidFill>
                <a:latin typeface="Calibri"/>
              </a:rPr>
              <a:t>Expansion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19" y="534924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593"/>
                </a:solidFill>
                <a:latin typeface="Calibri"/>
              </a:rPr>
              <a:t>Add new data sources &amp; use cases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59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360 Identity Resolution with Knowledge Graph</dc:title>
  <dc:subject>PptxGenJS Presentation</dc:subject>
  <dc:creator>American Express - ECIP</dc:creator>
  <cp:lastModifiedBy>American Express - ECIP</cp:lastModifiedBy>
  <cp:revision>1</cp:revision>
  <dcterms:created xsi:type="dcterms:W3CDTF">2026-07-06T17:52:48Z</dcterms:created>
  <dcterms:modified xsi:type="dcterms:W3CDTF">2026-07-06T17:52:48Z</dcterms:modified>
</cp:coreProperties>
</file>